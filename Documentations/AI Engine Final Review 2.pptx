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30"/>
  </p:notesMasterIdLst>
  <p:sldIdLst>
    <p:sldId id="256" r:id="rId2"/>
    <p:sldId id="258" r:id="rId3"/>
    <p:sldId id="260" r:id="rId4"/>
    <p:sldId id="261" r:id="rId5"/>
    <p:sldId id="312" r:id="rId6"/>
    <p:sldId id="313" r:id="rId7"/>
    <p:sldId id="263" r:id="rId8"/>
    <p:sldId id="264" r:id="rId9"/>
    <p:sldId id="314" r:id="rId10"/>
    <p:sldId id="265" r:id="rId11"/>
    <p:sldId id="324" r:id="rId12"/>
    <p:sldId id="266" r:id="rId13"/>
    <p:sldId id="315" r:id="rId14"/>
    <p:sldId id="316" r:id="rId15"/>
    <p:sldId id="325" r:id="rId16"/>
    <p:sldId id="317" r:id="rId17"/>
    <p:sldId id="329" r:id="rId18"/>
    <p:sldId id="318" r:id="rId19"/>
    <p:sldId id="319" r:id="rId20"/>
    <p:sldId id="326" r:id="rId21"/>
    <p:sldId id="320" r:id="rId22"/>
    <p:sldId id="321" r:id="rId23"/>
    <p:sldId id="328" r:id="rId24"/>
    <p:sldId id="322" r:id="rId25"/>
    <p:sldId id="323" r:id="rId26"/>
    <p:sldId id="268" r:id="rId27"/>
    <p:sldId id="327" r:id="rId28"/>
    <p:sldId id="267" r:id="rId29"/>
  </p:sldIdLst>
  <p:sldSz cx="9144000" cy="5143500" type="screen16x9"/>
  <p:notesSz cx="6858000" cy="9144000"/>
  <p:embeddedFontLst>
    <p:embeddedFont>
      <p:font typeface="DM Sans" pitchFamily="2" charset="0"/>
      <p:regular r:id="rId31"/>
      <p:bold r:id="rId32"/>
      <p:italic r:id="rId33"/>
      <p:boldItalic r:id="rId34"/>
    </p:embeddedFont>
    <p:embeddedFont>
      <p:font typeface="Outfit" panose="020B0604020202020204" charset="0"/>
      <p:regular r:id="rId35"/>
      <p:bold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2A3A7"/>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D98F1D0-D62A-479D-A88C-657D5939B71D}">
  <a:tblStyle styleId="{CD98F1D0-D62A-479D-A88C-657D5939B71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63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116469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67102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44863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26660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g54dda1946d_4_27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5" name="Google Shape;565;g54dda1946d_4_27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9926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42474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93512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g54dda1946d_4_27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5" name="Google Shape;565;g54dda1946d_4_27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15460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g54dda1946d_4_27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5" name="Google Shape;565;g54dda1946d_4_27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37198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32949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78576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83788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g54dda1946d_4_27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5" name="Google Shape;565;g54dda1946d_4_27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04252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g54dda1946d_4_27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5" name="Google Shape;565;g54dda1946d_4_27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55194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g54dda1946d_4_27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5" name="Google Shape;565;g54dda1946d_4_27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21874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95335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g54dda1946d_4_27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5" name="Google Shape;565;g54dda1946d_4_27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23202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2" name="Google Shape;642;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60354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54dda1946d_6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54dda1946d_6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156000"/>
            <a:ext cx="4160700" cy="2385600"/>
          </a:xfrm>
          <a:prstGeom prst="rect">
            <a:avLst/>
          </a:prstGeom>
        </p:spPr>
        <p:txBody>
          <a:bodyPr spcFirstLastPara="1" wrap="square" lIns="91425" tIns="91425" rIns="91425" bIns="91425" anchor="b" anchorCtr="0">
            <a:noAutofit/>
          </a:bodyPr>
          <a:lstStyle>
            <a:lvl1pPr lvl="0" algn="l">
              <a:spcBef>
                <a:spcPts val="0"/>
              </a:spcBef>
              <a:spcAft>
                <a:spcPts val="0"/>
              </a:spcAft>
              <a:buClr>
                <a:srgbClr val="191919"/>
              </a:buClr>
              <a:buSzPts val="5200"/>
              <a:buNone/>
              <a:defRPr sz="3600">
                <a:latin typeface="Outfit"/>
                <a:ea typeface="Outfit"/>
                <a:cs typeface="Outfit"/>
                <a:sym typeface="Outfit"/>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541600"/>
            <a:ext cx="4160700" cy="42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713225" y="2384250"/>
            <a:ext cx="4344300" cy="915900"/>
          </a:xfrm>
          <a:prstGeom prst="rect">
            <a:avLst/>
          </a:prstGeom>
        </p:spPr>
        <p:txBody>
          <a:bodyPr spcFirstLastPara="1" wrap="square" lIns="91425" tIns="91425" rIns="91425" bIns="91425" anchor="b" anchorCtr="0">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713225" y="1468350"/>
            <a:ext cx="1264200" cy="915900"/>
          </a:xfrm>
          <a:prstGeom prst="rect">
            <a:avLst/>
          </a:prstGeom>
          <a:noFill/>
        </p:spPr>
        <p:txBody>
          <a:bodyPr spcFirstLastPara="1" wrap="square" lIns="91425" tIns="91425" rIns="91425" bIns="91425" anchor="ctr" anchorCtr="0">
            <a:noAutofit/>
          </a:bodyPr>
          <a:lstStyle>
            <a:lvl1pPr lvl="0" algn="l"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4" name="Google Shape;14;p3"/>
          <p:cNvSpPr txBox="1">
            <a:spLocks noGrp="1"/>
          </p:cNvSpPr>
          <p:nvPr>
            <p:ph type="subTitle" idx="1"/>
          </p:nvPr>
        </p:nvSpPr>
        <p:spPr>
          <a:xfrm>
            <a:off x="713225" y="3300150"/>
            <a:ext cx="4344300" cy="375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6"/>
        <p:cNvGrpSpPr/>
        <p:nvPr/>
      </p:nvGrpSpPr>
      <p:grpSpPr>
        <a:xfrm>
          <a:off x="0" y="0"/>
          <a:ext cx="0" cy="0"/>
          <a:chOff x="0" y="0"/>
          <a:chExt cx="0" cy="0"/>
        </a:xfrm>
      </p:grpSpPr>
      <p:sp>
        <p:nvSpPr>
          <p:cNvPr id="57" name="Google Shape;57;p8"/>
          <p:cNvSpPr txBox="1">
            <a:spLocks noGrp="1"/>
          </p:cNvSpPr>
          <p:nvPr>
            <p:ph type="title"/>
          </p:nvPr>
        </p:nvSpPr>
        <p:spPr>
          <a:xfrm>
            <a:off x="4292275" y="1663850"/>
            <a:ext cx="4138500" cy="1815900"/>
          </a:xfrm>
          <a:prstGeom prst="rect">
            <a:avLst/>
          </a:prstGeom>
        </p:spPr>
        <p:txBody>
          <a:bodyPr spcFirstLastPara="1" wrap="square" lIns="91425" tIns="91425" rIns="91425" bIns="91425" anchor="ctr" anchorCtr="0">
            <a:noAutofit/>
          </a:bodyPr>
          <a:lstStyle>
            <a:lvl1pPr lvl="0" algn="l">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7"/>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68"/>
        <p:cNvGrpSpPr/>
        <p:nvPr/>
      </p:nvGrpSpPr>
      <p:grpSpPr>
        <a:xfrm>
          <a:off x="0" y="0"/>
          <a:ext cx="0" cy="0"/>
          <a:chOff x="0" y="0"/>
          <a:chExt cx="0" cy="0"/>
        </a:xfrm>
      </p:grpSpPr>
      <p:grpSp>
        <p:nvGrpSpPr>
          <p:cNvPr id="69" name="Google Shape;69;p13"/>
          <p:cNvGrpSpPr/>
          <p:nvPr/>
        </p:nvGrpSpPr>
        <p:grpSpPr>
          <a:xfrm>
            <a:off x="-417711" y="-428628"/>
            <a:ext cx="9979385" cy="6000759"/>
            <a:chOff x="-417711" y="-428628"/>
            <a:chExt cx="9979385" cy="6000759"/>
          </a:xfrm>
        </p:grpSpPr>
        <p:sp>
          <p:nvSpPr>
            <p:cNvPr id="70" name="Google Shape;70;p13"/>
            <p:cNvSpPr/>
            <p:nvPr/>
          </p:nvSpPr>
          <p:spPr>
            <a:xfrm>
              <a:off x="421002" y="-42862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3"/>
            <p:cNvSpPr/>
            <p:nvPr/>
          </p:nvSpPr>
          <p:spPr>
            <a:xfrm>
              <a:off x="7884277" y="-42862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3"/>
            <p:cNvSpPr/>
            <p:nvPr/>
          </p:nvSpPr>
          <p:spPr>
            <a:xfrm>
              <a:off x="8430764" y="554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3"/>
            <p:cNvSpPr/>
            <p:nvPr/>
          </p:nvSpPr>
          <p:spPr>
            <a:xfrm>
              <a:off x="8430764" y="7462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3"/>
            <p:cNvSpPr/>
            <p:nvPr/>
          </p:nvSpPr>
          <p:spPr>
            <a:xfrm>
              <a:off x="-125486" y="554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3"/>
            <p:cNvSpPr/>
            <p:nvPr/>
          </p:nvSpPr>
          <p:spPr>
            <a:xfrm>
              <a:off x="-125486" y="7462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3"/>
            <p:cNvSpPr/>
            <p:nvPr/>
          </p:nvSpPr>
          <p:spPr>
            <a:xfrm>
              <a:off x="-417711" y="46040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3"/>
            <p:cNvSpPr/>
            <p:nvPr/>
          </p:nvSpPr>
          <p:spPr>
            <a:xfrm>
              <a:off x="8722964" y="46040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 name="Google Shape;78;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9" name="Google Shape;79;p13"/>
          <p:cNvSpPr txBox="1">
            <a:spLocks noGrp="1"/>
          </p:cNvSpPr>
          <p:nvPr>
            <p:ph type="subTitle" idx="1"/>
          </p:nvPr>
        </p:nvSpPr>
        <p:spPr>
          <a:xfrm>
            <a:off x="720000" y="21784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0" name="Google Shape;80;p13"/>
          <p:cNvSpPr txBox="1">
            <a:spLocks noGrp="1"/>
          </p:cNvSpPr>
          <p:nvPr>
            <p:ph type="subTitle" idx="2"/>
          </p:nvPr>
        </p:nvSpPr>
        <p:spPr>
          <a:xfrm>
            <a:off x="3419271" y="21784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1" name="Google Shape;81;p13"/>
          <p:cNvSpPr txBox="1">
            <a:spLocks noGrp="1"/>
          </p:cNvSpPr>
          <p:nvPr>
            <p:ph type="subTitle" idx="3"/>
          </p:nvPr>
        </p:nvSpPr>
        <p:spPr>
          <a:xfrm>
            <a:off x="720000" y="3911675"/>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2" name="Google Shape;82;p13"/>
          <p:cNvSpPr txBox="1">
            <a:spLocks noGrp="1"/>
          </p:cNvSpPr>
          <p:nvPr>
            <p:ph type="subTitle" idx="4"/>
          </p:nvPr>
        </p:nvSpPr>
        <p:spPr>
          <a:xfrm>
            <a:off x="3419271" y="3911675"/>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3" name="Google Shape;83;p13"/>
          <p:cNvSpPr txBox="1">
            <a:spLocks noGrp="1"/>
          </p:cNvSpPr>
          <p:nvPr>
            <p:ph type="subTitle" idx="5"/>
          </p:nvPr>
        </p:nvSpPr>
        <p:spPr>
          <a:xfrm>
            <a:off x="6118549" y="21784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4" name="Google Shape;84;p13"/>
          <p:cNvSpPr txBox="1">
            <a:spLocks noGrp="1"/>
          </p:cNvSpPr>
          <p:nvPr>
            <p:ph type="subTitle" idx="6"/>
          </p:nvPr>
        </p:nvSpPr>
        <p:spPr>
          <a:xfrm>
            <a:off x="6118549" y="3911675"/>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5" name="Google Shape;85;p13"/>
          <p:cNvSpPr txBox="1">
            <a:spLocks noGrp="1"/>
          </p:cNvSpPr>
          <p:nvPr>
            <p:ph type="title" idx="7" hasCustomPrompt="1"/>
          </p:nvPr>
        </p:nvSpPr>
        <p:spPr>
          <a:xfrm>
            <a:off x="1505400" y="1206926"/>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6" name="Google Shape;86;p13"/>
          <p:cNvSpPr txBox="1">
            <a:spLocks noGrp="1"/>
          </p:cNvSpPr>
          <p:nvPr>
            <p:ph type="title" idx="8" hasCustomPrompt="1"/>
          </p:nvPr>
        </p:nvSpPr>
        <p:spPr>
          <a:xfrm>
            <a:off x="1505400" y="2939527"/>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7" name="Google Shape;87;p13"/>
          <p:cNvSpPr txBox="1">
            <a:spLocks noGrp="1"/>
          </p:cNvSpPr>
          <p:nvPr>
            <p:ph type="title" idx="9" hasCustomPrompt="1"/>
          </p:nvPr>
        </p:nvSpPr>
        <p:spPr>
          <a:xfrm>
            <a:off x="4204671" y="1206926"/>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8" name="Google Shape;88;p13"/>
          <p:cNvSpPr txBox="1">
            <a:spLocks noGrp="1"/>
          </p:cNvSpPr>
          <p:nvPr>
            <p:ph type="title" idx="13" hasCustomPrompt="1"/>
          </p:nvPr>
        </p:nvSpPr>
        <p:spPr>
          <a:xfrm>
            <a:off x="4204671" y="2939527"/>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9" name="Google Shape;89;p13"/>
          <p:cNvSpPr txBox="1">
            <a:spLocks noGrp="1"/>
          </p:cNvSpPr>
          <p:nvPr>
            <p:ph type="title" idx="14" hasCustomPrompt="1"/>
          </p:nvPr>
        </p:nvSpPr>
        <p:spPr>
          <a:xfrm>
            <a:off x="6903950" y="1206926"/>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0" name="Google Shape;90;p13"/>
          <p:cNvSpPr txBox="1">
            <a:spLocks noGrp="1"/>
          </p:cNvSpPr>
          <p:nvPr>
            <p:ph type="title" idx="15" hasCustomPrompt="1"/>
          </p:nvPr>
        </p:nvSpPr>
        <p:spPr>
          <a:xfrm>
            <a:off x="6903950" y="2939527"/>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 name="Google Shape;91;p13"/>
          <p:cNvSpPr txBox="1">
            <a:spLocks noGrp="1"/>
          </p:cNvSpPr>
          <p:nvPr>
            <p:ph type="subTitle" idx="16"/>
          </p:nvPr>
        </p:nvSpPr>
        <p:spPr>
          <a:xfrm>
            <a:off x="720000" y="180111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92" name="Google Shape;92;p13"/>
          <p:cNvSpPr txBox="1">
            <a:spLocks noGrp="1"/>
          </p:cNvSpPr>
          <p:nvPr>
            <p:ph type="subTitle" idx="17"/>
          </p:nvPr>
        </p:nvSpPr>
        <p:spPr>
          <a:xfrm>
            <a:off x="3419271" y="180111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93" name="Google Shape;93;p13"/>
          <p:cNvSpPr txBox="1">
            <a:spLocks noGrp="1"/>
          </p:cNvSpPr>
          <p:nvPr>
            <p:ph type="subTitle" idx="18"/>
          </p:nvPr>
        </p:nvSpPr>
        <p:spPr>
          <a:xfrm>
            <a:off x="6118549" y="180111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94" name="Google Shape;94;p13"/>
          <p:cNvSpPr txBox="1">
            <a:spLocks noGrp="1"/>
          </p:cNvSpPr>
          <p:nvPr>
            <p:ph type="subTitle" idx="19"/>
          </p:nvPr>
        </p:nvSpPr>
        <p:spPr>
          <a:xfrm>
            <a:off x="720000" y="3533775"/>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95" name="Google Shape;95;p13"/>
          <p:cNvSpPr txBox="1">
            <a:spLocks noGrp="1"/>
          </p:cNvSpPr>
          <p:nvPr>
            <p:ph type="subTitle" idx="20"/>
          </p:nvPr>
        </p:nvSpPr>
        <p:spPr>
          <a:xfrm>
            <a:off x="3419271" y="3533775"/>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96" name="Google Shape;96;p13"/>
          <p:cNvSpPr txBox="1">
            <a:spLocks noGrp="1"/>
          </p:cNvSpPr>
          <p:nvPr>
            <p:ph type="subTitle" idx="21"/>
          </p:nvPr>
        </p:nvSpPr>
        <p:spPr>
          <a:xfrm>
            <a:off x="6118549" y="3533775"/>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97"/>
        <p:cNvGrpSpPr/>
        <p:nvPr/>
      </p:nvGrpSpPr>
      <p:grpSpPr>
        <a:xfrm>
          <a:off x="0" y="0"/>
          <a:ext cx="0" cy="0"/>
          <a:chOff x="0" y="0"/>
          <a:chExt cx="0" cy="0"/>
        </a:xfrm>
      </p:grpSpPr>
      <p:grpSp>
        <p:nvGrpSpPr>
          <p:cNvPr id="98" name="Google Shape;98;p14"/>
          <p:cNvGrpSpPr/>
          <p:nvPr/>
        </p:nvGrpSpPr>
        <p:grpSpPr>
          <a:xfrm>
            <a:off x="-247298" y="-446215"/>
            <a:ext cx="9638600" cy="6030088"/>
            <a:chOff x="-247298" y="-446215"/>
            <a:chExt cx="9638600" cy="6030088"/>
          </a:xfrm>
        </p:grpSpPr>
        <p:sp>
          <p:nvSpPr>
            <p:cNvPr id="99" name="Google Shape;99;p14"/>
            <p:cNvSpPr/>
            <p:nvPr/>
          </p:nvSpPr>
          <p:spPr>
            <a:xfrm>
              <a:off x="-247298"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4"/>
            <p:cNvSpPr/>
            <p:nvPr/>
          </p:nvSpPr>
          <p:spPr>
            <a:xfrm>
              <a:off x="29354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4"/>
            <p:cNvSpPr/>
            <p:nvPr/>
          </p:nvSpPr>
          <p:spPr>
            <a:xfrm flipH="1">
              <a:off x="8552592"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4"/>
            <p:cNvSpPr/>
            <p:nvPr/>
          </p:nvSpPr>
          <p:spPr>
            <a:xfrm flipH="1">
              <a:off x="8011752"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4"/>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4"/>
            <p:cNvSpPr/>
            <p:nvPr/>
          </p:nvSpPr>
          <p:spPr>
            <a:xfrm rot="10800000" flipH="1">
              <a:off x="293542"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4"/>
            <p:cNvSpPr/>
            <p:nvPr/>
          </p:nvSpPr>
          <p:spPr>
            <a:xfrm rot="10800000">
              <a:off x="855259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4"/>
            <p:cNvSpPr/>
            <p:nvPr/>
          </p:nvSpPr>
          <p:spPr>
            <a:xfrm rot="10800000">
              <a:off x="8011752"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 name="Google Shape;107;p14"/>
          <p:cNvSpPr txBox="1">
            <a:spLocks noGrp="1"/>
          </p:cNvSpPr>
          <p:nvPr>
            <p:ph type="title"/>
          </p:nvPr>
        </p:nvSpPr>
        <p:spPr>
          <a:xfrm>
            <a:off x="1226425" y="3229500"/>
            <a:ext cx="6691200" cy="5478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08" name="Google Shape;108;p14"/>
          <p:cNvSpPr txBox="1">
            <a:spLocks noGrp="1"/>
          </p:cNvSpPr>
          <p:nvPr>
            <p:ph type="subTitle" idx="1"/>
          </p:nvPr>
        </p:nvSpPr>
        <p:spPr>
          <a:xfrm>
            <a:off x="1226413" y="1366200"/>
            <a:ext cx="6691200" cy="1863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215"/>
        <p:cNvGrpSpPr/>
        <p:nvPr/>
      </p:nvGrpSpPr>
      <p:grpSpPr>
        <a:xfrm>
          <a:off x="0" y="0"/>
          <a:ext cx="0" cy="0"/>
          <a:chOff x="0" y="0"/>
          <a:chExt cx="0" cy="0"/>
        </a:xfrm>
      </p:grpSpPr>
      <p:grpSp>
        <p:nvGrpSpPr>
          <p:cNvPr id="216" name="Google Shape;216;p24"/>
          <p:cNvGrpSpPr/>
          <p:nvPr/>
        </p:nvGrpSpPr>
        <p:grpSpPr>
          <a:xfrm>
            <a:off x="-310473" y="3500727"/>
            <a:ext cx="9764950" cy="2327954"/>
            <a:chOff x="-310473" y="3500727"/>
            <a:chExt cx="9764950" cy="2327954"/>
          </a:xfrm>
        </p:grpSpPr>
        <p:sp>
          <p:nvSpPr>
            <p:cNvPr id="217" name="Google Shape;217;p24"/>
            <p:cNvSpPr/>
            <p:nvPr/>
          </p:nvSpPr>
          <p:spPr>
            <a:xfrm rot="10800000" flipH="1">
              <a:off x="927364" y="46300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4"/>
            <p:cNvSpPr/>
            <p:nvPr/>
          </p:nvSpPr>
          <p:spPr>
            <a:xfrm rot="10800000" flipH="1">
              <a:off x="273054" y="486056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4"/>
            <p:cNvSpPr/>
            <p:nvPr/>
          </p:nvSpPr>
          <p:spPr>
            <a:xfrm>
              <a:off x="-310473" y="39963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4"/>
            <p:cNvSpPr/>
            <p:nvPr/>
          </p:nvSpPr>
          <p:spPr>
            <a:xfrm>
              <a:off x="-125483" y="35007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4"/>
            <p:cNvSpPr/>
            <p:nvPr/>
          </p:nvSpPr>
          <p:spPr>
            <a:xfrm flipH="1">
              <a:off x="8615767" y="39963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4"/>
            <p:cNvSpPr/>
            <p:nvPr/>
          </p:nvSpPr>
          <p:spPr>
            <a:xfrm flipH="1">
              <a:off x="8424002" y="35007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4"/>
            <p:cNvSpPr/>
            <p:nvPr/>
          </p:nvSpPr>
          <p:spPr>
            <a:xfrm rot="10800000">
              <a:off x="7377929" y="46300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4"/>
            <p:cNvSpPr/>
            <p:nvPr/>
          </p:nvSpPr>
          <p:spPr>
            <a:xfrm rot="10800000">
              <a:off x="8032239" y="486056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5" name="Google Shape;225;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26" name="Google Shape;226;p24"/>
          <p:cNvSpPr txBox="1">
            <a:spLocks noGrp="1"/>
          </p:cNvSpPr>
          <p:nvPr>
            <p:ph type="subTitle" idx="1"/>
          </p:nvPr>
        </p:nvSpPr>
        <p:spPr>
          <a:xfrm>
            <a:off x="4821081" y="2782975"/>
            <a:ext cx="2844000" cy="1161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7" name="Google Shape;227;p24"/>
          <p:cNvSpPr txBox="1">
            <a:spLocks noGrp="1"/>
          </p:cNvSpPr>
          <p:nvPr>
            <p:ph type="subTitle" idx="2"/>
          </p:nvPr>
        </p:nvSpPr>
        <p:spPr>
          <a:xfrm>
            <a:off x="1478950" y="2782975"/>
            <a:ext cx="2844000" cy="1161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8" name="Google Shape;228;p24"/>
          <p:cNvSpPr txBox="1">
            <a:spLocks noGrp="1"/>
          </p:cNvSpPr>
          <p:nvPr>
            <p:ph type="subTitle" idx="3"/>
          </p:nvPr>
        </p:nvSpPr>
        <p:spPr>
          <a:xfrm>
            <a:off x="1478950" y="2370625"/>
            <a:ext cx="2844000" cy="55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29" name="Google Shape;229;p24"/>
          <p:cNvSpPr txBox="1">
            <a:spLocks noGrp="1"/>
          </p:cNvSpPr>
          <p:nvPr>
            <p:ph type="subTitle" idx="4"/>
          </p:nvPr>
        </p:nvSpPr>
        <p:spPr>
          <a:xfrm>
            <a:off x="4821091" y="2370625"/>
            <a:ext cx="2844000" cy="55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230"/>
        <p:cNvGrpSpPr/>
        <p:nvPr/>
      </p:nvGrpSpPr>
      <p:grpSpPr>
        <a:xfrm>
          <a:off x="0" y="0"/>
          <a:ext cx="0" cy="0"/>
          <a:chOff x="0" y="0"/>
          <a:chExt cx="0" cy="0"/>
        </a:xfrm>
      </p:grpSpPr>
      <p:grpSp>
        <p:nvGrpSpPr>
          <p:cNvPr id="231" name="Google Shape;231;p25"/>
          <p:cNvGrpSpPr/>
          <p:nvPr/>
        </p:nvGrpSpPr>
        <p:grpSpPr>
          <a:xfrm>
            <a:off x="-655296" y="3436585"/>
            <a:ext cx="10454595" cy="2311221"/>
            <a:chOff x="-655296" y="3436585"/>
            <a:chExt cx="10454595" cy="2311221"/>
          </a:xfrm>
        </p:grpSpPr>
        <p:sp>
          <p:nvSpPr>
            <p:cNvPr id="232" name="Google Shape;232;p25"/>
            <p:cNvSpPr/>
            <p:nvPr/>
          </p:nvSpPr>
          <p:spPr>
            <a:xfrm rot="10800000" flipH="1">
              <a:off x="-136836" y="34365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5"/>
            <p:cNvSpPr/>
            <p:nvPr/>
          </p:nvSpPr>
          <p:spPr>
            <a:xfrm>
              <a:off x="183414" y="454091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5"/>
            <p:cNvSpPr/>
            <p:nvPr/>
          </p:nvSpPr>
          <p:spPr>
            <a:xfrm rot="10800000" flipH="1">
              <a:off x="-655296" y="390306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5"/>
            <p:cNvSpPr/>
            <p:nvPr/>
          </p:nvSpPr>
          <p:spPr>
            <a:xfrm rot="10800000">
              <a:off x="8442129" y="34365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5"/>
            <p:cNvSpPr/>
            <p:nvPr/>
          </p:nvSpPr>
          <p:spPr>
            <a:xfrm flipH="1">
              <a:off x="8121879" y="454091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5"/>
            <p:cNvSpPr/>
            <p:nvPr/>
          </p:nvSpPr>
          <p:spPr>
            <a:xfrm rot="10800000">
              <a:off x="8960589" y="390306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5"/>
            <p:cNvSpPr/>
            <p:nvPr/>
          </p:nvSpPr>
          <p:spPr>
            <a:xfrm rot="10800000">
              <a:off x="7718714" y="47796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5"/>
            <p:cNvSpPr/>
            <p:nvPr/>
          </p:nvSpPr>
          <p:spPr>
            <a:xfrm rot="10800000">
              <a:off x="586589" y="47796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0" name="Google Shape;240;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41" name="Google Shape;241;p25"/>
          <p:cNvSpPr txBox="1">
            <a:spLocks noGrp="1"/>
          </p:cNvSpPr>
          <p:nvPr>
            <p:ph type="subTitle" idx="1"/>
          </p:nvPr>
        </p:nvSpPr>
        <p:spPr>
          <a:xfrm>
            <a:off x="4646250" y="1667625"/>
            <a:ext cx="3398400" cy="1899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2" name="Google Shape;242;p25"/>
          <p:cNvSpPr txBox="1">
            <a:spLocks noGrp="1"/>
          </p:cNvSpPr>
          <p:nvPr>
            <p:ph type="subTitle" idx="2"/>
          </p:nvPr>
        </p:nvSpPr>
        <p:spPr>
          <a:xfrm>
            <a:off x="1099338" y="1667625"/>
            <a:ext cx="3398400" cy="1899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43"/>
        <p:cNvGrpSpPr/>
        <p:nvPr/>
      </p:nvGrpSpPr>
      <p:grpSpPr>
        <a:xfrm>
          <a:off x="0" y="0"/>
          <a:ext cx="0" cy="0"/>
          <a:chOff x="0" y="0"/>
          <a:chExt cx="0" cy="0"/>
        </a:xfrm>
      </p:grpSpPr>
      <p:grpSp>
        <p:nvGrpSpPr>
          <p:cNvPr id="244" name="Google Shape;244;p26"/>
          <p:cNvGrpSpPr/>
          <p:nvPr/>
        </p:nvGrpSpPr>
        <p:grpSpPr>
          <a:xfrm>
            <a:off x="-512036" y="-358023"/>
            <a:ext cx="10169413" cy="5930154"/>
            <a:chOff x="-512036" y="-358023"/>
            <a:chExt cx="10169413" cy="5930154"/>
          </a:xfrm>
        </p:grpSpPr>
        <p:sp>
          <p:nvSpPr>
            <p:cNvPr id="245" name="Google Shape;245;p26"/>
            <p:cNvSpPr/>
            <p:nvPr/>
          </p:nvSpPr>
          <p:spPr>
            <a:xfrm flipH="1">
              <a:off x="8430767" y="40742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6"/>
            <p:cNvSpPr/>
            <p:nvPr/>
          </p:nvSpPr>
          <p:spPr>
            <a:xfrm rot="10800000">
              <a:off x="8818667" y="182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6"/>
            <p:cNvSpPr/>
            <p:nvPr/>
          </p:nvSpPr>
          <p:spPr>
            <a:xfrm rot="10800000">
              <a:off x="8011414" y="46040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6"/>
            <p:cNvSpPr/>
            <p:nvPr/>
          </p:nvSpPr>
          <p:spPr>
            <a:xfrm flipH="1">
              <a:off x="8430777" y="-3580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6"/>
            <p:cNvSpPr/>
            <p:nvPr/>
          </p:nvSpPr>
          <p:spPr>
            <a:xfrm>
              <a:off x="-124136" y="40742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6"/>
            <p:cNvSpPr/>
            <p:nvPr/>
          </p:nvSpPr>
          <p:spPr>
            <a:xfrm rot="10800000" flipH="1">
              <a:off x="-512036" y="182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6"/>
            <p:cNvSpPr/>
            <p:nvPr/>
          </p:nvSpPr>
          <p:spPr>
            <a:xfrm rot="10800000" flipH="1">
              <a:off x="295217" y="46040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6"/>
            <p:cNvSpPr/>
            <p:nvPr/>
          </p:nvSpPr>
          <p:spPr>
            <a:xfrm>
              <a:off x="-124133" y="-3580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3" name="Google Shape;253;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54" name="Google Shape;254;p26"/>
          <p:cNvSpPr txBox="1">
            <a:spLocks noGrp="1"/>
          </p:cNvSpPr>
          <p:nvPr>
            <p:ph type="subTitle" idx="1"/>
          </p:nvPr>
        </p:nvSpPr>
        <p:spPr>
          <a:xfrm>
            <a:off x="881225" y="2768751"/>
            <a:ext cx="2288100" cy="89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5" name="Google Shape;255;p26"/>
          <p:cNvSpPr txBox="1">
            <a:spLocks noGrp="1"/>
          </p:cNvSpPr>
          <p:nvPr>
            <p:ph type="subTitle" idx="2"/>
          </p:nvPr>
        </p:nvSpPr>
        <p:spPr>
          <a:xfrm>
            <a:off x="3427950" y="2768751"/>
            <a:ext cx="2288100" cy="89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6" name="Google Shape;256;p26"/>
          <p:cNvSpPr txBox="1">
            <a:spLocks noGrp="1"/>
          </p:cNvSpPr>
          <p:nvPr>
            <p:ph type="subTitle" idx="3"/>
          </p:nvPr>
        </p:nvSpPr>
        <p:spPr>
          <a:xfrm>
            <a:off x="5974700" y="2768751"/>
            <a:ext cx="2288100" cy="89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7" name="Google Shape;257;p26"/>
          <p:cNvSpPr txBox="1">
            <a:spLocks noGrp="1"/>
          </p:cNvSpPr>
          <p:nvPr>
            <p:ph type="subTitle" idx="4"/>
          </p:nvPr>
        </p:nvSpPr>
        <p:spPr>
          <a:xfrm>
            <a:off x="881225" y="2250275"/>
            <a:ext cx="22881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58" name="Google Shape;258;p26"/>
          <p:cNvSpPr txBox="1">
            <a:spLocks noGrp="1"/>
          </p:cNvSpPr>
          <p:nvPr>
            <p:ph type="subTitle" idx="5"/>
          </p:nvPr>
        </p:nvSpPr>
        <p:spPr>
          <a:xfrm>
            <a:off x="3427954" y="2250275"/>
            <a:ext cx="22881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59" name="Google Shape;259;p26"/>
          <p:cNvSpPr txBox="1">
            <a:spLocks noGrp="1"/>
          </p:cNvSpPr>
          <p:nvPr>
            <p:ph type="subTitle" idx="6"/>
          </p:nvPr>
        </p:nvSpPr>
        <p:spPr>
          <a:xfrm>
            <a:off x="5974700" y="2250275"/>
            <a:ext cx="22881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60"/>
        <p:cNvGrpSpPr/>
        <p:nvPr/>
      </p:nvGrpSpPr>
      <p:grpSpPr>
        <a:xfrm>
          <a:off x="0" y="0"/>
          <a:ext cx="0" cy="0"/>
          <a:chOff x="0" y="0"/>
          <a:chExt cx="0" cy="0"/>
        </a:xfrm>
      </p:grpSpPr>
      <p:grpSp>
        <p:nvGrpSpPr>
          <p:cNvPr id="261" name="Google Shape;261;p27"/>
          <p:cNvGrpSpPr/>
          <p:nvPr/>
        </p:nvGrpSpPr>
        <p:grpSpPr>
          <a:xfrm>
            <a:off x="-519458" y="2674710"/>
            <a:ext cx="10224210" cy="2744938"/>
            <a:chOff x="-519458" y="2674710"/>
            <a:chExt cx="10224210" cy="2744938"/>
          </a:xfrm>
        </p:grpSpPr>
        <p:sp>
          <p:nvSpPr>
            <p:cNvPr id="262" name="Google Shape;262;p27"/>
            <p:cNvSpPr/>
            <p:nvPr/>
          </p:nvSpPr>
          <p:spPr>
            <a:xfrm rot="10800000" flipH="1">
              <a:off x="-118698" y="308477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7"/>
            <p:cNvSpPr/>
            <p:nvPr/>
          </p:nvSpPr>
          <p:spPr>
            <a:xfrm rot="10800000" flipH="1">
              <a:off x="-519458" y="26747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7"/>
            <p:cNvSpPr/>
            <p:nvPr/>
          </p:nvSpPr>
          <p:spPr>
            <a:xfrm>
              <a:off x="-519448" y="39557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7"/>
            <p:cNvSpPr/>
            <p:nvPr/>
          </p:nvSpPr>
          <p:spPr>
            <a:xfrm>
              <a:off x="21392" y="44515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7"/>
            <p:cNvSpPr/>
            <p:nvPr/>
          </p:nvSpPr>
          <p:spPr>
            <a:xfrm rot="10800000">
              <a:off x="8465282" y="308477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7"/>
            <p:cNvSpPr/>
            <p:nvPr/>
          </p:nvSpPr>
          <p:spPr>
            <a:xfrm rot="10800000">
              <a:off x="8866042" y="26747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7"/>
            <p:cNvSpPr/>
            <p:nvPr/>
          </p:nvSpPr>
          <p:spPr>
            <a:xfrm flipH="1">
              <a:off x="8866032" y="395571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7"/>
            <p:cNvSpPr/>
            <p:nvPr/>
          </p:nvSpPr>
          <p:spPr>
            <a:xfrm flipH="1">
              <a:off x="8325192" y="44515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0" name="Google Shape;270;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1" name="Google Shape;271;p27"/>
          <p:cNvSpPr txBox="1">
            <a:spLocks noGrp="1"/>
          </p:cNvSpPr>
          <p:nvPr>
            <p:ph type="subTitle" idx="1"/>
          </p:nvPr>
        </p:nvSpPr>
        <p:spPr>
          <a:xfrm>
            <a:off x="1142950" y="2219063"/>
            <a:ext cx="3251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2" name="Google Shape;272;p27"/>
          <p:cNvSpPr txBox="1">
            <a:spLocks noGrp="1"/>
          </p:cNvSpPr>
          <p:nvPr>
            <p:ph type="subTitle" idx="2"/>
          </p:nvPr>
        </p:nvSpPr>
        <p:spPr>
          <a:xfrm>
            <a:off x="4749341" y="2219063"/>
            <a:ext cx="3251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3" name="Google Shape;273;p27"/>
          <p:cNvSpPr txBox="1">
            <a:spLocks noGrp="1"/>
          </p:cNvSpPr>
          <p:nvPr>
            <p:ph type="subTitle" idx="3"/>
          </p:nvPr>
        </p:nvSpPr>
        <p:spPr>
          <a:xfrm>
            <a:off x="1142950" y="4010313"/>
            <a:ext cx="3251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4" name="Google Shape;274;p27"/>
          <p:cNvSpPr txBox="1">
            <a:spLocks noGrp="1"/>
          </p:cNvSpPr>
          <p:nvPr>
            <p:ph type="subTitle" idx="4"/>
          </p:nvPr>
        </p:nvSpPr>
        <p:spPr>
          <a:xfrm>
            <a:off x="4749341" y="4010313"/>
            <a:ext cx="3251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5" name="Google Shape;275;p27"/>
          <p:cNvSpPr txBox="1">
            <a:spLocks noGrp="1"/>
          </p:cNvSpPr>
          <p:nvPr>
            <p:ph type="subTitle" idx="5"/>
          </p:nvPr>
        </p:nvSpPr>
        <p:spPr>
          <a:xfrm>
            <a:off x="1142962" y="1860588"/>
            <a:ext cx="32517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DM Sans"/>
                <a:ea typeface="DM Sans"/>
                <a:cs typeface="DM Sans"/>
                <a:sym typeface="DM Sans"/>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76" name="Google Shape;276;p27"/>
          <p:cNvSpPr txBox="1">
            <a:spLocks noGrp="1"/>
          </p:cNvSpPr>
          <p:nvPr>
            <p:ph type="subTitle" idx="6"/>
          </p:nvPr>
        </p:nvSpPr>
        <p:spPr>
          <a:xfrm>
            <a:off x="1142962" y="3651938"/>
            <a:ext cx="32517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DM Sans"/>
                <a:ea typeface="DM Sans"/>
                <a:cs typeface="DM Sans"/>
                <a:sym typeface="DM Sans"/>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77" name="Google Shape;277;p27"/>
          <p:cNvSpPr txBox="1">
            <a:spLocks noGrp="1"/>
          </p:cNvSpPr>
          <p:nvPr>
            <p:ph type="subTitle" idx="7"/>
          </p:nvPr>
        </p:nvSpPr>
        <p:spPr>
          <a:xfrm>
            <a:off x="4749338" y="1860588"/>
            <a:ext cx="32517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DM Sans"/>
                <a:ea typeface="DM Sans"/>
                <a:cs typeface="DM Sans"/>
                <a:sym typeface="DM Sans"/>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78" name="Google Shape;278;p27"/>
          <p:cNvSpPr txBox="1">
            <a:spLocks noGrp="1"/>
          </p:cNvSpPr>
          <p:nvPr>
            <p:ph type="subTitle" idx="8"/>
          </p:nvPr>
        </p:nvSpPr>
        <p:spPr>
          <a:xfrm>
            <a:off x="4749338" y="3651938"/>
            <a:ext cx="32517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DM Sans"/>
                <a:ea typeface="DM Sans"/>
                <a:cs typeface="DM Sans"/>
                <a:sym typeface="DM Sans"/>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279"/>
        <p:cNvGrpSpPr/>
        <p:nvPr/>
      </p:nvGrpSpPr>
      <p:grpSpPr>
        <a:xfrm>
          <a:off x="0" y="0"/>
          <a:ext cx="0" cy="0"/>
          <a:chOff x="0" y="0"/>
          <a:chExt cx="0" cy="0"/>
        </a:xfrm>
      </p:grpSpPr>
      <p:grpSp>
        <p:nvGrpSpPr>
          <p:cNvPr id="280" name="Google Shape;280;p28"/>
          <p:cNvGrpSpPr/>
          <p:nvPr/>
        </p:nvGrpSpPr>
        <p:grpSpPr>
          <a:xfrm>
            <a:off x="-266473" y="3341397"/>
            <a:ext cx="9676960" cy="2321921"/>
            <a:chOff x="-266473" y="3341397"/>
            <a:chExt cx="9676960" cy="2321921"/>
          </a:xfrm>
        </p:grpSpPr>
        <p:sp>
          <p:nvSpPr>
            <p:cNvPr id="281" name="Google Shape;281;p28"/>
            <p:cNvSpPr/>
            <p:nvPr/>
          </p:nvSpPr>
          <p:spPr>
            <a:xfrm flipH="1">
              <a:off x="7441675" y="469519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8"/>
            <p:cNvSpPr/>
            <p:nvPr/>
          </p:nvSpPr>
          <p:spPr>
            <a:xfrm>
              <a:off x="863615" y="469519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8"/>
            <p:cNvSpPr/>
            <p:nvPr/>
          </p:nvSpPr>
          <p:spPr>
            <a:xfrm rot="10800000" flipH="1">
              <a:off x="-266473" y="40287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8"/>
            <p:cNvSpPr/>
            <p:nvPr/>
          </p:nvSpPr>
          <p:spPr>
            <a:xfrm>
              <a:off x="152867" y="45245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8"/>
            <p:cNvSpPr/>
            <p:nvPr/>
          </p:nvSpPr>
          <p:spPr>
            <a:xfrm rot="10800000" flipH="1">
              <a:off x="-151033" y="334139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8"/>
            <p:cNvSpPr/>
            <p:nvPr/>
          </p:nvSpPr>
          <p:spPr>
            <a:xfrm rot="10800000">
              <a:off x="8571777" y="402872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8"/>
            <p:cNvSpPr/>
            <p:nvPr/>
          </p:nvSpPr>
          <p:spPr>
            <a:xfrm flipH="1">
              <a:off x="8152437" y="45245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8"/>
            <p:cNvSpPr/>
            <p:nvPr/>
          </p:nvSpPr>
          <p:spPr>
            <a:xfrm rot="10800000">
              <a:off x="8456337" y="334139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9" name="Google Shape;289;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90" name="Google Shape;290;p28"/>
          <p:cNvSpPr txBox="1">
            <a:spLocks noGrp="1"/>
          </p:cNvSpPr>
          <p:nvPr>
            <p:ph type="subTitle" idx="1"/>
          </p:nvPr>
        </p:nvSpPr>
        <p:spPr>
          <a:xfrm>
            <a:off x="968524" y="2235613"/>
            <a:ext cx="2266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1" name="Google Shape;291;p28"/>
          <p:cNvSpPr txBox="1">
            <a:spLocks noGrp="1"/>
          </p:cNvSpPr>
          <p:nvPr>
            <p:ph type="subTitle" idx="2"/>
          </p:nvPr>
        </p:nvSpPr>
        <p:spPr>
          <a:xfrm>
            <a:off x="3439063" y="2235613"/>
            <a:ext cx="22659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2" name="Google Shape;292;p28"/>
          <p:cNvSpPr txBox="1">
            <a:spLocks noGrp="1"/>
          </p:cNvSpPr>
          <p:nvPr>
            <p:ph type="subTitle" idx="3"/>
          </p:nvPr>
        </p:nvSpPr>
        <p:spPr>
          <a:xfrm>
            <a:off x="968524" y="3967325"/>
            <a:ext cx="2266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3" name="Google Shape;293;p28"/>
          <p:cNvSpPr txBox="1">
            <a:spLocks noGrp="1"/>
          </p:cNvSpPr>
          <p:nvPr>
            <p:ph type="subTitle" idx="4"/>
          </p:nvPr>
        </p:nvSpPr>
        <p:spPr>
          <a:xfrm>
            <a:off x="3439063" y="3967325"/>
            <a:ext cx="22659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4" name="Google Shape;294;p28"/>
          <p:cNvSpPr txBox="1">
            <a:spLocks noGrp="1"/>
          </p:cNvSpPr>
          <p:nvPr>
            <p:ph type="subTitle" idx="5"/>
          </p:nvPr>
        </p:nvSpPr>
        <p:spPr>
          <a:xfrm>
            <a:off x="5909375" y="2235613"/>
            <a:ext cx="22659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5" name="Google Shape;295;p28"/>
          <p:cNvSpPr txBox="1">
            <a:spLocks noGrp="1"/>
          </p:cNvSpPr>
          <p:nvPr>
            <p:ph type="subTitle" idx="6"/>
          </p:nvPr>
        </p:nvSpPr>
        <p:spPr>
          <a:xfrm>
            <a:off x="5909375" y="3967325"/>
            <a:ext cx="22659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6" name="Google Shape;296;p28"/>
          <p:cNvSpPr txBox="1">
            <a:spLocks noGrp="1"/>
          </p:cNvSpPr>
          <p:nvPr>
            <p:ph type="subTitle" idx="7"/>
          </p:nvPr>
        </p:nvSpPr>
        <p:spPr>
          <a:xfrm>
            <a:off x="968524" y="1890138"/>
            <a:ext cx="2266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97" name="Google Shape;297;p28"/>
          <p:cNvSpPr txBox="1">
            <a:spLocks noGrp="1"/>
          </p:cNvSpPr>
          <p:nvPr>
            <p:ph type="subTitle" idx="8"/>
          </p:nvPr>
        </p:nvSpPr>
        <p:spPr>
          <a:xfrm>
            <a:off x="3439063" y="1890138"/>
            <a:ext cx="22659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98" name="Google Shape;298;p28"/>
          <p:cNvSpPr txBox="1">
            <a:spLocks noGrp="1"/>
          </p:cNvSpPr>
          <p:nvPr>
            <p:ph type="subTitle" idx="9"/>
          </p:nvPr>
        </p:nvSpPr>
        <p:spPr>
          <a:xfrm>
            <a:off x="5909375" y="1890138"/>
            <a:ext cx="22659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99" name="Google Shape;299;p28"/>
          <p:cNvSpPr txBox="1">
            <a:spLocks noGrp="1"/>
          </p:cNvSpPr>
          <p:nvPr>
            <p:ph type="subTitle" idx="13"/>
          </p:nvPr>
        </p:nvSpPr>
        <p:spPr>
          <a:xfrm>
            <a:off x="968524" y="3621825"/>
            <a:ext cx="22662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300" name="Google Shape;300;p28"/>
          <p:cNvSpPr txBox="1">
            <a:spLocks noGrp="1"/>
          </p:cNvSpPr>
          <p:nvPr>
            <p:ph type="subTitle" idx="14"/>
          </p:nvPr>
        </p:nvSpPr>
        <p:spPr>
          <a:xfrm>
            <a:off x="3439063" y="3621825"/>
            <a:ext cx="22659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301" name="Google Shape;301;p28"/>
          <p:cNvSpPr txBox="1">
            <a:spLocks noGrp="1"/>
          </p:cNvSpPr>
          <p:nvPr>
            <p:ph type="subTitle" idx="15"/>
          </p:nvPr>
        </p:nvSpPr>
        <p:spPr>
          <a:xfrm>
            <a:off x="5909375" y="3621825"/>
            <a:ext cx="22659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13"/>
        <p:cNvGrpSpPr/>
        <p:nvPr/>
      </p:nvGrpSpPr>
      <p:grpSpPr>
        <a:xfrm>
          <a:off x="0" y="0"/>
          <a:ext cx="0" cy="0"/>
          <a:chOff x="0" y="0"/>
          <a:chExt cx="0" cy="0"/>
        </a:xfrm>
      </p:grpSpPr>
      <p:grpSp>
        <p:nvGrpSpPr>
          <p:cNvPr id="314" name="Google Shape;314;p31"/>
          <p:cNvGrpSpPr/>
          <p:nvPr/>
        </p:nvGrpSpPr>
        <p:grpSpPr>
          <a:xfrm>
            <a:off x="-247298" y="-446215"/>
            <a:ext cx="9638610" cy="6030088"/>
            <a:chOff x="-247298" y="-446215"/>
            <a:chExt cx="9638610" cy="6030088"/>
          </a:xfrm>
        </p:grpSpPr>
        <p:sp>
          <p:nvSpPr>
            <p:cNvPr id="315" name="Google Shape;315;p31"/>
            <p:cNvSpPr/>
            <p:nvPr/>
          </p:nvSpPr>
          <p:spPr>
            <a:xfrm>
              <a:off x="-125573"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1"/>
            <p:cNvSpPr/>
            <p:nvPr/>
          </p:nvSpPr>
          <p:spPr>
            <a:xfrm>
              <a:off x="-125583"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1"/>
            <p:cNvSpPr/>
            <p:nvPr/>
          </p:nvSpPr>
          <p:spPr>
            <a:xfrm rot="10800000" flipH="1">
              <a:off x="-247298"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1"/>
            <p:cNvSpPr/>
            <p:nvPr/>
          </p:nvSpPr>
          <p:spPr>
            <a:xfrm rot="10800000" flipH="1">
              <a:off x="346967" y="-4462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1"/>
            <p:cNvSpPr/>
            <p:nvPr/>
          </p:nvSpPr>
          <p:spPr>
            <a:xfrm rot="10800000">
              <a:off x="7958317" y="-42862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1"/>
            <p:cNvSpPr/>
            <p:nvPr/>
          </p:nvSpPr>
          <p:spPr>
            <a:xfrm rot="10800000">
              <a:off x="8552602" y="496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1"/>
            <p:cNvSpPr/>
            <p:nvPr/>
          </p:nvSpPr>
          <p:spPr>
            <a:xfrm>
              <a:off x="8430777" y="411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1"/>
            <p:cNvSpPr/>
            <p:nvPr/>
          </p:nvSpPr>
          <p:spPr>
            <a:xfrm>
              <a:off x="8430767" y="46157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23"/>
        <p:cNvGrpSpPr/>
        <p:nvPr/>
      </p:nvGrpSpPr>
      <p:grpSpPr>
        <a:xfrm>
          <a:off x="0" y="0"/>
          <a:ext cx="0" cy="0"/>
          <a:chOff x="0" y="0"/>
          <a:chExt cx="0" cy="0"/>
        </a:xfrm>
      </p:grpSpPr>
      <p:grpSp>
        <p:nvGrpSpPr>
          <p:cNvPr id="324" name="Google Shape;324;p32"/>
          <p:cNvGrpSpPr/>
          <p:nvPr/>
        </p:nvGrpSpPr>
        <p:grpSpPr>
          <a:xfrm>
            <a:off x="-476796" y="2900252"/>
            <a:ext cx="10097585" cy="2865204"/>
            <a:chOff x="-476796" y="2900252"/>
            <a:chExt cx="10097585" cy="2865204"/>
          </a:xfrm>
        </p:grpSpPr>
        <p:grpSp>
          <p:nvGrpSpPr>
            <p:cNvPr id="325" name="Google Shape;325;p32"/>
            <p:cNvGrpSpPr/>
            <p:nvPr/>
          </p:nvGrpSpPr>
          <p:grpSpPr>
            <a:xfrm>
              <a:off x="-476796" y="2900252"/>
              <a:ext cx="10097585" cy="2865204"/>
              <a:chOff x="-476796" y="2900252"/>
              <a:chExt cx="10097585" cy="2865204"/>
            </a:xfrm>
          </p:grpSpPr>
          <p:sp>
            <p:nvSpPr>
              <p:cNvPr id="326" name="Google Shape;326;p32"/>
              <p:cNvSpPr/>
              <p:nvPr/>
            </p:nvSpPr>
            <p:spPr>
              <a:xfrm rot="10800000" flipH="1">
                <a:off x="-266661" y="29002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2"/>
              <p:cNvSpPr/>
              <p:nvPr/>
            </p:nvSpPr>
            <p:spPr>
              <a:xfrm>
                <a:off x="-90736" y="442524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2"/>
              <p:cNvSpPr/>
              <p:nvPr/>
            </p:nvSpPr>
            <p:spPr>
              <a:xfrm>
                <a:off x="-476796" y="35228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2"/>
              <p:cNvSpPr/>
              <p:nvPr/>
            </p:nvSpPr>
            <p:spPr>
              <a:xfrm rot="10800000">
                <a:off x="8571944" y="290025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2"/>
              <p:cNvSpPr/>
              <p:nvPr/>
            </p:nvSpPr>
            <p:spPr>
              <a:xfrm flipH="1">
                <a:off x="8396019" y="442524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2"/>
              <p:cNvSpPr/>
              <p:nvPr/>
            </p:nvSpPr>
            <p:spPr>
              <a:xfrm flipH="1">
                <a:off x="8782079" y="352281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2"/>
              <p:cNvSpPr/>
              <p:nvPr/>
            </p:nvSpPr>
            <p:spPr>
              <a:xfrm rot="10800000">
                <a:off x="8009979" y="47973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3" name="Google Shape;333;p32"/>
            <p:cNvSpPr/>
            <p:nvPr/>
          </p:nvSpPr>
          <p:spPr>
            <a:xfrm rot="10800000" flipH="1">
              <a:off x="293867" y="47973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500"/>
              <a:buFont typeface="Outfit"/>
              <a:buNone/>
              <a:defRPr sz="3500" b="1">
                <a:solidFill>
                  <a:schemeClr val="dk1"/>
                </a:solidFill>
                <a:latin typeface="Outfit"/>
                <a:ea typeface="Outfit"/>
                <a:cs typeface="Outfit"/>
                <a:sym typeface="Outfit"/>
              </a:defRPr>
            </a:lvl1pPr>
            <a:lvl2pPr lvl="1"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2pPr>
            <a:lvl3pPr lvl="2"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3pPr>
            <a:lvl4pPr lvl="3"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4pPr>
            <a:lvl5pPr lvl="4"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5pPr>
            <a:lvl6pPr lvl="5"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6pPr>
            <a:lvl7pPr lvl="6"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7pPr>
            <a:lvl8pPr lvl="7"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8pPr>
            <a:lvl9pPr lvl="8"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4" r:id="rId3"/>
    <p:sldLayoutId id="2147483658" r:id="rId4"/>
    <p:sldLayoutId id="2147483659" r:id="rId5"/>
    <p:sldLayoutId id="2147483660" r:id="rId6"/>
    <p:sldLayoutId id="2147483670" r:id="rId7"/>
    <p:sldLayoutId id="2147483671" r:id="rId8"/>
    <p:sldLayoutId id="2147483672" r:id="rId9"/>
    <p:sldLayoutId id="2147483673" r:id="rId10"/>
    <p:sldLayoutId id="2147483674" r:id="rId11"/>
    <p:sldLayoutId id="2147483677" r:id="rId12"/>
    <p:sldLayoutId id="2147483678"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6"/>
          <p:cNvSpPr txBox="1">
            <a:spLocks noGrp="1"/>
          </p:cNvSpPr>
          <p:nvPr>
            <p:ph type="ctrTitle"/>
          </p:nvPr>
        </p:nvSpPr>
        <p:spPr>
          <a:xfrm>
            <a:off x="607213" y="844716"/>
            <a:ext cx="6990938" cy="162902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b="1" dirty="0"/>
              <a:t>Design &amp; Verification of Low-Power Perceptron</a:t>
            </a:r>
            <a:r>
              <a:rPr lang="en" sz="3200" dirty="0"/>
              <a:t> </a:t>
            </a:r>
            <a:r>
              <a:rPr lang="en" sz="3200" b="1" dirty="0"/>
              <a:t>Based AI Engine</a:t>
            </a:r>
            <a:endParaRPr sz="3200" dirty="0"/>
          </a:p>
        </p:txBody>
      </p:sp>
      <p:sp>
        <p:nvSpPr>
          <p:cNvPr id="345" name="Google Shape;345;p36"/>
          <p:cNvSpPr txBox="1">
            <a:spLocks noGrp="1"/>
          </p:cNvSpPr>
          <p:nvPr>
            <p:ph type="subTitle" idx="1"/>
          </p:nvPr>
        </p:nvSpPr>
        <p:spPr>
          <a:xfrm>
            <a:off x="700052" y="2919218"/>
            <a:ext cx="6745344" cy="1455682"/>
          </a:xfrm>
          <a:prstGeom prst="rect">
            <a:avLst/>
          </a:prstGeom>
        </p:spPr>
        <p:txBody>
          <a:bodyPr spcFirstLastPara="1" wrap="square" lIns="91425" tIns="91425" rIns="91425" bIns="91425" numCol="2" anchor="t" anchorCtr="0">
            <a:noAutofit/>
          </a:bodyPr>
          <a:lstStyle/>
          <a:p>
            <a:pPr marL="0" lvl="0" indent="0" rtl="0">
              <a:spcBef>
                <a:spcPts val="0"/>
              </a:spcBef>
              <a:spcAft>
                <a:spcPts val="0"/>
              </a:spcAft>
              <a:buNone/>
            </a:pPr>
            <a:r>
              <a:rPr lang="en-GB" sz="1600" b="1" dirty="0"/>
              <a:t>Project Presented:</a:t>
            </a:r>
          </a:p>
          <a:p>
            <a:pPr marL="0" indent="0"/>
            <a:r>
              <a:rPr lang="en-GB" sz="1400" dirty="0"/>
              <a:t>Mohammed Moienuddin Ali.S.A</a:t>
            </a:r>
          </a:p>
          <a:p>
            <a:pPr marL="0" indent="0"/>
            <a:r>
              <a:rPr lang="en-GB" sz="1400" dirty="0"/>
              <a:t>Packya Muthukumar.M</a:t>
            </a:r>
          </a:p>
          <a:p>
            <a:pPr marL="0" indent="0"/>
            <a:r>
              <a:rPr lang="en-GB" sz="1400" dirty="0"/>
              <a:t>Pradeep Palaniselvam.T</a:t>
            </a:r>
          </a:p>
          <a:p>
            <a:pPr marL="0" indent="0"/>
            <a:r>
              <a:rPr lang="en-GB" sz="1400" dirty="0"/>
              <a:t>Vigneshkannan.R</a:t>
            </a:r>
          </a:p>
          <a:p>
            <a:pPr marL="0" indent="0"/>
            <a:r>
              <a:rPr lang="en-GB" sz="1600" b="1" dirty="0"/>
              <a:t>Guided By:</a:t>
            </a:r>
          </a:p>
          <a:p>
            <a:pPr marL="0" indent="0"/>
            <a:r>
              <a:rPr lang="en-GB" sz="1400" dirty="0"/>
              <a:t>Mrs. J. Nargis (Asst. Professor)</a:t>
            </a:r>
          </a:p>
        </p:txBody>
      </p:sp>
      <p:cxnSp>
        <p:nvCxnSpPr>
          <p:cNvPr id="346" name="Google Shape;346;p36"/>
          <p:cNvCxnSpPr/>
          <p:nvPr/>
        </p:nvCxnSpPr>
        <p:spPr>
          <a:xfrm>
            <a:off x="782039" y="972355"/>
            <a:ext cx="373500" cy="0"/>
          </a:xfrm>
          <a:prstGeom prst="straightConnector1">
            <a:avLst/>
          </a:prstGeom>
          <a:noFill/>
          <a:ln w="19050" cap="flat" cmpd="sng">
            <a:solidFill>
              <a:schemeClr val="dk1"/>
            </a:solidFill>
            <a:prstDash val="solid"/>
            <a:round/>
            <a:headEnd type="none" w="med" len="med"/>
            <a:tailEnd type="none" w="med" len="med"/>
          </a:ln>
        </p:spPr>
      </p:cxnSp>
      <p:grpSp>
        <p:nvGrpSpPr>
          <p:cNvPr id="347" name="Google Shape;347;p36"/>
          <p:cNvGrpSpPr/>
          <p:nvPr/>
        </p:nvGrpSpPr>
        <p:grpSpPr>
          <a:xfrm>
            <a:off x="5983934" y="-192722"/>
            <a:ext cx="3406521" cy="6214503"/>
            <a:chOff x="5983934" y="-192722"/>
            <a:chExt cx="3406521" cy="6214503"/>
          </a:xfrm>
        </p:grpSpPr>
        <p:sp>
          <p:nvSpPr>
            <p:cNvPr id="348" name="Google Shape;348;p36"/>
            <p:cNvSpPr/>
            <p:nvPr/>
          </p:nvSpPr>
          <p:spPr>
            <a:xfrm rot="10800000" flipH="1">
              <a:off x="8492525" y="-19272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6"/>
            <p:cNvSpPr/>
            <p:nvPr/>
          </p:nvSpPr>
          <p:spPr>
            <a:xfrm>
              <a:off x="8551745" y="326783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6"/>
            <p:cNvSpPr/>
            <p:nvPr/>
          </p:nvSpPr>
          <p:spPr>
            <a:xfrm>
              <a:off x="6606686" y="25473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6"/>
            <p:cNvSpPr/>
            <p:nvPr/>
          </p:nvSpPr>
          <p:spPr>
            <a:xfrm>
              <a:off x="7103477" y="-1533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6"/>
            <p:cNvSpPr/>
            <p:nvPr/>
          </p:nvSpPr>
          <p:spPr>
            <a:xfrm>
              <a:off x="6684072" y="3184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6"/>
            <p:cNvSpPr/>
            <p:nvPr/>
          </p:nvSpPr>
          <p:spPr>
            <a:xfrm>
              <a:off x="7587339" y="11940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6"/>
            <p:cNvSpPr/>
            <p:nvPr/>
          </p:nvSpPr>
          <p:spPr>
            <a:xfrm>
              <a:off x="7017892" y="207505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6"/>
            <p:cNvSpPr/>
            <p:nvPr/>
          </p:nvSpPr>
          <p:spPr>
            <a:xfrm>
              <a:off x="8068891" y="16222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6"/>
            <p:cNvSpPr/>
            <p:nvPr/>
          </p:nvSpPr>
          <p:spPr>
            <a:xfrm rot="10800000" flipH="1">
              <a:off x="6606680" y="392470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6"/>
            <p:cNvSpPr/>
            <p:nvPr/>
          </p:nvSpPr>
          <p:spPr>
            <a:xfrm rot="10800000" flipH="1">
              <a:off x="5983934" y="505366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6"/>
            <p:cNvSpPr/>
            <p:nvPr/>
          </p:nvSpPr>
          <p:spPr>
            <a:xfrm rot="10800000" flipH="1">
              <a:off x="7178797" y="353334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6"/>
            <p:cNvSpPr/>
            <p:nvPr/>
          </p:nvSpPr>
          <p:spPr>
            <a:xfrm rot="10800000" flipH="1">
              <a:off x="6606686" y="4609409"/>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6"/>
            <p:cNvSpPr/>
            <p:nvPr/>
          </p:nvSpPr>
          <p:spPr>
            <a:xfrm>
              <a:off x="8117298" y="285223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6"/>
            <p:cNvSpPr/>
            <p:nvPr/>
          </p:nvSpPr>
          <p:spPr>
            <a:xfrm>
              <a:off x="8172542" y="30360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Freeform 3">
            <a:extLst>
              <a:ext uri="{FF2B5EF4-FFF2-40B4-BE49-F238E27FC236}">
                <a16:creationId xmlns:a16="http://schemas.microsoft.com/office/drawing/2014/main" id="{BC2B0EEB-10C4-3475-389F-F129282F1CEF}"/>
              </a:ext>
            </a:extLst>
          </p:cNvPr>
          <p:cNvSpPr/>
          <p:nvPr/>
        </p:nvSpPr>
        <p:spPr>
          <a:xfrm>
            <a:off x="606695" y="169808"/>
            <a:ext cx="806959" cy="784578"/>
          </a:xfrm>
          <a:custGeom>
            <a:avLst/>
            <a:gdLst/>
            <a:ahLst/>
            <a:cxnLst/>
            <a:rect l="l" t="t" r="r" b="b"/>
            <a:pathLst>
              <a:path w="1591439" h="1591439">
                <a:moveTo>
                  <a:pt x="0" y="0"/>
                </a:moveTo>
                <a:lnTo>
                  <a:pt x="1591439" y="0"/>
                </a:lnTo>
                <a:lnTo>
                  <a:pt x="1591439" y="1591439"/>
                </a:lnTo>
                <a:lnTo>
                  <a:pt x="0" y="1591439"/>
                </a:lnTo>
                <a:lnTo>
                  <a:pt x="0" y="0"/>
                </a:lnTo>
                <a:close/>
              </a:path>
            </a:pathLst>
          </a:custGeom>
          <a:blipFill>
            <a:blip r:embed="rId3"/>
            <a:stretch>
              <a:fillRect/>
            </a:stretch>
          </a:blipFill>
          <a:ln cap="sq">
            <a:noFill/>
            <a:prstDash val="solid"/>
            <a:miter/>
          </a:ln>
        </p:spPr>
        <p:txBody>
          <a:bodyPr/>
          <a:lstStyle/>
          <a:p>
            <a:endParaRPr lang="en-GB" dirty="0"/>
          </a:p>
        </p:txBody>
      </p:sp>
      <p:sp>
        <p:nvSpPr>
          <p:cNvPr id="3" name="Google Shape;345;p36">
            <a:extLst>
              <a:ext uri="{FF2B5EF4-FFF2-40B4-BE49-F238E27FC236}">
                <a16:creationId xmlns:a16="http://schemas.microsoft.com/office/drawing/2014/main" id="{8E4E3332-39C7-A94B-3FFF-2181BC0C49D6}"/>
              </a:ext>
            </a:extLst>
          </p:cNvPr>
          <p:cNvSpPr txBox="1">
            <a:spLocks/>
          </p:cNvSpPr>
          <p:nvPr/>
        </p:nvSpPr>
        <p:spPr>
          <a:xfrm>
            <a:off x="1413654" y="238298"/>
            <a:ext cx="5270418" cy="84694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DM Sans"/>
              <a:buNone/>
              <a:defRPr sz="1500" b="0"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9pPr>
          </a:lstStyle>
          <a:p>
            <a:pPr marL="0" indent="0"/>
            <a:r>
              <a:rPr lang="en-GB" b="1" dirty="0"/>
              <a:t>GOVERNMENT COLLEGE OF ENGINEERING, BARGUR</a:t>
            </a:r>
          </a:p>
          <a:p>
            <a:pPr marL="0" indent="0"/>
            <a:r>
              <a:rPr lang="en-GB" sz="1200" b="1" dirty="0"/>
              <a:t>DEPARTMENT OF ELECTRONICS &amp; COMMUNICATION ENGINEERING</a:t>
            </a:r>
          </a:p>
        </p:txBody>
      </p:sp>
      <p:sp>
        <p:nvSpPr>
          <p:cNvPr id="6" name="Google Shape;345;p36">
            <a:extLst>
              <a:ext uri="{FF2B5EF4-FFF2-40B4-BE49-F238E27FC236}">
                <a16:creationId xmlns:a16="http://schemas.microsoft.com/office/drawing/2014/main" id="{C95F5DB9-8219-0CB9-7899-34FEAEFFE49A}"/>
              </a:ext>
            </a:extLst>
          </p:cNvPr>
          <p:cNvSpPr txBox="1">
            <a:spLocks/>
          </p:cNvSpPr>
          <p:nvPr/>
        </p:nvSpPr>
        <p:spPr>
          <a:xfrm>
            <a:off x="1936791" y="4369179"/>
            <a:ext cx="5270418" cy="40711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DM Sans"/>
              <a:buNone/>
              <a:defRPr sz="1500" b="0"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1800"/>
              <a:buFont typeface="DM Sans"/>
              <a:buNone/>
              <a:defRPr sz="1800" b="0" i="0" u="none" strike="noStrike" cap="none">
                <a:solidFill>
                  <a:schemeClr val="dk1"/>
                </a:solidFill>
                <a:latin typeface="DM Sans"/>
                <a:ea typeface="DM Sans"/>
                <a:cs typeface="DM Sans"/>
                <a:sym typeface="DM Sans"/>
              </a:defRPr>
            </a:lvl9pPr>
          </a:lstStyle>
          <a:p>
            <a:pPr marL="0" indent="0" algn="ctr"/>
            <a:r>
              <a:rPr lang="en-GB" b="1" dirty="0">
                <a:solidFill>
                  <a:schemeClr val="tx1"/>
                </a:solidFill>
              </a:rPr>
              <a:t>20.04.2026 (MONDAY)</a:t>
            </a:r>
            <a:endParaRPr lang="en-GB" sz="1200" b="1"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382" name="Google Shape;382;p38"/>
          <p:cNvSpPr txBox="1">
            <a:spLocks noGrp="1"/>
          </p:cNvSpPr>
          <p:nvPr>
            <p:ph type="subTitle" idx="3"/>
          </p:nvPr>
        </p:nvSpPr>
        <p:spPr>
          <a:xfrm>
            <a:off x="720000" y="3911675"/>
            <a:ext cx="2305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Testbench </a:t>
            </a:r>
            <a:r>
              <a:rPr lang="en" sz="1600" dirty="0"/>
              <a:t>• </a:t>
            </a:r>
            <a:r>
              <a:rPr lang="en" dirty="0"/>
              <a:t>Simulation</a:t>
            </a:r>
            <a:endParaRPr sz="1600" dirty="0">
              <a:solidFill>
                <a:srgbClr val="666666"/>
              </a:solidFill>
            </a:endParaRPr>
          </a:p>
        </p:txBody>
      </p:sp>
      <p:sp>
        <p:nvSpPr>
          <p:cNvPr id="383" name="Google Shape;383;p38"/>
          <p:cNvSpPr txBox="1">
            <a:spLocks noGrp="1"/>
          </p:cNvSpPr>
          <p:nvPr>
            <p:ph type="subTitle" idx="1"/>
          </p:nvPr>
        </p:nvSpPr>
        <p:spPr>
          <a:xfrm>
            <a:off x="720000" y="2178493"/>
            <a:ext cx="2305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Motivation • Objective</a:t>
            </a:r>
            <a:endParaRPr dirty="0"/>
          </a:p>
        </p:txBody>
      </p:sp>
      <p:sp>
        <p:nvSpPr>
          <p:cNvPr id="384" name="Google Shape;384;p38"/>
          <p:cNvSpPr txBox="1">
            <a:spLocks noGrp="1"/>
          </p:cNvSpPr>
          <p:nvPr>
            <p:ph type="subTitle" idx="2"/>
          </p:nvPr>
        </p:nvSpPr>
        <p:spPr>
          <a:xfrm>
            <a:off x="3419271" y="2178493"/>
            <a:ext cx="2305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System • Perceptron</a:t>
            </a:r>
            <a:endParaRPr dirty="0"/>
          </a:p>
        </p:txBody>
      </p:sp>
      <p:sp>
        <p:nvSpPr>
          <p:cNvPr id="385" name="Google Shape;385;p38"/>
          <p:cNvSpPr txBox="1">
            <a:spLocks noGrp="1"/>
          </p:cNvSpPr>
          <p:nvPr>
            <p:ph type="subTitle" idx="4"/>
          </p:nvPr>
        </p:nvSpPr>
        <p:spPr>
          <a:xfrm>
            <a:off x="3360420" y="3911675"/>
            <a:ext cx="246888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Synthesis • Timing • Power</a:t>
            </a:r>
            <a:endParaRPr dirty="0"/>
          </a:p>
        </p:txBody>
      </p:sp>
      <p:sp>
        <p:nvSpPr>
          <p:cNvPr id="386" name="Google Shape;386;p38"/>
          <p:cNvSpPr txBox="1">
            <a:spLocks noGrp="1"/>
          </p:cNvSpPr>
          <p:nvPr>
            <p:ph type="subTitle" idx="5"/>
          </p:nvPr>
        </p:nvSpPr>
        <p:spPr>
          <a:xfrm>
            <a:off x="6118549" y="2178493"/>
            <a:ext cx="2305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Modules • UART</a:t>
            </a:r>
            <a:endParaRPr dirty="0"/>
          </a:p>
        </p:txBody>
      </p:sp>
      <p:sp>
        <p:nvSpPr>
          <p:cNvPr id="387" name="Google Shape;387;p38"/>
          <p:cNvSpPr txBox="1">
            <a:spLocks noGrp="1"/>
          </p:cNvSpPr>
          <p:nvPr>
            <p:ph type="subTitle" idx="6"/>
          </p:nvPr>
        </p:nvSpPr>
        <p:spPr>
          <a:xfrm>
            <a:off x="6118549" y="3911675"/>
            <a:ext cx="2305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Enhancements</a:t>
            </a:r>
            <a:endParaRPr dirty="0"/>
          </a:p>
        </p:txBody>
      </p:sp>
      <p:sp>
        <p:nvSpPr>
          <p:cNvPr id="388" name="Google Shape;388;p38"/>
          <p:cNvSpPr txBox="1">
            <a:spLocks noGrp="1"/>
          </p:cNvSpPr>
          <p:nvPr>
            <p:ph type="title" idx="7"/>
          </p:nvPr>
        </p:nvSpPr>
        <p:spPr>
          <a:xfrm>
            <a:off x="1505400" y="1206926"/>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01</a:t>
            </a:r>
            <a:endParaRPr/>
          </a:p>
        </p:txBody>
      </p:sp>
      <p:sp>
        <p:nvSpPr>
          <p:cNvPr id="389" name="Google Shape;389;p38"/>
          <p:cNvSpPr txBox="1">
            <a:spLocks noGrp="1"/>
          </p:cNvSpPr>
          <p:nvPr>
            <p:ph type="title" idx="8"/>
          </p:nvPr>
        </p:nvSpPr>
        <p:spPr>
          <a:xfrm>
            <a:off x="1505400" y="2939527"/>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04</a:t>
            </a:r>
            <a:endParaRPr/>
          </a:p>
        </p:txBody>
      </p:sp>
      <p:sp>
        <p:nvSpPr>
          <p:cNvPr id="390" name="Google Shape;390;p38"/>
          <p:cNvSpPr txBox="1">
            <a:spLocks noGrp="1"/>
          </p:cNvSpPr>
          <p:nvPr>
            <p:ph type="title" idx="9"/>
          </p:nvPr>
        </p:nvSpPr>
        <p:spPr>
          <a:xfrm>
            <a:off x="4204671" y="1206926"/>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02</a:t>
            </a:r>
            <a:endParaRPr/>
          </a:p>
        </p:txBody>
      </p:sp>
      <p:sp>
        <p:nvSpPr>
          <p:cNvPr id="391" name="Google Shape;391;p38"/>
          <p:cNvSpPr txBox="1">
            <a:spLocks noGrp="1"/>
          </p:cNvSpPr>
          <p:nvPr>
            <p:ph type="title" idx="13"/>
          </p:nvPr>
        </p:nvSpPr>
        <p:spPr>
          <a:xfrm>
            <a:off x="4204671" y="2939527"/>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05</a:t>
            </a:r>
            <a:endParaRPr/>
          </a:p>
        </p:txBody>
      </p:sp>
      <p:sp>
        <p:nvSpPr>
          <p:cNvPr id="392" name="Google Shape;392;p38"/>
          <p:cNvSpPr txBox="1">
            <a:spLocks noGrp="1"/>
          </p:cNvSpPr>
          <p:nvPr>
            <p:ph type="title" idx="14"/>
          </p:nvPr>
        </p:nvSpPr>
        <p:spPr>
          <a:xfrm>
            <a:off x="6903950" y="1206926"/>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03</a:t>
            </a:r>
            <a:endParaRPr/>
          </a:p>
        </p:txBody>
      </p:sp>
      <p:sp>
        <p:nvSpPr>
          <p:cNvPr id="393" name="Google Shape;393;p38"/>
          <p:cNvSpPr txBox="1">
            <a:spLocks noGrp="1"/>
          </p:cNvSpPr>
          <p:nvPr>
            <p:ph type="title" idx="15"/>
          </p:nvPr>
        </p:nvSpPr>
        <p:spPr>
          <a:xfrm>
            <a:off x="6903950" y="2939527"/>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06</a:t>
            </a:r>
            <a:endParaRPr/>
          </a:p>
        </p:txBody>
      </p:sp>
      <p:sp>
        <p:nvSpPr>
          <p:cNvPr id="394" name="Google Shape;394;p38"/>
          <p:cNvSpPr txBox="1">
            <a:spLocks noGrp="1"/>
          </p:cNvSpPr>
          <p:nvPr>
            <p:ph type="subTitle" idx="16"/>
          </p:nvPr>
        </p:nvSpPr>
        <p:spPr>
          <a:xfrm>
            <a:off x="720000" y="1801112"/>
            <a:ext cx="2305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Introduction</a:t>
            </a:r>
            <a:endParaRPr dirty="0"/>
          </a:p>
        </p:txBody>
      </p:sp>
      <p:sp>
        <p:nvSpPr>
          <p:cNvPr id="395" name="Google Shape;395;p38"/>
          <p:cNvSpPr txBox="1">
            <a:spLocks noGrp="1"/>
          </p:cNvSpPr>
          <p:nvPr>
            <p:ph type="subTitle" idx="17"/>
          </p:nvPr>
        </p:nvSpPr>
        <p:spPr>
          <a:xfrm>
            <a:off x="3419271" y="1801112"/>
            <a:ext cx="2305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Architecture</a:t>
            </a:r>
            <a:endParaRPr dirty="0"/>
          </a:p>
        </p:txBody>
      </p:sp>
      <p:sp>
        <p:nvSpPr>
          <p:cNvPr id="396" name="Google Shape;396;p38"/>
          <p:cNvSpPr txBox="1">
            <a:spLocks noGrp="1"/>
          </p:cNvSpPr>
          <p:nvPr>
            <p:ph type="subTitle" idx="18"/>
          </p:nvPr>
        </p:nvSpPr>
        <p:spPr>
          <a:xfrm>
            <a:off x="6118549" y="1801112"/>
            <a:ext cx="2305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RTL Design</a:t>
            </a:r>
            <a:endParaRPr dirty="0"/>
          </a:p>
        </p:txBody>
      </p:sp>
      <p:sp>
        <p:nvSpPr>
          <p:cNvPr id="397" name="Google Shape;397;p38"/>
          <p:cNvSpPr txBox="1">
            <a:spLocks noGrp="1"/>
          </p:cNvSpPr>
          <p:nvPr>
            <p:ph type="subTitle" idx="19"/>
          </p:nvPr>
        </p:nvSpPr>
        <p:spPr>
          <a:xfrm>
            <a:off x="720000" y="3533775"/>
            <a:ext cx="2305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Verification</a:t>
            </a:r>
            <a:endParaRPr dirty="0"/>
          </a:p>
        </p:txBody>
      </p:sp>
      <p:sp>
        <p:nvSpPr>
          <p:cNvPr id="398" name="Google Shape;398;p38"/>
          <p:cNvSpPr txBox="1">
            <a:spLocks noGrp="1"/>
          </p:cNvSpPr>
          <p:nvPr>
            <p:ph type="subTitle" idx="20"/>
          </p:nvPr>
        </p:nvSpPr>
        <p:spPr>
          <a:xfrm>
            <a:off x="3419271" y="3533775"/>
            <a:ext cx="2305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Analysis</a:t>
            </a:r>
            <a:endParaRPr dirty="0"/>
          </a:p>
        </p:txBody>
      </p:sp>
      <p:sp>
        <p:nvSpPr>
          <p:cNvPr id="399" name="Google Shape;399;p38"/>
          <p:cNvSpPr txBox="1">
            <a:spLocks noGrp="1"/>
          </p:cNvSpPr>
          <p:nvPr>
            <p:ph type="subTitle" idx="21"/>
          </p:nvPr>
        </p:nvSpPr>
        <p:spPr>
          <a:xfrm>
            <a:off x="6118549" y="3533775"/>
            <a:ext cx="2305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Future Work</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40"/>
          <p:cNvSpPr txBox="1">
            <a:spLocks noGrp="1"/>
          </p:cNvSpPr>
          <p:nvPr>
            <p:ph type="title"/>
          </p:nvPr>
        </p:nvSpPr>
        <p:spPr>
          <a:xfrm>
            <a:off x="713225" y="2384250"/>
            <a:ext cx="4344300" cy="915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a:t>
            </a:r>
            <a:endParaRPr dirty="0"/>
          </a:p>
        </p:txBody>
      </p:sp>
      <p:sp>
        <p:nvSpPr>
          <p:cNvPr id="430" name="Google Shape;430;p40"/>
          <p:cNvSpPr txBox="1">
            <a:spLocks noGrp="1"/>
          </p:cNvSpPr>
          <p:nvPr>
            <p:ph type="title" idx="2"/>
          </p:nvPr>
        </p:nvSpPr>
        <p:spPr>
          <a:xfrm>
            <a:off x="713225" y="1468350"/>
            <a:ext cx="12642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431" name="Google Shape;431;p40"/>
          <p:cNvSpPr txBox="1">
            <a:spLocks noGrp="1"/>
          </p:cNvSpPr>
          <p:nvPr>
            <p:ph type="subTitle" idx="1"/>
          </p:nvPr>
        </p:nvSpPr>
        <p:spPr>
          <a:xfrm>
            <a:off x="713223" y="3300150"/>
            <a:ext cx="5915190" cy="150045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GB" dirty="0"/>
              <a:t>Edge AI applications require low-power and low-latency inference. Hardware acceleration enables efficient implementation of neural computation compared to software execution.</a:t>
            </a:r>
            <a:endParaRPr dirty="0"/>
          </a:p>
        </p:txBody>
      </p:sp>
      <p:grpSp>
        <p:nvGrpSpPr>
          <p:cNvPr id="432" name="Google Shape;432;p40"/>
          <p:cNvGrpSpPr/>
          <p:nvPr/>
        </p:nvGrpSpPr>
        <p:grpSpPr>
          <a:xfrm>
            <a:off x="5104880" y="-153372"/>
            <a:ext cx="4218588" cy="6000578"/>
            <a:chOff x="5104880" y="-153372"/>
            <a:chExt cx="4218588" cy="6000578"/>
          </a:xfrm>
        </p:grpSpPr>
        <p:sp>
          <p:nvSpPr>
            <p:cNvPr id="433" name="Google Shape;433;p40"/>
            <p:cNvSpPr/>
            <p:nvPr/>
          </p:nvSpPr>
          <p:spPr>
            <a:xfrm>
              <a:off x="7074911" y="25473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0"/>
            <p:cNvSpPr/>
            <p:nvPr/>
          </p:nvSpPr>
          <p:spPr>
            <a:xfrm>
              <a:off x="7026089" y="-1533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0"/>
            <p:cNvSpPr/>
            <p:nvPr/>
          </p:nvSpPr>
          <p:spPr>
            <a:xfrm>
              <a:off x="6606684" y="3184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0"/>
            <p:cNvSpPr/>
            <p:nvPr/>
          </p:nvSpPr>
          <p:spPr>
            <a:xfrm>
              <a:off x="6138958" y="13708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0"/>
            <p:cNvSpPr/>
            <p:nvPr/>
          </p:nvSpPr>
          <p:spPr>
            <a:xfrm>
              <a:off x="5732458" y="87452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0"/>
            <p:cNvSpPr/>
            <p:nvPr/>
          </p:nvSpPr>
          <p:spPr>
            <a:xfrm>
              <a:off x="7480889" y="98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0"/>
            <p:cNvSpPr/>
            <p:nvPr/>
          </p:nvSpPr>
          <p:spPr>
            <a:xfrm>
              <a:off x="7074904" y="207505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0"/>
            <p:cNvSpPr/>
            <p:nvPr/>
          </p:nvSpPr>
          <p:spPr>
            <a:xfrm>
              <a:off x="7962441" y="140407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0"/>
            <p:cNvSpPr/>
            <p:nvPr/>
          </p:nvSpPr>
          <p:spPr>
            <a:xfrm rot="10800000" flipH="1">
              <a:off x="6355205" y="41020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0"/>
            <p:cNvSpPr/>
            <p:nvPr/>
          </p:nvSpPr>
          <p:spPr>
            <a:xfrm rot="10800000" flipH="1">
              <a:off x="5732459" y="48790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0"/>
            <p:cNvSpPr/>
            <p:nvPr/>
          </p:nvSpPr>
          <p:spPr>
            <a:xfrm rot="10800000" flipH="1">
              <a:off x="6683197" y="351549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40"/>
            <p:cNvSpPr/>
            <p:nvPr/>
          </p:nvSpPr>
          <p:spPr>
            <a:xfrm rot="10800000" flipH="1">
              <a:off x="5104880"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0"/>
            <p:cNvSpPr/>
            <p:nvPr/>
          </p:nvSpPr>
          <p:spPr>
            <a:xfrm>
              <a:off x="8484758" y="243811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0"/>
            <p:cNvSpPr/>
            <p:nvPr/>
          </p:nvSpPr>
          <p:spPr>
            <a:xfrm>
              <a:off x="8038260" y="29212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p:cNvSpPr/>
            <p:nvPr/>
          </p:nvSpPr>
          <p:spPr>
            <a:xfrm rot="10800000" flipH="1">
              <a:off x="7853362" y="396220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p:cNvSpPr/>
            <p:nvPr/>
          </p:nvSpPr>
          <p:spPr>
            <a:xfrm rot="10800000" flipH="1">
              <a:off x="8261505"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50" name="Google Shape;450;p40"/>
          <p:cNvCxnSpPr/>
          <p:nvPr/>
        </p:nvCxnSpPr>
        <p:spPr>
          <a:xfrm>
            <a:off x="841250" y="1385850"/>
            <a:ext cx="3735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Project Motivation</a:t>
            </a:r>
            <a:endParaRPr dirty="0"/>
          </a:p>
        </p:txBody>
      </p:sp>
      <p:sp>
        <p:nvSpPr>
          <p:cNvPr id="457" name="Google Shape;457;p41"/>
          <p:cNvSpPr txBox="1">
            <a:spLocks noGrp="1"/>
          </p:cNvSpPr>
          <p:nvPr>
            <p:ph type="subTitle" idx="2"/>
          </p:nvPr>
        </p:nvSpPr>
        <p:spPr>
          <a:xfrm>
            <a:off x="973438" y="1182416"/>
            <a:ext cx="7197125" cy="2778669"/>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GB" b="1" dirty="0"/>
              <a:t>Artificial Intelligence </a:t>
            </a:r>
            <a:r>
              <a:rPr lang="en-GB" dirty="0"/>
              <a:t>inference is increasingly required in edge devices such as IoT nodes, wearable systems, and embedded controllers. Conventional </a:t>
            </a:r>
            <a:r>
              <a:rPr lang="en-GB" b="1" dirty="0"/>
              <a:t>software-based</a:t>
            </a:r>
            <a:r>
              <a:rPr lang="en-GB" dirty="0"/>
              <a:t> implementations on CPUs or GPUs introduce </a:t>
            </a:r>
            <a:r>
              <a:rPr lang="en-GB" b="1" dirty="0"/>
              <a:t>higher latency </a:t>
            </a:r>
            <a:r>
              <a:rPr lang="en-GB" dirty="0"/>
              <a:t>and </a:t>
            </a:r>
            <a:r>
              <a:rPr lang="en-GB" b="1" dirty="0"/>
              <a:t>power consumption</a:t>
            </a:r>
            <a:r>
              <a:rPr lang="en-GB" dirty="0"/>
              <a:t>, making them unsuitable for resource-constrained environments. Hardware acceleration offers </a:t>
            </a:r>
            <a:r>
              <a:rPr lang="en-GB" b="1" dirty="0"/>
              <a:t>parallelism</a:t>
            </a:r>
            <a:r>
              <a:rPr lang="en-GB" dirty="0"/>
              <a:t>, </a:t>
            </a:r>
            <a:r>
              <a:rPr lang="en-GB" b="1" dirty="0"/>
              <a:t>low latency</a:t>
            </a:r>
            <a:r>
              <a:rPr lang="en-GB" dirty="0"/>
              <a:t>, and </a:t>
            </a:r>
            <a:r>
              <a:rPr lang="en-GB" b="1" dirty="0"/>
              <a:t>energy efficiency</a:t>
            </a:r>
            <a:r>
              <a:rPr lang="en-GB" dirty="0"/>
              <a:t>, making it an attractive platform for deploying lightweight neural network models. </a:t>
            </a:r>
          </a:p>
          <a:p>
            <a:pPr marL="0" lvl="0" indent="0" algn="just" rtl="0">
              <a:spcBef>
                <a:spcPts val="0"/>
              </a:spcBef>
              <a:spcAft>
                <a:spcPts val="0"/>
              </a:spcAft>
              <a:buNone/>
            </a:pPr>
            <a:endParaRPr lang="en-GB" dirty="0"/>
          </a:p>
          <a:p>
            <a:pPr marL="0" lvl="0" indent="0" algn="just" rtl="0">
              <a:spcBef>
                <a:spcPts val="0"/>
              </a:spcBef>
              <a:spcAft>
                <a:spcPts val="0"/>
              </a:spcAft>
              <a:buNone/>
            </a:pPr>
            <a:r>
              <a:rPr lang="en-GB" dirty="0"/>
              <a:t>A </a:t>
            </a:r>
            <a:r>
              <a:rPr lang="en-GB" b="1" dirty="0"/>
              <a:t>perceptron-based</a:t>
            </a:r>
            <a:r>
              <a:rPr lang="en-GB" dirty="0"/>
              <a:t> architecture provides a simple yet effective </a:t>
            </a:r>
            <a:r>
              <a:rPr lang="en-GB" b="1" dirty="0"/>
              <a:t>hardware-friendly solution</a:t>
            </a:r>
            <a:r>
              <a:rPr lang="en-GB" dirty="0"/>
              <a:t> for binary classification tasks. Therefore, this project focuses on designing a </a:t>
            </a:r>
            <a:r>
              <a:rPr lang="en-GB" b="1" dirty="0"/>
              <a:t>low-power perceptron-based AI engine implemented in </a:t>
            </a:r>
            <a:r>
              <a:rPr lang="en-GB" dirty="0"/>
              <a:t>hardware for efficient real-time inference.</a:t>
            </a:r>
            <a:endParaRPr dirty="0"/>
          </a:p>
        </p:txBody>
      </p:sp>
      <p:grpSp>
        <p:nvGrpSpPr>
          <p:cNvPr id="7" name="Google Shape;1646;p78">
            <a:extLst>
              <a:ext uri="{FF2B5EF4-FFF2-40B4-BE49-F238E27FC236}">
                <a16:creationId xmlns:a16="http://schemas.microsoft.com/office/drawing/2014/main" id="{CC395F18-44D8-10CB-FD40-765531A8D278}"/>
              </a:ext>
            </a:extLst>
          </p:cNvPr>
          <p:cNvGrpSpPr/>
          <p:nvPr/>
        </p:nvGrpSpPr>
        <p:grpSpPr>
          <a:xfrm>
            <a:off x="780978" y="1317301"/>
            <a:ext cx="192459" cy="208989"/>
            <a:chOff x="4929875" y="2065025"/>
            <a:chExt cx="49625" cy="44025"/>
          </a:xfrm>
        </p:grpSpPr>
        <p:sp>
          <p:nvSpPr>
            <p:cNvPr id="8" name="Google Shape;1647;p78">
              <a:extLst>
                <a:ext uri="{FF2B5EF4-FFF2-40B4-BE49-F238E27FC236}">
                  <a16:creationId xmlns:a16="http://schemas.microsoft.com/office/drawing/2014/main" id="{4349AA52-AFFF-9EC5-3EC3-6937A9CEB230}"/>
                </a:ext>
              </a:extLst>
            </p:cNvPr>
            <p:cNvSpPr/>
            <p:nvPr/>
          </p:nvSpPr>
          <p:spPr>
            <a:xfrm>
              <a:off x="4950075" y="2065025"/>
              <a:ext cx="29425" cy="44025"/>
            </a:xfrm>
            <a:custGeom>
              <a:avLst/>
              <a:gdLst/>
              <a:ahLst/>
              <a:cxnLst/>
              <a:rect l="l" t="t" r="r" b="b"/>
              <a:pathLst>
                <a:path w="1177" h="1761" extrusionOk="0">
                  <a:moveTo>
                    <a:pt x="1" y="0"/>
                  </a:moveTo>
                  <a:lnTo>
                    <a:pt x="729" y="88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648;p78">
              <a:extLst>
                <a:ext uri="{FF2B5EF4-FFF2-40B4-BE49-F238E27FC236}">
                  <a16:creationId xmlns:a16="http://schemas.microsoft.com/office/drawing/2014/main" id="{2D68DFA5-C19F-A086-86AF-BC50E4FEC6D3}"/>
                </a:ext>
              </a:extLst>
            </p:cNvPr>
            <p:cNvSpPr/>
            <p:nvPr/>
          </p:nvSpPr>
          <p:spPr>
            <a:xfrm>
              <a:off x="4929875" y="2065025"/>
              <a:ext cx="29425" cy="44025"/>
            </a:xfrm>
            <a:custGeom>
              <a:avLst/>
              <a:gdLst/>
              <a:ahLst/>
              <a:cxnLst/>
              <a:rect l="l" t="t" r="r" b="b"/>
              <a:pathLst>
                <a:path w="1177" h="1761" extrusionOk="0">
                  <a:moveTo>
                    <a:pt x="1" y="0"/>
                  </a:moveTo>
                  <a:lnTo>
                    <a:pt x="736" y="880"/>
                  </a:lnTo>
                  <a:lnTo>
                    <a:pt x="1" y="176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oogle Shape;1646;p78">
            <a:extLst>
              <a:ext uri="{FF2B5EF4-FFF2-40B4-BE49-F238E27FC236}">
                <a16:creationId xmlns:a16="http://schemas.microsoft.com/office/drawing/2014/main" id="{6147E257-7264-072C-B962-06E6D783FA55}"/>
              </a:ext>
            </a:extLst>
          </p:cNvPr>
          <p:cNvGrpSpPr/>
          <p:nvPr/>
        </p:nvGrpSpPr>
        <p:grpSpPr>
          <a:xfrm>
            <a:off x="763089" y="3257250"/>
            <a:ext cx="192459" cy="208989"/>
            <a:chOff x="4929875" y="2065025"/>
            <a:chExt cx="49625" cy="44025"/>
          </a:xfrm>
        </p:grpSpPr>
        <p:sp>
          <p:nvSpPr>
            <p:cNvPr id="11" name="Google Shape;1647;p78">
              <a:extLst>
                <a:ext uri="{FF2B5EF4-FFF2-40B4-BE49-F238E27FC236}">
                  <a16:creationId xmlns:a16="http://schemas.microsoft.com/office/drawing/2014/main" id="{2A995FEC-10B3-5FE8-EB35-F717405FDA8A}"/>
                </a:ext>
              </a:extLst>
            </p:cNvPr>
            <p:cNvSpPr/>
            <p:nvPr/>
          </p:nvSpPr>
          <p:spPr>
            <a:xfrm>
              <a:off x="4950075" y="2065025"/>
              <a:ext cx="29425" cy="44025"/>
            </a:xfrm>
            <a:custGeom>
              <a:avLst/>
              <a:gdLst/>
              <a:ahLst/>
              <a:cxnLst/>
              <a:rect l="l" t="t" r="r" b="b"/>
              <a:pathLst>
                <a:path w="1177" h="1761" extrusionOk="0">
                  <a:moveTo>
                    <a:pt x="1" y="0"/>
                  </a:moveTo>
                  <a:lnTo>
                    <a:pt x="729" y="88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648;p78">
              <a:extLst>
                <a:ext uri="{FF2B5EF4-FFF2-40B4-BE49-F238E27FC236}">
                  <a16:creationId xmlns:a16="http://schemas.microsoft.com/office/drawing/2014/main" id="{9FF83696-FE6F-9443-7EB1-39CDAE04119B}"/>
                </a:ext>
              </a:extLst>
            </p:cNvPr>
            <p:cNvSpPr/>
            <p:nvPr/>
          </p:nvSpPr>
          <p:spPr>
            <a:xfrm>
              <a:off x="4929875" y="2065025"/>
              <a:ext cx="29425" cy="44025"/>
            </a:xfrm>
            <a:custGeom>
              <a:avLst/>
              <a:gdLst/>
              <a:ahLst/>
              <a:cxnLst/>
              <a:rect l="l" t="t" r="r" b="b"/>
              <a:pathLst>
                <a:path w="1177" h="1761" extrusionOk="0">
                  <a:moveTo>
                    <a:pt x="1" y="0"/>
                  </a:moveTo>
                  <a:lnTo>
                    <a:pt x="736" y="880"/>
                  </a:lnTo>
                  <a:lnTo>
                    <a:pt x="1" y="176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Project Objective</a:t>
            </a:r>
            <a:endParaRPr dirty="0"/>
          </a:p>
        </p:txBody>
      </p:sp>
      <p:sp>
        <p:nvSpPr>
          <p:cNvPr id="17" name="TextBox 16">
            <a:extLst>
              <a:ext uri="{FF2B5EF4-FFF2-40B4-BE49-F238E27FC236}">
                <a16:creationId xmlns:a16="http://schemas.microsoft.com/office/drawing/2014/main" id="{9951C15C-4CF4-95FC-9868-1E674BB52DE1}"/>
              </a:ext>
            </a:extLst>
          </p:cNvPr>
          <p:cNvSpPr txBox="1"/>
          <p:nvPr/>
        </p:nvSpPr>
        <p:spPr>
          <a:xfrm>
            <a:off x="2021199" y="1536631"/>
            <a:ext cx="4902116" cy="523220"/>
          </a:xfrm>
          <a:prstGeom prst="rect">
            <a:avLst/>
          </a:prstGeom>
          <a:noFill/>
        </p:spPr>
        <p:txBody>
          <a:bodyPr wrap="square">
            <a:spAutoFit/>
          </a:bodyPr>
          <a:lstStyle/>
          <a:p>
            <a:r>
              <a:rPr lang="en-GB" dirty="0">
                <a:latin typeface="DM Sans" pitchFamily="2" charset="0"/>
              </a:rPr>
              <a:t>Design a perceptron-based AI inference engine using Verilog HDL</a:t>
            </a:r>
          </a:p>
        </p:txBody>
      </p:sp>
      <p:sp>
        <p:nvSpPr>
          <p:cNvPr id="19" name="TextBox 18">
            <a:extLst>
              <a:ext uri="{FF2B5EF4-FFF2-40B4-BE49-F238E27FC236}">
                <a16:creationId xmlns:a16="http://schemas.microsoft.com/office/drawing/2014/main" id="{AAE4C2A9-81A1-F10F-F803-5E5B3313C2DF}"/>
              </a:ext>
            </a:extLst>
          </p:cNvPr>
          <p:cNvSpPr txBox="1"/>
          <p:nvPr/>
        </p:nvSpPr>
        <p:spPr>
          <a:xfrm>
            <a:off x="2021198" y="2061741"/>
            <a:ext cx="5101604" cy="307777"/>
          </a:xfrm>
          <a:prstGeom prst="rect">
            <a:avLst/>
          </a:prstGeom>
          <a:noFill/>
        </p:spPr>
        <p:txBody>
          <a:bodyPr wrap="square">
            <a:spAutoFit/>
          </a:bodyPr>
          <a:lstStyle/>
          <a:p>
            <a:r>
              <a:rPr lang="en-GB" dirty="0">
                <a:latin typeface="DM Sans" pitchFamily="2" charset="0"/>
              </a:rPr>
              <a:t>Implement UART-based feature input from host system</a:t>
            </a:r>
          </a:p>
        </p:txBody>
      </p:sp>
      <p:sp>
        <p:nvSpPr>
          <p:cNvPr id="21" name="TextBox 20">
            <a:extLst>
              <a:ext uri="{FF2B5EF4-FFF2-40B4-BE49-F238E27FC236}">
                <a16:creationId xmlns:a16="http://schemas.microsoft.com/office/drawing/2014/main" id="{0666AAE5-49A0-2914-1C7E-79B4DC4A3012}"/>
              </a:ext>
            </a:extLst>
          </p:cNvPr>
          <p:cNvSpPr txBox="1"/>
          <p:nvPr/>
        </p:nvSpPr>
        <p:spPr>
          <a:xfrm>
            <a:off x="2021198" y="2369518"/>
            <a:ext cx="5101604" cy="307777"/>
          </a:xfrm>
          <a:prstGeom prst="rect">
            <a:avLst/>
          </a:prstGeom>
          <a:noFill/>
        </p:spPr>
        <p:txBody>
          <a:bodyPr wrap="square">
            <a:spAutoFit/>
          </a:bodyPr>
          <a:lstStyle/>
          <a:p>
            <a:r>
              <a:rPr lang="en-GB" dirty="0">
                <a:latin typeface="DM Sans" pitchFamily="2" charset="0"/>
              </a:rPr>
              <a:t>Perform hardware-based classification on FPGA</a:t>
            </a:r>
          </a:p>
        </p:txBody>
      </p:sp>
      <p:sp>
        <p:nvSpPr>
          <p:cNvPr id="23" name="TextBox 22">
            <a:extLst>
              <a:ext uri="{FF2B5EF4-FFF2-40B4-BE49-F238E27FC236}">
                <a16:creationId xmlns:a16="http://schemas.microsoft.com/office/drawing/2014/main" id="{8F6FC030-212D-0C7B-96E9-54F9D279C131}"/>
              </a:ext>
            </a:extLst>
          </p:cNvPr>
          <p:cNvSpPr txBox="1"/>
          <p:nvPr/>
        </p:nvSpPr>
        <p:spPr>
          <a:xfrm>
            <a:off x="2021198" y="2677295"/>
            <a:ext cx="5101604" cy="307777"/>
          </a:xfrm>
          <a:prstGeom prst="rect">
            <a:avLst/>
          </a:prstGeom>
          <a:noFill/>
        </p:spPr>
        <p:txBody>
          <a:bodyPr wrap="square">
            <a:spAutoFit/>
          </a:bodyPr>
          <a:lstStyle/>
          <a:p>
            <a:r>
              <a:rPr lang="en-GB" dirty="0">
                <a:latin typeface="DM Sans" pitchFamily="2" charset="0"/>
              </a:rPr>
              <a:t>Optimize architecture for low-power operation</a:t>
            </a:r>
          </a:p>
        </p:txBody>
      </p:sp>
      <p:sp>
        <p:nvSpPr>
          <p:cNvPr id="25" name="TextBox 24">
            <a:extLst>
              <a:ext uri="{FF2B5EF4-FFF2-40B4-BE49-F238E27FC236}">
                <a16:creationId xmlns:a16="http://schemas.microsoft.com/office/drawing/2014/main" id="{6F433387-0163-CCCF-6483-A96D06B62E83}"/>
              </a:ext>
            </a:extLst>
          </p:cNvPr>
          <p:cNvSpPr txBox="1"/>
          <p:nvPr/>
        </p:nvSpPr>
        <p:spPr>
          <a:xfrm>
            <a:off x="2021198" y="2985072"/>
            <a:ext cx="5235454" cy="307777"/>
          </a:xfrm>
          <a:prstGeom prst="rect">
            <a:avLst/>
          </a:prstGeom>
          <a:noFill/>
        </p:spPr>
        <p:txBody>
          <a:bodyPr wrap="square">
            <a:spAutoFit/>
          </a:bodyPr>
          <a:lstStyle/>
          <a:p>
            <a:r>
              <a:rPr lang="en-GB" dirty="0">
                <a:latin typeface="DM Sans" pitchFamily="2" charset="0"/>
              </a:rPr>
              <a:t>Verify functionality using simulation and synthesis reports</a:t>
            </a:r>
          </a:p>
        </p:txBody>
      </p:sp>
      <p:sp>
        <p:nvSpPr>
          <p:cNvPr id="27" name="TextBox 26">
            <a:extLst>
              <a:ext uri="{FF2B5EF4-FFF2-40B4-BE49-F238E27FC236}">
                <a16:creationId xmlns:a16="http://schemas.microsoft.com/office/drawing/2014/main" id="{94679DAA-023F-C097-F216-84CE07E621B6}"/>
              </a:ext>
            </a:extLst>
          </p:cNvPr>
          <p:cNvSpPr txBox="1"/>
          <p:nvPr/>
        </p:nvSpPr>
        <p:spPr>
          <a:xfrm>
            <a:off x="2021198" y="3292849"/>
            <a:ext cx="5235454" cy="307777"/>
          </a:xfrm>
          <a:prstGeom prst="rect">
            <a:avLst/>
          </a:prstGeom>
          <a:noFill/>
        </p:spPr>
        <p:txBody>
          <a:bodyPr wrap="square">
            <a:spAutoFit/>
          </a:bodyPr>
          <a:lstStyle/>
          <a:p>
            <a:r>
              <a:rPr lang="en-GB" dirty="0">
                <a:latin typeface="DM Sans" pitchFamily="2" charset="0"/>
              </a:rPr>
              <a:t>Demonstrate real-time prediction output</a:t>
            </a:r>
          </a:p>
        </p:txBody>
      </p:sp>
      <p:grpSp>
        <p:nvGrpSpPr>
          <p:cNvPr id="28" name="Google Shape;1677;p78">
            <a:extLst>
              <a:ext uri="{FF2B5EF4-FFF2-40B4-BE49-F238E27FC236}">
                <a16:creationId xmlns:a16="http://schemas.microsoft.com/office/drawing/2014/main" id="{462D7271-764C-8394-F6D2-836322F3020B}"/>
              </a:ext>
            </a:extLst>
          </p:cNvPr>
          <p:cNvGrpSpPr/>
          <p:nvPr/>
        </p:nvGrpSpPr>
        <p:grpSpPr>
          <a:xfrm>
            <a:off x="1908429" y="1647111"/>
            <a:ext cx="112768" cy="106853"/>
            <a:chOff x="4768575" y="2253950"/>
            <a:chExt cx="46300" cy="43875"/>
          </a:xfrm>
        </p:grpSpPr>
        <p:sp>
          <p:nvSpPr>
            <p:cNvPr id="29" name="Google Shape;1678;p78">
              <a:extLst>
                <a:ext uri="{FF2B5EF4-FFF2-40B4-BE49-F238E27FC236}">
                  <a16:creationId xmlns:a16="http://schemas.microsoft.com/office/drawing/2014/main" id="{12AD86FC-D9F9-5A5F-EA8E-79FC0C8D6F60}"/>
                </a:ext>
              </a:extLst>
            </p:cNvPr>
            <p:cNvSpPr/>
            <p:nvPr/>
          </p:nvSpPr>
          <p:spPr>
            <a:xfrm>
              <a:off x="4785700" y="2253950"/>
              <a:ext cx="29175" cy="43875"/>
            </a:xfrm>
            <a:custGeom>
              <a:avLst/>
              <a:gdLst/>
              <a:ahLst/>
              <a:cxnLst/>
              <a:rect l="l" t="t" r="r" b="b"/>
              <a:pathLst>
                <a:path w="1167" h="1755" extrusionOk="0">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679;p78">
              <a:extLst>
                <a:ext uri="{FF2B5EF4-FFF2-40B4-BE49-F238E27FC236}">
                  <a16:creationId xmlns:a16="http://schemas.microsoft.com/office/drawing/2014/main" id="{89FC45D8-1C63-C9EF-14B6-B07338ED9718}"/>
                </a:ext>
              </a:extLst>
            </p:cNvPr>
            <p:cNvSpPr/>
            <p:nvPr/>
          </p:nvSpPr>
          <p:spPr>
            <a:xfrm>
              <a:off x="4768575" y="2253950"/>
              <a:ext cx="29175" cy="43875"/>
            </a:xfrm>
            <a:custGeom>
              <a:avLst/>
              <a:gdLst/>
              <a:ahLst/>
              <a:cxnLst/>
              <a:rect l="l" t="t" r="r" b="b"/>
              <a:pathLst>
                <a:path w="1167" h="1755" extrusionOk="0">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1677;p78">
            <a:extLst>
              <a:ext uri="{FF2B5EF4-FFF2-40B4-BE49-F238E27FC236}">
                <a16:creationId xmlns:a16="http://schemas.microsoft.com/office/drawing/2014/main" id="{6BEC2663-07E4-C50E-C244-995B438C946E}"/>
              </a:ext>
            </a:extLst>
          </p:cNvPr>
          <p:cNvGrpSpPr/>
          <p:nvPr/>
        </p:nvGrpSpPr>
        <p:grpSpPr>
          <a:xfrm>
            <a:off x="1923103" y="2162203"/>
            <a:ext cx="112768" cy="106853"/>
            <a:chOff x="4768575" y="2253950"/>
            <a:chExt cx="46300" cy="43875"/>
          </a:xfrm>
        </p:grpSpPr>
        <p:sp>
          <p:nvSpPr>
            <p:cNvPr id="32" name="Google Shape;1678;p78">
              <a:extLst>
                <a:ext uri="{FF2B5EF4-FFF2-40B4-BE49-F238E27FC236}">
                  <a16:creationId xmlns:a16="http://schemas.microsoft.com/office/drawing/2014/main" id="{40E0F84D-7C47-1FF6-842D-42C4EF91C09B}"/>
                </a:ext>
              </a:extLst>
            </p:cNvPr>
            <p:cNvSpPr/>
            <p:nvPr/>
          </p:nvSpPr>
          <p:spPr>
            <a:xfrm>
              <a:off x="4785700" y="2253950"/>
              <a:ext cx="29175" cy="43875"/>
            </a:xfrm>
            <a:custGeom>
              <a:avLst/>
              <a:gdLst/>
              <a:ahLst/>
              <a:cxnLst/>
              <a:rect l="l" t="t" r="r" b="b"/>
              <a:pathLst>
                <a:path w="1167" h="1755" extrusionOk="0">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679;p78">
              <a:extLst>
                <a:ext uri="{FF2B5EF4-FFF2-40B4-BE49-F238E27FC236}">
                  <a16:creationId xmlns:a16="http://schemas.microsoft.com/office/drawing/2014/main" id="{B5A5A9DD-6002-63E4-7B22-E42BE6753F0D}"/>
                </a:ext>
              </a:extLst>
            </p:cNvPr>
            <p:cNvSpPr/>
            <p:nvPr/>
          </p:nvSpPr>
          <p:spPr>
            <a:xfrm>
              <a:off x="4768575" y="2253950"/>
              <a:ext cx="29175" cy="43875"/>
            </a:xfrm>
            <a:custGeom>
              <a:avLst/>
              <a:gdLst/>
              <a:ahLst/>
              <a:cxnLst/>
              <a:rect l="l" t="t" r="r" b="b"/>
              <a:pathLst>
                <a:path w="1167" h="1755" extrusionOk="0">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 name="Google Shape;1677;p78">
            <a:extLst>
              <a:ext uri="{FF2B5EF4-FFF2-40B4-BE49-F238E27FC236}">
                <a16:creationId xmlns:a16="http://schemas.microsoft.com/office/drawing/2014/main" id="{E4FF88FA-5114-4FDD-266A-A3334876EC4C}"/>
              </a:ext>
            </a:extLst>
          </p:cNvPr>
          <p:cNvGrpSpPr/>
          <p:nvPr/>
        </p:nvGrpSpPr>
        <p:grpSpPr>
          <a:xfrm>
            <a:off x="1923103" y="2471904"/>
            <a:ext cx="112768" cy="106853"/>
            <a:chOff x="4768575" y="2253950"/>
            <a:chExt cx="46300" cy="43875"/>
          </a:xfrm>
        </p:grpSpPr>
        <p:sp>
          <p:nvSpPr>
            <p:cNvPr id="35" name="Google Shape;1678;p78">
              <a:extLst>
                <a:ext uri="{FF2B5EF4-FFF2-40B4-BE49-F238E27FC236}">
                  <a16:creationId xmlns:a16="http://schemas.microsoft.com/office/drawing/2014/main" id="{E4DA765B-E475-BCC8-9C3E-9DD42030270C}"/>
                </a:ext>
              </a:extLst>
            </p:cNvPr>
            <p:cNvSpPr/>
            <p:nvPr/>
          </p:nvSpPr>
          <p:spPr>
            <a:xfrm>
              <a:off x="4785700" y="2253950"/>
              <a:ext cx="29175" cy="43875"/>
            </a:xfrm>
            <a:custGeom>
              <a:avLst/>
              <a:gdLst/>
              <a:ahLst/>
              <a:cxnLst/>
              <a:rect l="l" t="t" r="r" b="b"/>
              <a:pathLst>
                <a:path w="1167" h="1755" extrusionOk="0">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79;p78">
              <a:extLst>
                <a:ext uri="{FF2B5EF4-FFF2-40B4-BE49-F238E27FC236}">
                  <a16:creationId xmlns:a16="http://schemas.microsoft.com/office/drawing/2014/main" id="{A48CA875-92B3-3569-8402-BAB7827712B8}"/>
                </a:ext>
              </a:extLst>
            </p:cNvPr>
            <p:cNvSpPr/>
            <p:nvPr/>
          </p:nvSpPr>
          <p:spPr>
            <a:xfrm>
              <a:off x="4768575" y="2253950"/>
              <a:ext cx="29175" cy="43875"/>
            </a:xfrm>
            <a:custGeom>
              <a:avLst/>
              <a:gdLst/>
              <a:ahLst/>
              <a:cxnLst/>
              <a:rect l="l" t="t" r="r" b="b"/>
              <a:pathLst>
                <a:path w="1167" h="1755" extrusionOk="0">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 name="Google Shape;1677;p78">
            <a:extLst>
              <a:ext uri="{FF2B5EF4-FFF2-40B4-BE49-F238E27FC236}">
                <a16:creationId xmlns:a16="http://schemas.microsoft.com/office/drawing/2014/main" id="{B133CB47-B0E0-4F23-924E-9A44626D560F}"/>
              </a:ext>
            </a:extLst>
          </p:cNvPr>
          <p:cNvGrpSpPr/>
          <p:nvPr/>
        </p:nvGrpSpPr>
        <p:grpSpPr>
          <a:xfrm>
            <a:off x="1923103" y="2775833"/>
            <a:ext cx="112768" cy="106853"/>
            <a:chOff x="4768575" y="2253950"/>
            <a:chExt cx="46300" cy="43875"/>
          </a:xfrm>
        </p:grpSpPr>
        <p:sp>
          <p:nvSpPr>
            <p:cNvPr id="38" name="Google Shape;1678;p78">
              <a:extLst>
                <a:ext uri="{FF2B5EF4-FFF2-40B4-BE49-F238E27FC236}">
                  <a16:creationId xmlns:a16="http://schemas.microsoft.com/office/drawing/2014/main" id="{38A404ED-5687-F9CF-75EF-C11893B43F64}"/>
                </a:ext>
              </a:extLst>
            </p:cNvPr>
            <p:cNvSpPr/>
            <p:nvPr/>
          </p:nvSpPr>
          <p:spPr>
            <a:xfrm>
              <a:off x="4785700" y="2253950"/>
              <a:ext cx="29175" cy="43875"/>
            </a:xfrm>
            <a:custGeom>
              <a:avLst/>
              <a:gdLst/>
              <a:ahLst/>
              <a:cxnLst/>
              <a:rect l="l" t="t" r="r" b="b"/>
              <a:pathLst>
                <a:path w="1167" h="1755" extrusionOk="0">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679;p78">
              <a:extLst>
                <a:ext uri="{FF2B5EF4-FFF2-40B4-BE49-F238E27FC236}">
                  <a16:creationId xmlns:a16="http://schemas.microsoft.com/office/drawing/2014/main" id="{CF1C0A73-E80B-1818-AE65-07E0EC2F3B5C}"/>
                </a:ext>
              </a:extLst>
            </p:cNvPr>
            <p:cNvSpPr/>
            <p:nvPr/>
          </p:nvSpPr>
          <p:spPr>
            <a:xfrm>
              <a:off x="4768575" y="2253950"/>
              <a:ext cx="29175" cy="43875"/>
            </a:xfrm>
            <a:custGeom>
              <a:avLst/>
              <a:gdLst/>
              <a:ahLst/>
              <a:cxnLst/>
              <a:rect l="l" t="t" r="r" b="b"/>
              <a:pathLst>
                <a:path w="1167" h="1755" extrusionOk="0">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1677;p78">
            <a:extLst>
              <a:ext uri="{FF2B5EF4-FFF2-40B4-BE49-F238E27FC236}">
                <a16:creationId xmlns:a16="http://schemas.microsoft.com/office/drawing/2014/main" id="{55E2B813-D0AC-C428-CBDD-5323EB8870B6}"/>
              </a:ext>
            </a:extLst>
          </p:cNvPr>
          <p:cNvGrpSpPr/>
          <p:nvPr/>
        </p:nvGrpSpPr>
        <p:grpSpPr>
          <a:xfrm>
            <a:off x="1908429" y="3083610"/>
            <a:ext cx="112768" cy="106853"/>
            <a:chOff x="4768575" y="2253950"/>
            <a:chExt cx="46300" cy="43875"/>
          </a:xfrm>
        </p:grpSpPr>
        <p:sp>
          <p:nvSpPr>
            <p:cNvPr id="41" name="Google Shape;1678;p78">
              <a:extLst>
                <a:ext uri="{FF2B5EF4-FFF2-40B4-BE49-F238E27FC236}">
                  <a16:creationId xmlns:a16="http://schemas.microsoft.com/office/drawing/2014/main" id="{AF3FECB6-BAC3-DCCA-12F8-F15753CF585C}"/>
                </a:ext>
              </a:extLst>
            </p:cNvPr>
            <p:cNvSpPr/>
            <p:nvPr/>
          </p:nvSpPr>
          <p:spPr>
            <a:xfrm>
              <a:off x="4785700" y="2253950"/>
              <a:ext cx="29175" cy="43875"/>
            </a:xfrm>
            <a:custGeom>
              <a:avLst/>
              <a:gdLst/>
              <a:ahLst/>
              <a:cxnLst/>
              <a:rect l="l" t="t" r="r" b="b"/>
              <a:pathLst>
                <a:path w="1167" h="1755" extrusionOk="0">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679;p78">
              <a:extLst>
                <a:ext uri="{FF2B5EF4-FFF2-40B4-BE49-F238E27FC236}">
                  <a16:creationId xmlns:a16="http://schemas.microsoft.com/office/drawing/2014/main" id="{DF0E35CA-B2E4-BCB7-43D8-80D9EC4FD843}"/>
                </a:ext>
              </a:extLst>
            </p:cNvPr>
            <p:cNvSpPr/>
            <p:nvPr/>
          </p:nvSpPr>
          <p:spPr>
            <a:xfrm>
              <a:off x="4768575" y="2253950"/>
              <a:ext cx="29175" cy="43875"/>
            </a:xfrm>
            <a:custGeom>
              <a:avLst/>
              <a:gdLst/>
              <a:ahLst/>
              <a:cxnLst/>
              <a:rect l="l" t="t" r="r" b="b"/>
              <a:pathLst>
                <a:path w="1167" h="1755" extrusionOk="0">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1677;p78">
            <a:extLst>
              <a:ext uri="{FF2B5EF4-FFF2-40B4-BE49-F238E27FC236}">
                <a16:creationId xmlns:a16="http://schemas.microsoft.com/office/drawing/2014/main" id="{233BA37A-6EEC-405C-3A13-47502B9F2C19}"/>
              </a:ext>
            </a:extLst>
          </p:cNvPr>
          <p:cNvGrpSpPr/>
          <p:nvPr/>
        </p:nvGrpSpPr>
        <p:grpSpPr>
          <a:xfrm>
            <a:off x="1902248" y="3395235"/>
            <a:ext cx="112768" cy="106853"/>
            <a:chOff x="4768575" y="2253950"/>
            <a:chExt cx="46300" cy="43875"/>
          </a:xfrm>
        </p:grpSpPr>
        <p:sp>
          <p:nvSpPr>
            <p:cNvPr id="44" name="Google Shape;1678;p78">
              <a:extLst>
                <a:ext uri="{FF2B5EF4-FFF2-40B4-BE49-F238E27FC236}">
                  <a16:creationId xmlns:a16="http://schemas.microsoft.com/office/drawing/2014/main" id="{763B7FFB-FCE3-05BD-4B92-A66D3F496BEB}"/>
                </a:ext>
              </a:extLst>
            </p:cNvPr>
            <p:cNvSpPr/>
            <p:nvPr/>
          </p:nvSpPr>
          <p:spPr>
            <a:xfrm>
              <a:off x="4785700" y="2253950"/>
              <a:ext cx="29175" cy="43875"/>
            </a:xfrm>
            <a:custGeom>
              <a:avLst/>
              <a:gdLst/>
              <a:ahLst/>
              <a:cxnLst/>
              <a:rect l="l" t="t" r="r" b="b"/>
              <a:pathLst>
                <a:path w="1167" h="1755" extrusionOk="0">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679;p78">
              <a:extLst>
                <a:ext uri="{FF2B5EF4-FFF2-40B4-BE49-F238E27FC236}">
                  <a16:creationId xmlns:a16="http://schemas.microsoft.com/office/drawing/2014/main" id="{15971A67-4BF5-F5FE-64AA-BC7824A4E943}"/>
                </a:ext>
              </a:extLst>
            </p:cNvPr>
            <p:cNvSpPr/>
            <p:nvPr/>
          </p:nvSpPr>
          <p:spPr>
            <a:xfrm>
              <a:off x="4768575" y="2253950"/>
              <a:ext cx="29175" cy="43875"/>
            </a:xfrm>
            <a:custGeom>
              <a:avLst/>
              <a:gdLst/>
              <a:ahLst/>
              <a:cxnLst/>
              <a:rect l="l" t="t" r="r" b="b"/>
              <a:pathLst>
                <a:path w="1167" h="1755" extrusionOk="0">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319661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40"/>
          <p:cNvSpPr txBox="1">
            <a:spLocks noGrp="1"/>
          </p:cNvSpPr>
          <p:nvPr>
            <p:ph type="title"/>
          </p:nvPr>
        </p:nvSpPr>
        <p:spPr>
          <a:xfrm>
            <a:off x="713225" y="2384250"/>
            <a:ext cx="4344300" cy="915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Architecture</a:t>
            </a:r>
            <a:endParaRPr dirty="0"/>
          </a:p>
        </p:txBody>
      </p:sp>
      <p:sp>
        <p:nvSpPr>
          <p:cNvPr id="430" name="Google Shape;430;p40"/>
          <p:cNvSpPr txBox="1">
            <a:spLocks noGrp="1"/>
          </p:cNvSpPr>
          <p:nvPr>
            <p:ph type="title" idx="2"/>
          </p:nvPr>
        </p:nvSpPr>
        <p:spPr>
          <a:xfrm>
            <a:off x="713225" y="1468350"/>
            <a:ext cx="12642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431" name="Google Shape;431;p40"/>
          <p:cNvSpPr txBox="1">
            <a:spLocks noGrp="1"/>
          </p:cNvSpPr>
          <p:nvPr>
            <p:ph type="subTitle" idx="1"/>
          </p:nvPr>
        </p:nvSpPr>
        <p:spPr>
          <a:xfrm>
            <a:off x="713224" y="3300150"/>
            <a:ext cx="4982534" cy="150045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GB" dirty="0"/>
              <a:t>The system receives feature data through UART, processes it using a perceptron computation core, and generates a classification output through an activation layer.</a:t>
            </a:r>
            <a:endParaRPr dirty="0"/>
          </a:p>
        </p:txBody>
      </p:sp>
      <p:grpSp>
        <p:nvGrpSpPr>
          <p:cNvPr id="432" name="Google Shape;432;p40"/>
          <p:cNvGrpSpPr/>
          <p:nvPr/>
        </p:nvGrpSpPr>
        <p:grpSpPr>
          <a:xfrm>
            <a:off x="5104880" y="-153372"/>
            <a:ext cx="4218588" cy="6000578"/>
            <a:chOff x="5104880" y="-153372"/>
            <a:chExt cx="4218588" cy="6000578"/>
          </a:xfrm>
        </p:grpSpPr>
        <p:sp>
          <p:nvSpPr>
            <p:cNvPr id="433" name="Google Shape;433;p40"/>
            <p:cNvSpPr/>
            <p:nvPr/>
          </p:nvSpPr>
          <p:spPr>
            <a:xfrm>
              <a:off x="7074911" y="25473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0"/>
            <p:cNvSpPr/>
            <p:nvPr/>
          </p:nvSpPr>
          <p:spPr>
            <a:xfrm>
              <a:off x="7026089" y="-1533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0"/>
            <p:cNvSpPr/>
            <p:nvPr/>
          </p:nvSpPr>
          <p:spPr>
            <a:xfrm>
              <a:off x="6606684" y="3184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0"/>
            <p:cNvSpPr/>
            <p:nvPr/>
          </p:nvSpPr>
          <p:spPr>
            <a:xfrm>
              <a:off x="6138958" y="13708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0"/>
            <p:cNvSpPr/>
            <p:nvPr/>
          </p:nvSpPr>
          <p:spPr>
            <a:xfrm>
              <a:off x="5732458" y="87452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0"/>
            <p:cNvSpPr/>
            <p:nvPr/>
          </p:nvSpPr>
          <p:spPr>
            <a:xfrm>
              <a:off x="7480889" y="98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0"/>
            <p:cNvSpPr/>
            <p:nvPr/>
          </p:nvSpPr>
          <p:spPr>
            <a:xfrm>
              <a:off x="7074904" y="207505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0"/>
            <p:cNvSpPr/>
            <p:nvPr/>
          </p:nvSpPr>
          <p:spPr>
            <a:xfrm>
              <a:off x="7962441" y="140407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0"/>
            <p:cNvSpPr/>
            <p:nvPr/>
          </p:nvSpPr>
          <p:spPr>
            <a:xfrm rot="10800000" flipH="1">
              <a:off x="6355205" y="41020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0"/>
            <p:cNvSpPr/>
            <p:nvPr/>
          </p:nvSpPr>
          <p:spPr>
            <a:xfrm rot="10800000" flipH="1">
              <a:off x="5732459" y="48790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0"/>
            <p:cNvSpPr/>
            <p:nvPr/>
          </p:nvSpPr>
          <p:spPr>
            <a:xfrm rot="10800000" flipH="1">
              <a:off x="6683197" y="351549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40"/>
            <p:cNvSpPr/>
            <p:nvPr/>
          </p:nvSpPr>
          <p:spPr>
            <a:xfrm rot="10800000" flipH="1">
              <a:off x="5104880"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0"/>
            <p:cNvSpPr/>
            <p:nvPr/>
          </p:nvSpPr>
          <p:spPr>
            <a:xfrm>
              <a:off x="8484758" y="243811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0"/>
            <p:cNvSpPr/>
            <p:nvPr/>
          </p:nvSpPr>
          <p:spPr>
            <a:xfrm>
              <a:off x="8038260" y="29212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p:cNvSpPr/>
            <p:nvPr/>
          </p:nvSpPr>
          <p:spPr>
            <a:xfrm rot="10800000" flipH="1">
              <a:off x="7853362" y="396220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p:cNvSpPr/>
            <p:nvPr/>
          </p:nvSpPr>
          <p:spPr>
            <a:xfrm rot="10800000" flipH="1">
              <a:off x="8261505"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50" name="Google Shape;450;p40"/>
          <p:cNvCxnSpPr/>
          <p:nvPr/>
        </p:nvCxnSpPr>
        <p:spPr>
          <a:xfrm>
            <a:off x="841250" y="1385850"/>
            <a:ext cx="373500"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2717825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System Architecture</a:t>
            </a:r>
            <a:endParaRPr dirty="0"/>
          </a:p>
        </p:txBody>
      </p:sp>
      <p:grpSp>
        <p:nvGrpSpPr>
          <p:cNvPr id="14" name="Google Shape;8002;p80">
            <a:extLst>
              <a:ext uri="{FF2B5EF4-FFF2-40B4-BE49-F238E27FC236}">
                <a16:creationId xmlns:a16="http://schemas.microsoft.com/office/drawing/2014/main" id="{413B5280-B5D6-C07A-6CE0-B3C2A25A717D}"/>
              </a:ext>
            </a:extLst>
          </p:cNvPr>
          <p:cNvGrpSpPr/>
          <p:nvPr/>
        </p:nvGrpSpPr>
        <p:grpSpPr>
          <a:xfrm rot="16200000" flipH="1">
            <a:off x="736110" y="2949919"/>
            <a:ext cx="3132461" cy="56703"/>
            <a:chOff x="219558" y="4738465"/>
            <a:chExt cx="5852400" cy="102300"/>
          </a:xfrm>
          <a:solidFill>
            <a:schemeClr val="bg2">
              <a:lumMod val="75000"/>
            </a:schemeClr>
          </a:solidFill>
        </p:grpSpPr>
        <p:cxnSp>
          <p:nvCxnSpPr>
            <p:cNvPr id="15" name="Google Shape;8003;p80">
              <a:extLst>
                <a:ext uri="{FF2B5EF4-FFF2-40B4-BE49-F238E27FC236}">
                  <a16:creationId xmlns:a16="http://schemas.microsoft.com/office/drawing/2014/main" id="{A11A8C97-9200-CAD8-5A8A-CB6E91400195}"/>
                </a:ext>
              </a:extLst>
            </p:cNvPr>
            <p:cNvCxnSpPr/>
            <p:nvPr/>
          </p:nvCxnSpPr>
          <p:spPr>
            <a:xfrm>
              <a:off x="219558" y="4789684"/>
              <a:ext cx="5852400" cy="0"/>
            </a:xfrm>
            <a:prstGeom prst="straightConnector1">
              <a:avLst/>
            </a:prstGeom>
            <a:grpFill/>
            <a:ln w="9525" cap="flat" cmpd="sng">
              <a:solidFill>
                <a:schemeClr val="accent1"/>
              </a:solidFill>
              <a:prstDash val="solid"/>
              <a:round/>
              <a:headEnd type="oval" w="med" len="med"/>
              <a:tailEnd type="oval" w="med" len="med"/>
            </a:ln>
          </p:spPr>
        </p:cxnSp>
        <p:sp>
          <p:nvSpPr>
            <p:cNvPr id="16" name="Google Shape;8004;p80">
              <a:extLst>
                <a:ext uri="{FF2B5EF4-FFF2-40B4-BE49-F238E27FC236}">
                  <a16:creationId xmlns:a16="http://schemas.microsoft.com/office/drawing/2014/main" id="{899D7040-36AF-FD47-8D97-00C74D60A0AF}"/>
                </a:ext>
              </a:extLst>
            </p:cNvPr>
            <p:cNvSpPr/>
            <p:nvPr/>
          </p:nvSpPr>
          <p:spPr>
            <a:xfrm>
              <a:off x="1200298" y="4738465"/>
              <a:ext cx="102300" cy="102300"/>
            </a:xfrm>
            <a:prstGeom prst="ellipse">
              <a:avLst/>
            </a:prstGeom>
            <a:grp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005;p80">
              <a:extLst>
                <a:ext uri="{FF2B5EF4-FFF2-40B4-BE49-F238E27FC236}">
                  <a16:creationId xmlns:a16="http://schemas.microsoft.com/office/drawing/2014/main" id="{535470F7-0024-188D-8F4F-214E3D957958}"/>
                </a:ext>
              </a:extLst>
            </p:cNvPr>
            <p:cNvSpPr/>
            <p:nvPr/>
          </p:nvSpPr>
          <p:spPr>
            <a:xfrm>
              <a:off x="2175146" y="4738465"/>
              <a:ext cx="102300" cy="102300"/>
            </a:xfrm>
            <a:prstGeom prst="ellipse">
              <a:avLst/>
            </a:prstGeom>
            <a:grp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8006;p80">
              <a:extLst>
                <a:ext uri="{FF2B5EF4-FFF2-40B4-BE49-F238E27FC236}">
                  <a16:creationId xmlns:a16="http://schemas.microsoft.com/office/drawing/2014/main" id="{95146D11-B258-3A9F-B07F-45EC166A202D}"/>
                </a:ext>
              </a:extLst>
            </p:cNvPr>
            <p:cNvSpPr/>
            <p:nvPr/>
          </p:nvSpPr>
          <p:spPr>
            <a:xfrm>
              <a:off x="3040751" y="4738465"/>
              <a:ext cx="102300" cy="102300"/>
            </a:xfrm>
            <a:prstGeom prst="ellipse">
              <a:avLst/>
            </a:prstGeom>
            <a:grp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8007;p80">
              <a:extLst>
                <a:ext uri="{FF2B5EF4-FFF2-40B4-BE49-F238E27FC236}">
                  <a16:creationId xmlns:a16="http://schemas.microsoft.com/office/drawing/2014/main" id="{E7EB6010-EC45-21A4-8520-56D5905DA4BD}"/>
                </a:ext>
              </a:extLst>
            </p:cNvPr>
            <p:cNvSpPr/>
            <p:nvPr/>
          </p:nvSpPr>
          <p:spPr>
            <a:xfrm>
              <a:off x="4028157" y="4738465"/>
              <a:ext cx="102300" cy="102300"/>
            </a:xfrm>
            <a:prstGeom prst="ellipse">
              <a:avLst/>
            </a:prstGeom>
            <a:grp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8008;p80">
              <a:extLst>
                <a:ext uri="{FF2B5EF4-FFF2-40B4-BE49-F238E27FC236}">
                  <a16:creationId xmlns:a16="http://schemas.microsoft.com/office/drawing/2014/main" id="{0426E9A0-EE71-FF09-596E-BF2ED7C09DB0}"/>
                </a:ext>
              </a:extLst>
            </p:cNvPr>
            <p:cNvSpPr/>
            <p:nvPr/>
          </p:nvSpPr>
          <p:spPr>
            <a:xfrm>
              <a:off x="5040827" y="4738465"/>
              <a:ext cx="102300" cy="102300"/>
            </a:xfrm>
            <a:prstGeom prst="ellipse">
              <a:avLst/>
            </a:prstGeom>
            <a:grp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TextBox 20">
            <a:extLst>
              <a:ext uri="{FF2B5EF4-FFF2-40B4-BE49-F238E27FC236}">
                <a16:creationId xmlns:a16="http://schemas.microsoft.com/office/drawing/2014/main" id="{65A58743-ED6E-B5BD-28CF-9FF56E2843E0}"/>
              </a:ext>
            </a:extLst>
          </p:cNvPr>
          <p:cNvSpPr txBox="1"/>
          <p:nvPr/>
        </p:nvSpPr>
        <p:spPr>
          <a:xfrm>
            <a:off x="2502568" y="1258151"/>
            <a:ext cx="776175" cy="307777"/>
          </a:xfrm>
          <a:prstGeom prst="rect">
            <a:avLst/>
          </a:prstGeom>
          <a:noFill/>
        </p:spPr>
        <p:txBody>
          <a:bodyPr wrap="none" rtlCol="0">
            <a:spAutoFit/>
          </a:bodyPr>
          <a:lstStyle/>
          <a:p>
            <a:r>
              <a:rPr lang="en-US" dirty="0">
                <a:latin typeface="DM Sans" pitchFamily="2" charset="0"/>
              </a:rPr>
              <a:t>Laptop</a:t>
            </a:r>
            <a:endParaRPr lang="en-GB" dirty="0">
              <a:latin typeface="DM Sans" pitchFamily="2" charset="0"/>
            </a:endParaRPr>
          </a:p>
        </p:txBody>
      </p:sp>
      <p:sp>
        <p:nvSpPr>
          <p:cNvPr id="22" name="TextBox 21">
            <a:extLst>
              <a:ext uri="{FF2B5EF4-FFF2-40B4-BE49-F238E27FC236}">
                <a16:creationId xmlns:a16="http://schemas.microsoft.com/office/drawing/2014/main" id="{815E4F87-C59C-4256-10A1-51A5F1C92B22}"/>
              </a:ext>
            </a:extLst>
          </p:cNvPr>
          <p:cNvSpPr txBox="1"/>
          <p:nvPr/>
        </p:nvSpPr>
        <p:spPr>
          <a:xfrm>
            <a:off x="2502567" y="1810463"/>
            <a:ext cx="3206327" cy="307777"/>
          </a:xfrm>
          <a:prstGeom prst="rect">
            <a:avLst/>
          </a:prstGeom>
          <a:noFill/>
        </p:spPr>
        <p:txBody>
          <a:bodyPr wrap="none" rtlCol="0">
            <a:spAutoFit/>
          </a:bodyPr>
          <a:lstStyle/>
          <a:p>
            <a:r>
              <a:rPr lang="en-US" dirty="0">
                <a:latin typeface="DM Sans" pitchFamily="2" charset="0"/>
              </a:rPr>
              <a:t>UART RX		</a:t>
            </a:r>
            <a:r>
              <a:rPr lang="en-US" i="1" dirty="0">
                <a:latin typeface="DM Sans" pitchFamily="2" charset="0"/>
              </a:rPr>
              <a:t>Feature Input</a:t>
            </a:r>
            <a:endParaRPr lang="en-GB" i="1" dirty="0">
              <a:latin typeface="DM Sans" pitchFamily="2" charset="0"/>
            </a:endParaRPr>
          </a:p>
        </p:txBody>
      </p:sp>
      <p:sp>
        <p:nvSpPr>
          <p:cNvPr id="23" name="TextBox 22">
            <a:extLst>
              <a:ext uri="{FF2B5EF4-FFF2-40B4-BE49-F238E27FC236}">
                <a16:creationId xmlns:a16="http://schemas.microsoft.com/office/drawing/2014/main" id="{5916C77F-79EB-7CC3-1429-1B5FD90FF7C9}"/>
              </a:ext>
            </a:extLst>
          </p:cNvPr>
          <p:cNvSpPr txBox="1"/>
          <p:nvPr/>
        </p:nvSpPr>
        <p:spPr>
          <a:xfrm>
            <a:off x="2502567" y="2304867"/>
            <a:ext cx="3562194" cy="307777"/>
          </a:xfrm>
          <a:prstGeom prst="rect">
            <a:avLst/>
          </a:prstGeom>
          <a:noFill/>
        </p:spPr>
        <p:txBody>
          <a:bodyPr wrap="none" rtlCol="0">
            <a:spAutoFit/>
          </a:bodyPr>
          <a:lstStyle/>
          <a:p>
            <a:r>
              <a:rPr lang="en-US" dirty="0">
                <a:latin typeface="DM Sans" pitchFamily="2" charset="0"/>
              </a:rPr>
              <a:t>Packet Parser	</a:t>
            </a:r>
            <a:r>
              <a:rPr lang="en-US" i="1" dirty="0">
                <a:latin typeface="DM Sans" pitchFamily="2" charset="0"/>
              </a:rPr>
              <a:t>Feature Extraction</a:t>
            </a:r>
            <a:endParaRPr lang="en-GB" i="1" dirty="0">
              <a:latin typeface="DM Sans" pitchFamily="2" charset="0"/>
            </a:endParaRPr>
          </a:p>
        </p:txBody>
      </p:sp>
      <p:sp>
        <p:nvSpPr>
          <p:cNvPr id="24" name="TextBox 23">
            <a:extLst>
              <a:ext uri="{FF2B5EF4-FFF2-40B4-BE49-F238E27FC236}">
                <a16:creationId xmlns:a16="http://schemas.microsoft.com/office/drawing/2014/main" id="{8DA6F886-1400-D792-2BC2-ABA873234748}"/>
              </a:ext>
            </a:extLst>
          </p:cNvPr>
          <p:cNvSpPr txBox="1"/>
          <p:nvPr/>
        </p:nvSpPr>
        <p:spPr>
          <a:xfrm>
            <a:off x="2502567" y="2795554"/>
            <a:ext cx="3320140" cy="307777"/>
          </a:xfrm>
          <a:prstGeom prst="rect">
            <a:avLst/>
          </a:prstGeom>
          <a:noFill/>
        </p:spPr>
        <p:txBody>
          <a:bodyPr wrap="none" rtlCol="0">
            <a:spAutoFit/>
          </a:bodyPr>
          <a:lstStyle/>
          <a:p>
            <a:r>
              <a:rPr lang="en-US" dirty="0">
                <a:latin typeface="DM Sans" pitchFamily="2" charset="0"/>
              </a:rPr>
              <a:t>Perceptron Core	</a:t>
            </a:r>
            <a:r>
              <a:rPr lang="en-US" i="1" dirty="0">
                <a:latin typeface="DM Sans" pitchFamily="2" charset="0"/>
              </a:rPr>
              <a:t>MAC Operation</a:t>
            </a:r>
            <a:endParaRPr lang="en-GB" i="1" dirty="0">
              <a:latin typeface="DM Sans" pitchFamily="2" charset="0"/>
            </a:endParaRPr>
          </a:p>
        </p:txBody>
      </p:sp>
      <p:sp>
        <p:nvSpPr>
          <p:cNvPr id="25" name="TextBox 24">
            <a:extLst>
              <a:ext uri="{FF2B5EF4-FFF2-40B4-BE49-F238E27FC236}">
                <a16:creationId xmlns:a16="http://schemas.microsoft.com/office/drawing/2014/main" id="{06054B95-B4C7-744F-7495-9E6181618EF6}"/>
              </a:ext>
            </a:extLst>
          </p:cNvPr>
          <p:cNvSpPr txBox="1"/>
          <p:nvPr/>
        </p:nvSpPr>
        <p:spPr>
          <a:xfrm>
            <a:off x="2502567" y="3324057"/>
            <a:ext cx="2746265" cy="307777"/>
          </a:xfrm>
          <a:prstGeom prst="rect">
            <a:avLst/>
          </a:prstGeom>
          <a:noFill/>
        </p:spPr>
        <p:txBody>
          <a:bodyPr wrap="none" rtlCol="0">
            <a:spAutoFit/>
          </a:bodyPr>
          <a:lstStyle/>
          <a:p>
            <a:r>
              <a:rPr lang="en-US" dirty="0">
                <a:latin typeface="DM Sans" pitchFamily="2" charset="0"/>
              </a:rPr>
              <a:t>Activation Layer	</a:t>
            </a:r>
            <a:r>
              <a:rPr lang="en-US" i="1" dirty="0">
                <a:latin typeface="DM Sans" pitchFamily="2" charset="0"/>
              </a:rPr>
              <a:t>Decision</a:t>
            </a:r>
            <a:endParaRPr lang="en-GB" i="1" dirty="0">
              <a:latin typeface="DM Sans" pitchFamily="2" charset="0"/>
            </a:endParaRPr>
          </a:p>
        </p:txBody>
      </p:sp>
      <p:sp>
        <p:nvSpPr>
          <p:cNvPr id="26" name="TextBox 25">
            <a:extLst>
              <a:ext uri="{FF2B5EF4-FFF2-40B4-BE49-F238E27FC236}">
                <a16:creationId xmlns:a16="http://schemas.microsoft.com/office/drawing/2014/main" id="{41789852-184B-D878-D8BD-BA53521E590D}"/>
              </a:ext>
            </a:extLst>
          </p:cNvPr>
          <p:cNvSpPr txBox="1"/>
          <p:nvPr/>
        </p:nvSpPr>
        <p:spPr>
          <a:xfrm>
            <a:off x="2502567" y="3866083"/>
            <a:ext cx="2627642" cy="307777"/>
          </a:xfrm>
          <a:prstGeom prst="rect">
            <a:avLst/>
          </a:prstGeom>
          <a:noFill/>
        </p:spPr>
        <p:txBody>
          <a:bodyPr wrap="none" rtlCol="0">
            <a:spAutoFit/>
          </a:bodyPr>
          <a:lstStyle/>
          <a:p>
            <a:r>
              <a:rPr lang="en-US" dirty="0">
                <a:latin typeface="DM Sans" pitchFamily="2" charset="0"/>
              </a:rPr>
              <a:t>UART TX		</a:t>
            </a:r>
            <a:r>
              <a:rPr lang="en-US" i="1" dirty="0">
                <a:latin typeface="DM Sans" pitchFamily="2" charset="0"/>
              </a:rPr>
              <a:t>Output</a:t>
            </a:r>
            <a:endParaRPr lang="en-GB" i="1" dirty="0">
              <a:latin typeface="DM Sans" pitchFamily="2" charset="0"/>
            </a:endParaRPr>
          </a:p>
        </p:txBody>
      </p:sp>
      <p:sp>
        <p:nvSpPr>
          <p:cNvPr id="27" name="TextBox 26">
            <a:extLst>
              <a:ext uri="{FF2B5EF4-FFF2-40B4-BE49-F238E27FC236}">
                <a16:creationId xmlns:a16="http://schemas.microsoft.com/office/drawing/2014/main" id="{C09189B6-F261-1597-1EF2-C9F68875072F}"/>
              </a:ext>
            </a:extLst>
          </p:cNvPr>
          <p:cNvSpPr txBox="1"/>
          <p:nvPr/>
        </p:nvSpPr>
        <p:spPr>
          <a:xfrm>
            <a:off x="2502566" y="4390473"/>
            <a:ext cx="1680268" cy="307777"/>
          </a:xfrm>
          <a:prstGeom prst="rect">
            <a:avLst/>
          </a:prstGeom>
          <a:noFill/>
        </p:spPr>
        <p:txBody>
          <a:bodyPr wrap="none" rtlCol="0">
            <a:spAutoFit/>
          </a:bodyPr>
          <a:lstStyle/>
          <a:p>
            <a:r>
              <a:rPr lang="en-US" dirty="0">
                <a:latin typeface="DM Sans" pitchFamily="2" charset="0"/>
              </a:rPr>
              <a:t>Prediction Output</a:t>
            </a:r>
            <a:endParaRPr lang="en-GB" dirty="0">
              <a:latin typeface="DM Sans" pitchFamily="2" charset="0"/>
            </a:endParaRPr>
          </a:p>
        </p:txBody>
      </p:sp>
      <p:sp>
        <p:nvSpPr>
          <p:cNvPr id="32" name="Google Shape;1671;p78">
            <a:extLst>
              <a:ext uri="{FF2B5EF4-FFF2-40B4-BE49-F238E27FC236}">
                <a16:creationId xmlns:a16="http://schemas.microsoft.com/office/drawing/2014/main" id="{839B212D-BE17-A305-E526-8DC83D688EE3}"/>
              </a:ext>
            </a:extLst>
          </p:cNvPr>
          <p:cNvSpPr/>
          <p:nvPr/>
        </p:nvSpPr>
        <p:spPr>
          <a:xfrm>
            <a:off x="4197505" y="1898960"/>
            <a:ext cx="86159" cy="130781"/>
          </a:xfrm>
          <a:custGeom>
            <a:avLst/>
            <a:gdLst/>
            <a:ahLst/>
            <a:cxnLst/>
            <a:rect l="l" t="t" r="r" b="b"/>
            <a:pathLst>
              <a:path w="1415" h="2148" extrusionOk="0">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chemeClr val="accent1">
              <a:lumMod val="40000"/>
              <a:lumOff val="60000"/>
            </a:schemeClr>
          </a:solidFill>
          <a:ln w="9525"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671;p78">
            <a:extLst>
              <a:ext uri="{FF2B5EF4-FFF2-40B4-BE49-F238E27FC236}">
                <a16:creationId xmlns:a16="http://schemas.microsoft.com/office/drawing/2014/main" id="{FE16E54D-F998-76CE-383B-A3B2BD3F3682}"/>
              </a:ext>
            </a:extLst>
          </p:cNvPr>
          <p:cNvSpPr/>
          <p:nvPr/>
        </p:nvSpPr>
        <p:spPr>
          <a:xfrm>
            <a:off x="4197505" y="2393364"/>
            <a:ext cx="86159" cy="130781"/>
          </a:xfrm>
          <a:custGeom>
            <a:avLst/>
            <a:gdLst/>
            <a:ahLst/>
            <a:cxnLst/>
            <a:rect l="l" t="t" r="r" b="b"/>
            <a:pathLst>
              <a:path w="1415" h="2148" extrusionOk="0">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chemeClr val="accent1">
              <a:lumMod val="40000"/>
              <a:lumOff val="60000"/>
            </a:schemeClr>
          </a:solidFill>
          <a:ln w="9525"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71;p78">
            <a:extLst>
              <a:ext uri="{FF2B5EF4-FFF2-40B4-BE49-F238E27FC236}">
                <a16:creationId xmlns:a16="http://schemas.microsoft.com/office/drawing/2014/main" id="{40B39A16-01E3-59F9-12D7-1F100D044D34}"/>
              </a:ext>
            </a:extLst>
          </p:cNvPr>
          <p:cNvSpPr/>
          <p:nvPr/>
        </p:nvSpPr>
        <p:spPr>
          <a:xfrm>
            <a:off x="4197505" y="2884051"/>
            <a:ext cx="86159" cy="130781"/>
          </a:xfrm>
          <a:custGeom>
            <a:avLst/>
            <a:gdLst/>
            <a:ahLst/>
            <a:cxnLst/>
            <a:rect l="l" t="t" r="r" b="b"/>
            <a:pathLst>
              <a:path w="1415" h="2148" extrusionOk="0">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chemeClr val="accent1">
              <a:lumMod val="40000"/>
              <a:lumOff val="60000"/>
            </a:schemeClr>
          </a:solidFill>
          <a:ln w="9525"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71;p78">
            <a:extLst>
              <a:ext uri="{FF2B5EF4-FFF2-40B4-BE49-F238E27FC236}">
                <a16:creationId xmlns:a16="http://schemas.microsoft.com/office/drawing/2014/main" id="{7C6AE2C6-C30A-B5BE-917F-1AACCC8BCBC7}"/>
              </a:ext>
            </a:extLst>
          </p:cNvPr>
          <p:cNvSpPr/>
          <p:nvPr/>
        </p:nvSpPr>
        <p:spPr>
          <a:xfrm>
            <a:off x="4197505" y="3412554"/>
            <a:ext cx="86159" cy="130781"/>
          </a:xfrm>
          <a:custGeom>
            <a:avLst/>
            <a:gdLst/>
            <a:ahLst/>
            <a:cxnLst/>
            <a:rect l="l" t="t" r="r" b="b"/>
            <a:pathLst>
              <a:path w="1415" h="2148" extrusionOk="0">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chemeClr val="accent1">
              <a:lumMod val="40000"/>
              <a:lumOff val="60000"/>
            </a:schemeClr>
          </a:solidFill>
          <a:ln w="9525"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71;p78">
            <a:extLst>
              <a:ext uri="{FF2B5EF4-FFF2-40B4-BE49-F238E27FC236}">
                <a16:creationId xmlns:a16="http://schemas.microsoft.com/office/drawing/2014/main" id="{34A97ABA-1D8F-4457-643E-4D4B95C49484}"/>
              </a:ext>
            </a:extLst>
          </p:cNvPr>
          <p:cNvSpPr/>
          <p:nvPr/>
        </p:nvSpPr>
        <p:spPr>
          <a:xfrm>
            <a:off x="4197505" y="3954580"/>
            <a:ext cx="86159" cy="130781"/>
          </a:xfrm>
          <a:custGeom>
            <a:avLst/>
            <a:gdLst/>
            <a:ahLst/>
            <a:cxnLst/>
            <a:rect l="l" t="t" r="r" b="b"/>
            <a:pathLst>
              <a:path w="1415" h="2148" extrusionOk="0">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chemeClr val="accent1">
              <a:lumMod val="40000"/>
              <a:lumOff val="60000"/>
            </a:schemeClr>
          </a:solidFill>
          <a:ln w="9525" cap="flat" cmpd="sng">
            <a:solidFill>
              <a:schemeClr val="tx2">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Perceptron Model</a:t>
            </a:r>
            <a:endParaRPr dirty="0"/>
          </a:p>
        </p:txBody>
      </p:sp>
      <p:sp>
        <p:nvSpPr>
          <p:cNvPr id="504" name="Google Shape;504;p44"/>
          <p:cNvSpPr txBox="1">
            <a:spLocks noGrp="1"/>
          </p:cNvSpPr>
          <p:nvPr>
            <p:ph type="subTitle" idx="1"/>
          </p:nvPr>
        </p:nvSpPr>
        <p:spPr>
          <a:xfrm>
            <a:off x="881213" y="2640653"/>
            <a:ext cx="7381575" cy="895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The perceptron computes a weighted sum of features and applies thresholding to produce a binary classification output.</a:t>
            </a:r>
            <a:endParaRPr dirty="0"/>
          </a:p>
        </p:txBody>
      </p:sp>
      <p:sp>
        <p:nvSpPr>
          <p:cNvPr id="507" name="Google Shape;507;p44"/>
          <p:cNvSpPr txBox="1">
            <a:spLocks noGrp="1"/>
          </p:cNvSpPr>
          <p:nvPr>
            <p:ph type="subTitle" idx="4"/>
          </p:nvPr>
        </p:nvSpPr>
        <p:spPr>
          <a:xfrm>
            <a:off x="2726612" y="2153228"/>
            <a:ext cx="3690775" cy="5775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1400" dirty="0">
                <a:latin typeface="DM Sans" pitchFamily="2" charset="0"/>
              </a:rPr>
              <a:t>y = 1  if  ( Σ (wi × xi) + b ) ≥ threshold</a:t>
            </a:r>
          </a:p>
          <a:p>
            <a:pPr marL="0" lvl="0" indent="0" algn="l" rtl="0">
              <a:spcBef>
                <a:spcPts val="0"/>
              </a:spcBef>
              <a:spcAft>
                <a:spcPts val="0"/>
              </a:spcAft>
              <a:buNone/>
            </a:pPr>
            <a:r>
              <a:rPr lang="en-GB" sz="1400" dirty="0">
                <a:latin typeface="DM Sans" pitchFamily="2" charset="0"/>
              </a:rPr>
              <a:t>y = 0  otherwise</a:t>
            </a:r>
            <a:endParaRPr sz="1400" dirty="0">
              <a:latin typeface="DM Sans" pitchFamily="2" charset="0"/>
            </a:endParaRPr>
          </a:p>
        </p:txBody>
      </p:sp>
      <p:sp>
        <p:nvSpPr>
          <p:cNvPr id="2" name="Google Shape;505;p44">
            <a:extLst>
              <a:ext uri="{FF2B5EF4-FFF2-40B4-BE49-F238E27FC236}">
                <a16:creationId xmlns:a16="http://schemas.microsoft.com/office/drawing/2014/main" id="{79933D48-A333-0B88-5F35-D63DC4D70E67}"/>
              </a:ext>
            </a:extLst>
          </p:cNvPr>
          <p:cNvSpPr txBox="1">
            <a:spLocks/>
          </p:cNvSpPr>
          <p:nvPr/>
        </p:nvSpPr>
        <p:spPr>
          <a:xfrm>
            <a:off x="881213" y="1250480"/>
            <a:ext cx="7381575" cy="112426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9pPr>
          </a:lstStyle>
          <a:p>
            <a:pPr marL="0" indent="0" algn="just"/>
            <a:r>
              <a:rPr lang="en-GB" dirty="0"/>
              <a:t>The perceptron is a single-layer neural model used for binary classification. It computes a weighted sum of input features followed by bias addition. A threshold-based activation function is applied to generate the final prediction output.</a:t>
            </a:r>
          </a:p>
        </p:txBody>
      </p:sp>
      <p:grpSp>
        <p:nvGrpSpPr>
          <p:cNvPr id="12" name="Google Shape;8594;p82">
            <a:extLst>
              <a:ext uri="{FF2B5EF4-FFF2-40B4-BE49-F238E27FC236}">
                <a16:creationId xmlns:a16="http://schemas.microsoft.com/office/drawing/2014/main" id="{F2C4646F-8D13-0A76-958B-AB7F32F6BECE}"/>
              </a:ext>
            </a:extLst>
          </p:cNvPr>
          <p:cNvGrpSpPr/>
          <p:nvPr/>
        </p:nvGrpSpPr>
        <p:grpSpPr>
          <a:xfrm>
            <a:off x="1651278" y="3181244"/>
            <a:ext cx="1619707" cy="1810142"/>
            <a:chOff x="951975" y="315800"/>
            <a:chExt cx="5860325" cy="4933550"/>
          </a:xfrm>
          <a:solidFill>
            <a:schemeClr val="accent1">
              <a:lumMod val="60000"/>
              <a:lumOff val="40000"/>
            </a:schemeClr>
          </a:solidFill>
        </p:grpSpPr>
        <p:sp>
          <p:nvSpPr>
            <p:cNvPr id="13" name="Google Shape;8595;p82">
              <a:extLst>
                <a:ext uri="{FF2B5EF4-FFF2-40B4-BE49-F238E27FC236}">
                  <a16:creationId xmlns:a16="http://schemas.microsoft.com/office/drawing/2014/main" id="{CC0460A6-48EB-24F8-41ED-54F0B8AEE091}"/>
                </a:ext>
              </a:extLst>
            </p:cNvPr>
            <p:cNvSpPr/>
            <p:nvPr/>
          </p:nvSpPr>
          <p:spPr>
            <a:xfrm>
              <a:off x="6501500" y="3684025"/>
              <a:ext cx="310800" cy="261200"/>
            </a:xfrm>
            <a:custGeom>
              <a:avLst/>
              <a:gdLst/>
              <a:ahLst/>
              <a:cxnLst/>
              <a:rect l="l" t="t" r="r" b="b"/>
              <a:pathLst>
                <a:path w="12432" h="10448" extrusionOk="0">
                  <a:moveTo>
                    <a:pt x="4963" y="0"/>
                  </a:moveTo>
                  <a:cubicBezTo>
                    <a:pt x="2239" y="0"/>
                    <a:pt x="0" y="2356"/>
                    <a:pt x="0" y="5120"/>
                  </a:cubicBezTo>
                  <a:cubicBezTo>
                    <a:pt x="0" y="8227"/>
                    <a:pt x="2220" y="10447"/>
                    <a:pt x="5328" y="10447"/>
                  </a:cubicBezTo>
                  <a:cubicBezTo>
                    <a:pt x="9989" y="10447"/>
                    <a:pt x="12431" y="4898"/>
                    <a:pt x="8879" y="1568"/>
                  </a:cubicBezTo>
                  <a:cubicBezTo>
                    <a:pt x="7991" y="458"/>
                    <a:pt x="6660" y="14"/>
                    <a:pt x="5328" y="14"/>
                  </a:cubicBezTo>
                  <a:cubicBezTo>
                    <a:pt x="5205" y="5"/>
                    <a:pt x="5084" y="0"/>
                    <a:pt x="4963" y="0"/>
                  </a:cubicBezTo>
                  <a:close/>
                </a:path>
              </a:pathLst>
            </a:custGeom>
            <a:grpFill/>
            <a:ln w="9525" cap="flat" cmpd="sng">
              <a:solidFill>
                <a:srgbClr val="435D7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8596;p82">
              <a:extLst>
                <a:ext uri="{FF2B5EF4-FFF2-40B4-BE49-F238E27FC236}">
                  <a16:creationId xmlns:a16="http://schemas.microsoft.com/office/drawing/2014/main" id="{17F7979E-5ED9-2FCE-4122-47782CC8F023}"/>
                </a:ext>
              </a:extLst>
            </p:cNvPr>
            <p:cNvSpPr/>
            <p:nvPr/>
          </p:nvSpPr>
          <p:spPr>
            <a:xfrm>
              <a:off x="6501500" y="2945200"/>
              <a:ext cx="310800" cy="261925"/>
            </a:xfrm>
            <a:custGeom>
              <a:avLst/>
              <a:gdLst/>
              <a:ahLst/>
              <a:cxnLst/>
              <a:rect l="l" t="t" r="r" b="b"/>
              <a:pathLst>
                <a:path w="12432" h="10477" extrusionOk="0">
                  <a:moveTo>
                    <a:pt x="5852" y="1"/>
                  </a:moveTo>
                  <a:cubicBezTo>
                    <a:pt x="5678" y="1"/>
                    <a:pt x="5503" y="15"/>
                    <a:pt x="5328" y="44"/>
                  </a:cubicBezTo>
                  <a:cubicBezTo>
                    <a:pt x="5205" y="34"/>
                    <a:pt x="5084" y="30"/>
                    <a:pt x="4963" y="30"/>
                  </a:cubicBezTo>
                  <a:cubicBezTo>
                    <a:pt x="2239" y="30"/>
                    <a:pt x="0" y="2386"/>
                    <a:pt x="0" y="5149"/>
                  </a:cubicBezTo>
                  <a:cubicBezTo>
                    <a:pt x="0" y="8035"/>
                    <a:pt x="2220" y="10477"/>
                    <a:pt x="5328" y="10477"/>
                  </a:cubicBezTo>
                  <a:cubicBezTo>
                    <a:pt x="9989" y="10477"/>
                    <a:pt x="12431" y="4705"/>
                    <a:pt x="8879" y="1376"/>
                  </a:cubicBezTo>
                  <a:cubicBezTo>
                    <a:pt x="8108" y="604"/>
                    <a:pt x="7002" y="1"/>
                    <a:pt x="5852" y="1"/>
                  </a:cubicBezTo>
                  <a:close/>
                </a:path>
              </a:pathLst>
            </a:custGeom>
            <a:grp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597;p82">
              <a:extLst>
                <a:ext uri="{FF2B5EF4-FFF2-40B4-BE49-F238E27FC236}">
                  <a16:creationId xmlns:a16="http://schemas.microsoft.com/office/drawing/2014/main" id="{760041C3-A225-EE44-7F48-1063FFA31D37}"/>
                </a:ext>
              </a:extLst>
            </p:cNvPr>
            <p:cNvSpPr/>
            <p:nvPr/>
          </p:nvSpPr>
          <p:spPr>
            <a:xfrm>
              <a:off x="6501500" y="2202650"/>
              <a:ext cx="310800" cy="266400"/>
            </a:xfrm>
            <a:custGeom>
              <a:avLst/>
              <a:gdLst/>
              <a:ahLst/>
              <a:cxnLst/>
              <a:rect l="l" t="t" r="r" b="b"/>
              <a:pathLst>
                <a:path w="12432" h="10656" extrusionOk="0">
                  <a:moveTo>
                    <a:pt x="5328" y="0"/>
                  </a:moveTo>
                  <a:cubicBezTo>
                    <a:pt x="2442" y="0"/>
                    <a:pt x="0" y="2442"/>
                    <a:pt x="0" y="5328"/>
                  </a:cubicBezTo>
                  <a:cubicBezTo>
                    <a:pt x="0" y="8214"/>
                    <a:pt x="2220" y="10655"/>
                    <a:pt x="5328" y="10655"/>
                  </a:cubicBezTo>
                  <a:cubicBezTo>
                    <a:pt x="9989" y="10655"/>
                    <a:pt x="12431" y="4884"/>
                    <a:pt x="8879" y="1554"/>
                  </a:cubicBezTo>
                  <a:cubicBezTo>
                    <a:pt x="7991" y="444"/>
                    <a:pt x="6660" y="0"/>
                    <a:pt x="5328" y="0"/>
                  </a:cubicBezTo>
                  <a:close/>
                </a:path>
              </a:pathLst>
            </a:custGeom>
            <a:grpFill/>
            <a:ln w="9525"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8598;p82">
              <a:extLst>
                <a:ext uri="{FF2B5EF4-FFF2-40B4-BE49-F238E27FC236}">
                  <a16:creationId xmlns:a16="http://schemas.microsoft.com/office/drawing/2014/main" id="{679B8F00-9493-031C-D067-3EC4EDDD4BF8}"/>
                </a:ext>
              </a:extLst>
            </p:cNvPr>
            <p:cNvSpPr/>
            <p:nvPr/>
          </p:nvSpPr>
          <p:spPr>
            <a:xfrm>
              <a:off x="951975" y="3495676"/>
              <a:ext cx="5460748" cy="1753674"/>
            </a:xfrm>
            <a:custGeom>
              <a:avLst/>
              <a:gdLst/>
              <a:ahLst/>
              <a:cxnLst/>
              <a:rect l="l" t="t" r="r" b="b"/>
              <a:pathLst>
                <a:path w="218430" h="70147" fill="none" extrusionOk="0">
                  <a:moveTo>
                    <a:pt x="29746" y="1"/>
                  </a:moveTo>
                  <a:lnTo>
                    <a:pt x="0" y="14430"/>
                  </a:lnTo>
                  <a:lnTo>
                    <a:pt x="109215" y="70147"/>
                  </a:lnTo>
                  <a:lnTo>
                    <a:pt x="218429" y="14430"/>
                  </a:lnTo>
                  <a:lnTo>
                    <a:pt x="188684" y="1"/>
                  </a:lnTo>
                  <a:lnTo>
                    <a:pt x="109215" y="40623"/>
                  </a:lnTo>
                  <a:close/>
                </a:path>
              </a:pathLst>
            </a:custGeom>
            <a:grpFill/>
            <a:ln w="9525" cap="flat" cmpd="sng">
              <a:solidFill>
                <a:schemeClr val="tx2">
                  <a:lumMod val="10000"/>
                </a:schemeClr>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599;p82">
              <a:extLst>
                <a:ext uri="{FF2B5EF4-FFF2-40B4-BE49-F238E27FC236}">
                  <a16:creationId xmlns:a16="http://schemas.microsoft.com/office/drawing/2014/main" id="{FACF04F4-38D8-8A10-8144-627E3FF06A97}"/>
                </a:ext>
              </a:extLst>
            </p:cNvPr>
            <p:cNvSpPr/>
            <p:nvPr/>
          </p:nvSpPr>
          <p:spPr>
            <a:xfrm>
              <a:off x="951975" y="2757600"/>
              <a:ext cx="5460750" cy="1753675"/>
            </a:xfrm>
            <a:custGeom>
              <a:avLst/>
              <a:gdLst/>
              <a:ahLst/>
              <a:cxnLst/>
              <a:rect l="l" t="t" r="r" b="b"/>
              <a:pathLst>
                <a:path w="218430" h="70147" fill="none" extrusionOk="0">
                  <a:moveTo>
                    <a:pt x="188684" y="0"/>
                  </a:moveTo>
                  <a:lnTo>
                    <a:pt x="158939" y="15095"/>
                  </a:lnTo>
                  <a:lnTo>
                    <a:pt x="109215" y="40623"/>
                  </a:lnTo>
                  <a:lnTo>
                    <a:pt x="59491" y="15095"/>
                  </a:lnTo>
                  <a:lnTo>
                    <a:pt x="29746" y="0"/>
                  </a:lnTo>
                  <a:lnTo>
                    <a:pt x="0" y="14429"/>
                  </a:lnTo>
                  <a:lnTo>
                    <a:pt x="29746" y="29524"/>
                  </a:lnTo>
                  <a:lnTo>
                    <a:pt x="109215" y="70146"/>
                  </a:lnTo>
                  <a:lnTo>
                    <a:pt x="188684" y="29524"/>
                  </a:lnTo>
                  <a:lnTo>
                    <a:pt x="218429" y="14429"/>
                  </a:lnTo>
                  <a:close/>
                </a:path>
              </a:pathLst>
            </a:custGeom>
            <a:grpFill/>
            <a:ln w="9525" cap="flat" cmpd="sng">
              <a:solidFill>
                <a:schemeClr val="tx2">
                  <a:lumMod val="25000"/>
                </a:schemeClr>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8600;p82">
              <a:extLst>
                <a:ext uri="{FF2B5EF4-FFF2-40B4-BE49-F238E27FC236}">
                  <a16:creationId xmlns:a16="http://schemas.microsoft.com/office/drawing/2014/main" id="{ABD91C66-D76E-DB5D-7F23-CD7E4F66E22D}"/>
                </a:ext>
              </a:extLst>
            </p:cNvPr>
            <p:cNvSpPr/>
            <p:nvPr/>
          </p:nvSpPr>
          <p:spPr>
            <a:xfrm>
              <a:off x="951975" y="2019500"/>
              <a:ext cx="5460750" cy="1753675"/>
            </a:xfrm>
            <a:custGeom>
              <a:avLst/>
              <a:gdLst/>
              <a:ahLst/>
              <a:cxnLst/>
              <a:rect l="l" t="t" r="r" b="b"/>
              <a:pathLst>
                <a:path w="218430" h="70147" fill="none" extrusionOk="0">
                  <a:moveTo>
                    <a:pt x="188684" y="1"/>
                  </a:moveTo>
                  <a:lnTo>
                    <a:pt x="158939" y="15096"/>
                  </a:lnTo>
                  <a:lnTo>
                    <a:pt x="129193" y="30190"/>
                  </a:lnTo>
                  <a:lnTo>
                    <a:pt x="109215" y="40623"/>
                  </a:lnTo>
                  <a:lnTo>
                    <a:pt x="89237" y="30190"/>
                  </a:lnTo>
                  <a:lnTo>
                    <a:pt x="59491" y="15096"/>
                  </a:lnTo>
                  <a:lnTo>
                    <a:pt x="29746" y="1"/>
                  </a:lnTo>
                  <a:lnTo>
                    <a:pt x="0" y="14208"/>
                  </a:lnTo>
                  <a:lnTo>
                    <a:pt x="29746" y="29524"/>
                  </a:lnTo>
                  <a:lnTo>
                    <a:pt x="59491" y="44619"/>
                  </a:lnTo>
                  <a:lnTo>
                    <a:pt x="109215" y="70147"/>
                  </a:lnTo>
                  <a:lnTo>
                    <a:pt x="158939" y="44619"/>
                  </a:lnTo>
                  <a:lnTo>
                    <a:pt x="188684" y="29524"/>
                  </a:lnTo>
                  <a:lnTo>
                    <a:pt x="218429" y="14208"/>
                  </a:lnTo>
                  <a:close/>
                </a:path>
              </a:pathLst>
            </a:custGeom>
            <a:grpFill/>
            <a:ln w="9525" cap="flat" cmpd="sng">
              <a:solidFill>
                <a:schemeClr val="tx2">
                  <a:lumMod val="50000"/>
                </a:schemeClr>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8601;p82">
              <a:extLst>
                <a:ext uri="{FF2B5EF4-FFF2-40B4-BE49-F238E27FC236}">
                  <a16:creationId xmlns:a16="http://schemas.microsoft.com/office/drawing/2014/main" id="{9C174878-D0A7-B8F9-8776-63DDF8491BAD}"/>
                </a:ext>
              </a:extLst>
            </p:cNvPr>
            <p:cNvSpPr/>
            <p:nvPr/>
          </p:nvSpPr>
          <p:spPr>
            <a:xfrm>
              <a:off x="951975" y="315800"/>
              <a:ext cx="5460750" cy="2719300"/>
            </a:xfrm>
            <a:custGeom>
              <a:avLst/>
              <a:gdLst/>
              <a:ahLst/>
              <a:cxnLst/>
              <a:rect l="l" t="t" r="r" b="b"/>
              <a:pathLst>
                <a:path w="218430" h="108772" fill="none" extrusionOk="0">
                  <a:moveTo>
                    <a:pt x="109215" y="1"/>
                  </a:moveTo>
                  <a:lnTo>
                    <a:pt x="0" y="52832"/>
                  </a:lnTo>
                  <a:lnTo>
                    <a:pt x="109215" y="108771"/>
                  </a:lnTo>
                  <a:lnTo>
                    <a:pt x="218429" y="52832"/>
                  </a:lnTo>
                  <a:close/>
                </a:path>
              </a:pathLst>
            </a:custGeom>
            <a:grpFill/>
            <a:ln w="9525" cap="flat" cmpd="sng">
              <a:solidFill>
                <a:schemeClr val="tx2">
                  <a:lumMod val="75000"/>
                </a:schemeClr>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8602;p82">
              <a:extLst>
                <a:ext uri="{FF2B5EF4-FFF2-40B4-BE49-F238E27FC236}">
                  <a16:creationId xmlns:a16="http://schemas.microsoft.com/office/drawing/2014/main" id="{5408DB66-3FD5-4A67-9F2F-A1280596F9C9}"/>
                </a:ext>
              </a:extLst>
            </p:cNvPr>
            <p:cNvSpPr/>
            <p:nvPr/>
          </p:nvSpPr>
          <p:spPr>
            <a:xfrm>
              <a:off x="6501500" y="1464200"/>
              <a:ext cx="310800" cy="261550"/>
            </a:xfrm>
            <a:custGeom>
              <a:avLst/>
              <a:gdLst/>
              <a:ahLst/>
              <a:cxnLst/>
              <a:rect l="l" t="t" r="r" b="b"/>
              <a:pathLst>
                <a:path w="12432" h="10462" extrusionOk="0">
                  <a:moveTo>
                    <a:pt x="4963" y="1"/>
                  </a:moveTo>
                  <a:cubicBezTo>
                    <a:pt x="2239" y="1"/>
                    <a:pt x="0" y="2357"/>
                    <a:pt x="0" y="5120"/>
                  </a:cubicBezTo>
                  <a:cubicBezTo>
                    <a:pt x="0" y="8097"/>
                    <a:pt x="2036" y="10462"/>
                    <a:pt x="4938" y="10462"/>
                  </a:cubicBezTo>
                  <a:cubicBezTo>
                    <a:pt x="5066" y="10462"/>
                    <a:pt x="5196" y="10457"/>
                    <a:pt x="5328" y="10448"/>
                  </a:cubicBezTo>
                  <a:cubicBezTo>
                    <a:pt x="9989" y="10448"/>
                    <a:pt x="12431" y="4898"/>
                    <a:pt x="8879" y="1569"/>
                  </a:cubicBezTo>
                  <a:cubicBezTo>
                    <a:pt x="7991" y="459"/>
                    <a:pt x="6660" y="15"/>
                    <a:pt x="5328" y="15"/>
                  </a:cubicBezTo>
                  <a:cubicBezTo>
                    <a:pt x="5205" y="5"/>
                    <a:pt x="5084" y="1"/>
                    <a:pt x="4963" y="1"/>
                  </a:cubicBezTo>
                  <a:close/>
                </a:path>
              </a:pathLst>
            </a:custGeom>
            <a:grp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TextBox 20">
            <a:extLst>
              <a:ext uri="{FF2B5EF4-FFF2-40B4-BE49-F238E27FC236}">
                <a16:creationId xmlns:a16="http://schemas.microsoft.com/office/drawing/2014/main" id="{E60495FB-4937-610A-E41D-1E49DC853EA5}"/>
              </a:ext>
            </a:extLst>
          </p:cNvPr>
          <p:cNvSpPr txBox="1"/>
          <p:nvPr/>
        </p:nvSpPr>
        <p:spPr>
          <a:xfrm>
            <a:off x="2107140" y="3310774"/>
            <a:ext cx="710451" cy="738664"/>
          </a:xfrm>
          <a:prstGeom prst="rect">
            <a:avLst/>
          </a:prstGeom>
          <a:noFill/>
        </p:spPr>
        <p:txBody>
          <a:bodyPr wrap="none" rtlCol="0">
            <a:spAutoFit/>
          </a:bodyPr>
          <a:lstStyle/>
          <a:p>
            <a:r>
              <a:rPr lang="en-US" sz="1050" b="1" dirty="0">
                <a:latin typeface="DM Sans" pitchFamily="2" charset="0"/>
              </a:rPr>
              <a:t>x0 – w0</a:t>
            </a:r>
          </a:p>
          <a:p>
            <a:r>
              <a:rPr lang="en-US" sz="1050" b="1" dirty="0">
                <a:latin typeface="DM Sans" pitchFamily="2" charset="0"/>
              </a:rPr>
              <a:t>x1 – w1</a:t>
            </a:r>
          </a:p>
          <a:p>
            <a:r>
              <a:rPr lang="en-US" sz="1050" b="1" dirty="0">
                <a:latin typeface="DM Sans" pitchFamily="2" charset="0"/>
              </a:rPr>
              <a:t>…</a:t>
            </a:r>
          </a:p>
          <a:p>
            <a:r>
              <a:rPr lang="en-US" sz="1050" b="1" dirty="0">
                <a:latin typeface="DM Sans" pitchFamily="2" charset="0"/>
              </a:rPr>
              <a:t>x7 – w7</a:t>
            </a:r>
            <a:endParaRPr lang="en-GB" sz="1050" b="1" dirty="0">
              <a:latin typeface="DM Sans" pitchFamily="2" charset="0"/>
            </a:endParaRPr>
          </a:p>
        </p:txBody>
      </p:sp>
      <p:sp>
        <p:nvSpPr>
          <p:cNvPr id="22" name="Right Bracket 21">
            <a:extLst>
              <a:ext uri="{FF2B5EF4-FFF2-40B4-BE49-F238E27FC236}">
                <a16:creationId xmlns:a16="http://schemas.microsoft.com/office/drawing/2014/main" id="{E140A538-A841-FEBE-8899-847C70181DF6}"/>
              </a:ext>
            </a:extLst>
          </p:cNvPr>
          <p:cNvSpPr/>
          <p:nvPr/>
        </p:nvSpPr>
        <p:spPr>
          <a:xfrm>
            <a:off x="3327591" y="3485720"/>
            <a:ext cx="288819" cy="1113781"/>
          </a:xfrm>
          <a:prstGeom prst="rightBracket">
            <a:avLst>
              <a:gd name="adj" fmla="val 32575"/>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23" name="Google Shape;1686;p78">
            <a:extLst>
              <a:ext uri="{FF2B5EF4-FFF2-40B4-BE49-F238E27FC236}">
                <a16:creationId xmlns:a16="http://schemas.microsoft.com/office/drawing/2014/main" id="{069184A1-82AC-ADE8-4C72-9F69693C4A3A}"/>
              </a:ext>
            </a:extLst>
          </p:cNvPr>
          <p:cNvSpPr/>
          <p:nvPr/>
        </p:nvSpPr>
        <p:spPr>
          <a:xfrm>
            <a:off x="3677565" y="3971281"/>
            <a:ext cx="105888" cy="132668"/>
          </a:xfrm>
          <a:custGeom>
            <a:avLst/>
            <a:gdLst/>
            <a:ahLst/>
            <a:cxnLst/>
            <a:rect l="l" t="t" r="r" b="b"/>
            <a:pathLst>
              <a:path w="1739" h="2179" extrusionOk="0">
                <a:moveTo>
                  <a:pt x="1" y="1"/>
                </a:moveTo>
                <a:lnTo>
                  <a:pt x="1" y="2179"/>
                </a:lnTo>
                <a:lnTo>
                  <a:pt x="758" y="2179"/>
                </a:lnTo>
                <a:lnTo>
                  <a:pt x="1739" y="1090"/>
                </a:lnTo>
                <a:lnTo>
                  <a:pt x="758" y="1"/>
                </a:lnTo>
                <a:close/>
              </a:path>
            </a:pathLst>
          </a:custGeom>
          <a:noFill/>
          <a:ln w="1270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07;p44">
            <a:extLst>
              <a:ext uri="{FF2B5EF4-FFF2-40B4-BE49-F238E27FC236}">
                <a16:creationId xmlns:a16="http://schemas.microsoft.com/office/drawing/2014/main" id="{5C6F6B3C-650D-D8BC-760D-67784A2447E1}"/>
              </a:ext>
            </a:extLst>
          </p:cNvPr>
          <p:cNvSpPr txBox="1">
            <a:spLocks/>
          </p:cNvSpPr>
          <p:nvPr/>
        </p:nvSpPr>
        <p:spPr>
          <a:xfrm>
            <a:off x="3780429" y="3813707"/>
            <a:ext cx="4643571" cy="44002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Outfit"/>
                <a:ea typeface="Outfit"/>
                <a:cs typeface="Outfit"/>
                <a:sym typeface="Outfit"/>
              </a:defRPr>
            </a:lvl1pPr>
            <a:lvl2pPr marL="914400" marR="0" lvl="1"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en-US" sz="1400" dirty="0">
                <a:latin typeface="DM Sans" pitchFamily="2" charset="0"/>
              </a:rPr>
              <a:t>Sum          + Bias          Activation          Output</a:t>
            </a:r>
            <a:endParaRPr lang="en-GB" sz="1400" dirty="0">
              <a:latin typeface="DM Sans" pitchFamily="2" charset="0"/>
            </a:endParaRPr>
          </a:p>
        </p:txBody>
      </p:sp>
      <p:sp>
        <p:nvSpPr>
          <p:cNvPr id="26" name="Google Shape;1686;p78">
            <a:extLst>
              <a:ext uri="{FF2B5EF4-FFF2-40B4-BE49-F238E27FC236}">
                <a16:creationId xmlns:a16="http://schemas.microsoft.com/office/drawing/2014/main" id="{8A9D79D8-C284-3250-0545-64B8BB3B3957}"/>
              </a:ext>
            </a:extLst>
          </p:cNvPr>
          <p:cNvSpPr/>
          <p:nvPr/>
        </p:nvSpPr>
        <p:spPr>
          <a:xfrm>
            <a:off x="4422118" y="3983104"/>
            <a:ext cx="105888" cy="132668"/>
          </a:xfrm>
          <a:custGeom>
            <a:avLst/>
            <a:gdLst/>
            <a:ahLst/>
            <a:cxnLst/>
            <a:rect l="l" t="t" r="r" b="b"/>
            <a:pathLst>
              <a:path w="1739" h="2179" extrusionOk="0">
                <a:moveTo>
                  <a:pt x="1" y="1"/>
                </a:moveTo>
                <a:lnTo>
                  <a:pt x="1" y="2179"/>
                </a:lnTo>
                <a:lnTo>
                  <a:pt x="758" y="2179"/>
                </a:lnTo>
                <a:lnTo>
                  <a:pt x="1739" y="1090"/>
                </a:lnTo>
                <a:lnTo>
                  <a:pt x="758" y="1"/>
                </a:lnTo>
                <a:close/>
              </a:path>
            </a:pathLst>
          </a:custGeom>
          <a:noFill/>
          <a:ln w="1270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686;p78">
            <a:extLst>
              <a:ext uri="{FF2B5EF4-FFF2-40B4-BE49-F238E27FC236}">
                <a16:creationId xmlns:a16="http://schemas.microsoft.com/office/drawing/2014/main" id="{30424DA2-66B5-C7EB-E9DE-D4230A03B1CD}"/>
              </a:ext>
            </a:extLst>
          </p:cNvPr>
          <p:cNvSpPr/>
          <p:nvPr/>
        </p:nvSpPr>
        <p:spPr>
          <a:xfrm>
            <a:off x="5339093" y="3983643"/>
            <a:ext cx="105888" cy="132668"/>
          </a:xfrm>
          <a:custGeom>
            <a:avLst/>
            <a:gdLst/>
            <a:ahLst/>
            <a:cxnLst/>
            <a:rect l="l" t="t" r="r" b="b"/>
            <a:pathLst>
              <a:path w="1739" h="2179" extrusionOk="0">
                <a:moveTo>
                  <a:pt x="1" y="1"/>
                </a:moveTo>
                <a:lnTo>
                  <a:pt x="1" y="2179"/>
                </a:lnTo>
                <a:lnTo>
                  <a:pt x="758" y="2179"/>
                </a:lnTo>
                <a:lnTo>
                  <a:pt x="1739" y="1090"/>
                </a:lnTo>
                <a:lnTo>
                  <a:pt x="758" y="1"/>
                </a:lnTo>
                <a:close/>
              </a:path>
            </a:pathLst>
          </a:custGeom>
          <a:noFill/>
          <a:ln w="1270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686;p78">
            <a:extLst>
              <a:ext uri="{FF2B5EF4-FFF2-40B4-BE49-F238E27FC236}">
                <a16:creationId xmlns:a16="http://schemas.microsoft.com/office/drawing/2014/main" id="{AAB9C12E-859E-BB92-7637-8E704C03D22D}"/>
              </a:ext>
            </a:extLst>
          </p:cNvPr>
          <p:cNvSpPr/>
          <p:nvPr/>
        </p:nvSpPr>
        <p:spPr>
          <a:xfrm>
            <a:off x="6662541" y="3983848"/>
            <a:ext cx="105888" cy="132668"/>
          </a:xfrm>
          <a:custGeom>
            <a:avLst/>
            <a:gdLst/>
            <a:ahLst/>
            <a:cxnLst/>
            <a:rect l="l" t="t" r="r" b="b"/>
            <a:pathLst>
              <a:path w="1739" h="2179" extrusionOk="0">
                <a:moveTo>
                  <a:pt x="1" y="1"/>
                </a:moveTo>
                <a:lnTo>
                  <a:pt x="1" y="2179"/>
                </a:lnTo>
                <a:lnTo>
                  <a:pt x="758" y="2179"/>
                </a:lnTo>
                <a:lnTo>
                  <a:pt x="1739" y="1090"/>
                </a:lnTo>
                <a:lnTo>
                  <a:pt x="758" y="1"/>
                </a:lnTo>
                <a:close/>
              </a:path>
            </a:pathLst>
          </a:custGeom>
          <a:noFill/>
          <a:ln w="1270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40"/>
          <p:cNvSpPr txBox="1">
            <a:spLocks noGrp="1"/>
          </p:cNvSpPr>
          <p:nvPr>
            <p:ph type="title"/>
          </p:nvPr>
        </p:nvSpPr>
        <p:spPr>
          <a:xfrm>
            <a:off x="713225" y="2384250"/>
            <a:ext cx="4344300" cy="915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RTL Design</a:t>
            </a:r>
            <a:endParaRPr dirty="0"/>
          </a:p>
        </p:txBody>
      </p:sp>
      <p:sp>
        <p:nvSpPr>
          <p:cNvPr id="430" name="Google Shape;430;p40"/>
          <p:cNvSpPr txBox="1">
            <a:spLocks noGrp="1"/>
          </p:cNvSpPr>
          <p:nvPr>
            <p:ph type="title" idx="2"/>
          </p:nvPr>
        </p:nvSpPr>
        <p:spPr>
          <a:xfrm>
            <a:off x="713225" y="1468350"/>
            <a:ext cx="12642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
        <p:nvSpPr>
          <p:cNvPr id="431" name="Google Shape;431;p40"/>
          <p:cNvSpPr txBox="1">
            <a:spLocks noGrp="1"/>
          </p:cNvSpPr>
          <p:nvPr>
            <p:ph type="subTitle" idx="1"/>
          </p:nvPr>
        </p:nvSpPr>
        <p:spPr>
          <a:xfrm>
            <a:off x="713224" y="3300150"/>
            <a:ext cx="5195482" cy="150045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GB" dirty="0"/>
              <a:t>The design is implemented using modular Verilog blocks including communication, datapath, and control logic integrated into a top-level architecture.</a:t>
            </a:r>
            <a:endParaRPr dirty="0"/>
          </a:p>
        </p:txBody>
      </p:sp>
      <p:grpSp>
        <p:nvGrpSpPr>
          <p:cNvPr id="432" name="Google Shape;432;p40"/>
          <p:cNvGrpSpPr/>
          <p:nvPr/>
        </p:nvGrpSpPr>
        <p:grpSpPr>
          <a:xfrm>
            <a:off x="5104880" y="-153372"/>
            <a:ext cx="4218588" cy="6000578"/>
            <a:chOff x="5104880" y="-153372"/>
            <a:chExt cx="4218588" cy="6000578"/>
          </a:xfrm>
        </p:grpSpPr>
        <p:sp>
          <p:nvSpPr>
            <p:cNvPr id="433" name="Google Shape;433;p40"/>
            <p:cNvSpPr/>
            <p:nvPr/>
          </p:nvSpPr>
          <p:spPr>
            <a:xfrm>
              <a:off x="7074911" y="25473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0"/>
            <p:cNvSpPr/>
            <p:nvPr/>
          </p:nvSpPr>
          <p:spPr>
            <a:xfrm>
              <a:off x="7026089" y="-1533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0"/>
            <p:cNvSpPr/>
            <p:nvPr/>
          </p:nvSpPr>
          <p:spPr>
            <a:xfrm>
              <a:off x="6606684" y="3184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0"/>
            <p:cNvSpPr/>
            <p:nvPr/>
          </p:nvSpPr>
          <p:spPr>
            <a:xfrm>
              <a:off x="6138958" y="13708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0"/>
            <p:cNvSpPr/>
            <p:nvPr/>
          </p:nvSpPr>
          <p:spPr>
            <a:xfrm>
              <a:off x="5732458" y="87452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0"/>
            <p:cNvSpPr/>
            <p:nvPr/>
          </p:nvSpPr>
          <p:spPr>
            <a:xfrm>
              <a:off x="7480889" y="98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0"/>
            <p:cNvSpPr/>
            <p:nvPr/>
          </p:nvSpPr>
          <p:spPr>
            <a:xfrm>
              <a:off x="7074904" y="207505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0"/>
            <p:cNvSpPr/>
            <p:nvPr/>
          </p:nvSpPr>
          <p:spPr>
            <a:xfrm>
              <a:off x="7962441" y="140407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0"/>
            <p:cNvSpPr/>
            <p:nvPr/>
          </p:nvSpPr>
          <p:spPr>
            <a:xfrm rot="10800000" flipH="1">
              <a:off x="6355205" y="41020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0"/>
            <p:cNvSpPr/>
            <p:nvPr/>
          </p:nvSpPr>
          <p:spPr>
            <a:xfrm rot="10800000" flipH="1">
              <a:off x="5732459" y="48790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0"/>
            <p:cNvSpPr/>
            <p:nvPr/>
          </p:nvSpPr>
          <p:spPr>
            <a:xfrm rot="10800000" flipH="1">
              <a:off x="6683197" y="351549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40"/>
            <p:cNvSpPr/>
            <p:nvPr/>
          </p:nvSpPr>
          <p:spPr>
            <a:xfrm rot="10800000" flipH="1">
              <a:off x="5104880"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0"/>
            <p:cNvSpPr/>
            <p:nvPr/>
          </p:nvSpPr>
          <p:spPr>
            <a:xfrm>
              <a:off x="8484758" y="243811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0"/>
            <p:cNvSpPr/>
            <p:nvPr/>
          </p:nvSpPr>
          <p:spPr>
            <a:xfrm>
              <a:off x="8038260" y="29212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p:cNvSpPr/>
            <p:nvPr/>
          </p:nvSpPr>
          <p:spPr>
            <a:xfrm rot="10800000" flipH="1">
              <a:off x="7853362" y="396220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p:cNvSpPr/>
            <p:nvPr/>
          </p:nvSpPr>
          <p:spPr>
            <a:xfrm rot="10800000" flipH="1">
              <a:off x="8261505"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50" name="Google Shape;450;p40"/>
          <p:cNvCxnSpPr/>
          <p:nvPr/>
        </p:nvCxnSpPr>
        <p:spPr>
          <a:xfrm>
            <a:off x="841250" y="1385850"/>
            <a:ext cx="373500"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2830420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cxnSp>
        <p:nvCxnSpPr>
          <p:cNvPr id="583" name="Connector: Elbow 582">
            <a:extLst>
              <a:ext uri="{FF2B5EF4-FFF2-40B4-BE49-F238E27FC236}">
                <a16:creationId xmlns:a16="http://schemas.microsoft.com/office/drawing/2014/main" id="{1C160328-1692-AEFF-E849-EA52EC86061B}"/>
              </a:ext>
            </a:extLst>
          </p:cNvPr>
          <p:cNvCxnSpPr>
            <a:cxnSpLocks/>
          </p:cNvCxnSpPr>
          <p:nvPr/>
        </p:nvCxnSpPr>
        <p:spPr>
          <a:xfrm flipV="1">
            <a:off x="2827454" y="1678415"/>
            <a:ext cx="944597" cy="504434"/>
          </a:xfrm>
          <a:prstGeom prst="bentConnector3">
            <a:avLst>
              <a:gd name="adj1" fmla="val 100221"/>
            </a:avLst>
          </a:prstGeom>
          <a:ln w="12700">
            <a:solidFill>
              <a:srgbClr val="A2A3A7"/>
            </a:solidFill>
          </a:ln>
        </p:spPr>
        <p:style>
          <a:lnRef idx="1">
            <a:schemeClr val="accent1"/>
          </a:lnRef>
          <a:fillRef idx="0">
            <a:schemeClr val="accent1"/>
          </a:fillRef>
          <a:effectRef idx="0">
            <a:schemeClr val="accent1"/>
          </a:effectRef>
          <a:fontRef idx="minor">
            <a:schemeClr val="tx1"/>
          </a:fontRef>
        </p:style>
      </p:cxnSp>
      <p:cxnSp>
        <p:nvCxnSpPr>
          <p:cNvPr id="586" name="Connector: Elbow 585">
            <a:extLst>
              <a:ext uri="{FF2B5EF4-FFF2-40B4-BE49-F238E27FC236}">
                <a16:creationId xmlns:a16="http://schemas.microsoft.com/office/drawing/2014/main" id="{D10D43F5-E07E-3583-B952-E12A6C6B21D3}"/>
              </a:ext>
            </a:extLst>
          </p:cNvPr>
          <p:cNvCxnSpPr>
            <a:cxnSpLocks/>
          </p:cNvCxnSpPr>
          <p:nvPr/>
        </p:nvCxnSpPr>
        <p:spPr>
          <a:xfrm rot="10800000">
            <a:off x="5371523" y="1707627"/>
            <a:ext cx="944544" cy="475223"/>
          </a:xfrm>
          <a:prstGeom prst="bentConnector3">
            <a:avLst>
              <a:gd name="adj1" fmla="val 99496"/>
            </a:avLst>
          </a:prstGeom>
          <a:ln w="12700">
            <a:solidFill>
              <a:srgbClr val="A2A3A7"/>
            </a:solidFill>
          </a:ln>
        </p:spPr>
        <p:style>
          <a:lnRef idx="1">
            <a:schemeClr val="accent1"/>
          </a:lnRef>
          <a:fillRef idx="0">
            <a:schemeClr val="accent1"/>
          </a:fillRef>
          <a:effectRef idx="0">
            <a:schemeClr val="accent1"/>
          </a:effectRef>
          <a:fontRef idx="minor">
            <a:schemeClr val="tx1"/>
          </a:fontRef>
        </p:style>
      </p:cxnSp>
      <p:sp>
        <p:nvSpPr>
          <p:cNvPr id="526" name="Google Shape;526;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RTL Design Overview</a:t>
            </a:r>
            <a:endParaRPr dirty="0"/>
          </a:p>
        </p:txBody>
      </p:sp>
      <p:grpSp>
        <p:nvGrpSpPr>
          <p:cNvPr id="32" name="Google Shape;8093;p80">
            <a:extLst>
              <a:ext uri="{FF2B5EF4-FFF2-40B4-BE49-F238E27FC236}">
                <a16:creationId xmlns:a16="http://schemas.microsoft.com/office/drawing/2014/main" id="{DB1DBB97-AD2C-3CDB-7E2C-FF0720584CDA}"/>
              </a:ext>
            </a:extLst>
          </p:cNvPr>
          <p:cNvGrpSpPr/>
          <p:nvPr/>
        </p:nvGrpSpPr>
        <p:grpSpPr>
          <a:xfrm>
            <a:off x="2162676" y="1317180"/>
            <a:ext cx="4818648" cy="3381295"/>
            <a:chOff x="2389399" y="2595741"/>
            <a:chExt cx="812796" cy="801369"/>
          </a:xfrm>
        </p:grpSpPr>
        <p:grpSp>
          <p:nvGrpSpPr>
            <p:cNvPr id="33" name="Google Shape;8094;p80">
              <a:extLst>
                <a:ext uri="{FF2B5EF4-FFF2-40B4-BE49-F238E27FC236}">
                  <a16:creationId xmlns:a16="http://schemas.microsoft.com/office/drawing/2014/main" id="{638E26F1-6F90-3184-F2FD-0611C2960487}"/>
                </a:ext>
              </a:extLst>
            </p:cNvPr>
            <p:cNvGrpSpPr/>
            <p:nvPr/>
          </p:nvGrpSpPr>
          <p:grpSpPr>
            <a:xfrm>
              <a:off x="2492145" y="2881565"/>
              <a:ext cx="607300" cy="229751"/>
              <a:chOff x="2492145" y="2881565"/>
              <a:chExt cx="607300" cy="229751"/>
            </a:xfrm>
          </p:grpSpPr>
          <p:sp>
            <p:nvSpPr>
              <p:cNvPr id="569" name="Google Shape;8095;p80">
                <a:extLst>
                  <a:ext uri="{FF2B5EF4-FFF2-40B4-BE49-F238E27FC236}">
                    <a16:creationId xmlns:a16="http://schemas.microsoft.com/office/drawing/2014/main" id="{55B35FB8-0327-35E1-D9CC-2D1F00107CFF}"/>
                  </a:ext>
                </a:extLst>
              </p:cNvPr>
              <p:cNvSpPr/>
              <p:nvPr/>
            </p:nvSpPr>
            <p:spPr>
              <a:xfrm>
                <a:off x="2530550" y="2913581"/>
                <a:ext cx="530589" cy="165697"/>
              </a:xfrm>
              <a:custGeom>
                <a:avLst/>
                <a:gdLst/>
                <a:ahLst/>
                <a:cxnLst/>
                <a:rect l="l" t="t" r="r" b="b"/>
                <a:pathLst>
                  <a:path w="116549" h="36397" extrusionOk="0">
                    <a:moveTo>
                      <a:pt x="18199" y="1"/>
                    </a:moveTo>
                    <a:cubicBezTo>
                      <a:pt x="8148" y="1"/>
                      <a:pt x="1" y="8148"/>
                      <a:pt x="1" y="18198"/>
                    </a:cubicBezTo>
                    <a:cubicBezTo>
                      <a:pt x="1" y="28249"/>
                      <a:pt x="8148" y="36396"/>
                      <a:pt x="18199" y="36396"/>
                    </a:cubicBezTo>
                    <a:lnTo>
                      <a:pt x="98350" y="36396"/>
                    </a:lnTo>
                    <a:cubicBezTo>
                      <a:pt x="108401" y="36396"/>
                      <a:pt x="116548" y="28249"/>
                      <a:pt x="116548" y="18198"/>
                    </a:cubicBezTo>
                    <a:cubicBezTo>
                      <a:pt x="116548" y="8148"/>
                      <a:pt x="108401" y="1"/>
                      <a:pt x="98350" y="1"/>
                    </a:cubicBezTo>
                    <a:close/>
                  </a:path>
                </a:pathLst>
              </a:custGeom>
              <a:noFill/>
              <a:ln w="9525" cap="flat" cmpd="sng">
                <a:solidFill>
                  <a:srgbClr val="A5B7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8096;p80">
                <a:extLst>
                  <a:ext uri="{FF2B5EF4-FFF2-40B4-BE49-F238E27FC236}">
                    <a16:creationId xmlns:a16="http://schemas.microsoft.com/office/drawing/2014/main" id="{CEB6FC9B-AA26-DA09-A229-02FCEAE9D4B5}"/>
                  </a:ext>
                </a:extLst>
              </p:cNvPr>
              <p:cNvSpPr/>
              <p:nvPr/>
            </p:nvSpPr>
            <p:spPr>
              <a:xfrm>
                <a:off x="2886492" y="2881565"/>
                <a:ext cx="212952" cy="229751"/>
              </a:xfrm>
              <a:custGeom>
                <a:avLst/>
                <a:gdLst/>
                <a:ahLst/>
                <a:cxnLst/>
                <a:rect l="l" t="t" r="r" b="b"/>
                <a:pathLst>
                  <a:path w="46777" h="50467" extrusionOk="0">
                    <a:moveTo>
                      <a:pt x="1" y="1"/>
                    </a:moveTo>
                    <a:lnTo>
                      <a:pt x="1" y="1458"/>
                    </a:lnTo>
                    <a:lnTo>
                      <a:pt x="21544" y="1458"/>
                    </a:lnTo>
                    <a:cubicBezTo>
                      <a:pt x="34653" y="1458"/>
                      <a:pt x="45320" y="12123"/>
                      <a:pt x="45320" y="25233"/>
                    </a:cubicBezTo>
                    <a:cubicBezTo>
                      <a:pt x="45320" y="38344"/>
                      <a:pt x="34653" y="49009"/>
                      <a:pt x="21544" y="49009"/>
                    </a:cubicBezTo>
                    <a:lnTo>
                      <a:pt x="1" y="49009"/>
                    </a:lnTo>
                    <a:lnTo>
                      <a:pt x="1" y="50466"/>
                    </a:lnTo>
                    <a:lnTo>
                      <a:pt x="21544" y="50466"/>
                    </a:lnTo>
                    <a:cubicBezTo>
                      <a:pt x="35457" y="50466"/>
                      <a:pt x="46776" y="39146"/>
                      <a:pt x="46776" y="25233"/>
                    </a:cubicBezTo>
                    <a:cubicBezTo>
                      <a:pt x="46776" y="11322"/>
                      <a:pt x="35457" y="1"/>
                      <a:pt x="21544" y="1"/>
                    </a:cubicBezTo>
                    <a:close/>
                  </a:path>
                </a:pathLst>
              </a:custGeom>
              <a:solidFill>
                <a:srgbClr val="9697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8097;p80">
                <a:extLst>
                  <a:ext uri="{FF2B5EF4-FFF2-40B4-BE49-F238E27FC236}">
                    <a16:creationId xmlns:a16="http://schemas.microsoft.com/office/drawing/2014/main" id="{06423D8E-24FE-AC84-233B-22B4F4D21709}"/>
                  </a:ext>
                </a:extLst>
              </p:cNvPr>
              <p:cNvSpPr/>
              <p:nvPr/>
            </p:nvSpPr>
            <p:spPr>
              <a:xfrm>
                <a:off x="2492145" y="2881565"/>
                <a:ext cx="212934" cy="229751"/>
              </a:xfrm>
              <a:custGeom>
                <a:avLst/>
                <a:gdLst/>
                <a:ahLst/>
                <a:cxnLst/>
                <a:rect l="l" t="t" r="r" b="b"/>
                <a:pathLst>
                  <a:path w="46773" h="50467" extrusionOk="0">
                    <a:moveTo>
                      <a:pt x="25232" y="1"/>
                    </a:moveTo>
                    <a:cubicBezTo>
                      <a:pt x="11319" y="1"/>
                      <a:pt x="0" y="11322"/>
                      <a:pt x="0" y="25233"/>
                    </a:cubicBezTo>
                    <a:cubicBezTo>
                      <a:pt x="0" y="39146"/>
                      <a:pt x="11319" y="50466"/>
                      <a:pt x="25232" y="50466"/>
                    </a:cubicBezTo>
                    <a:lnTo>
                      <a:pt x="46773" y="50466"/>
                    </a:lnTo>
                    <a:lnTo>
                      <a:pt x="46773" y="49007"/>
                    </a:lnTo>
                    <a:lnTo>
                      <a:pt x="25232" y="49007"/>
                    </a:lnTo>
                    <a:cubicBezTo>
                      <a:pt x="12124" y="49007"/>
                      <a:pt x="1456" y="38344"/>
                      <a:pt x="1456" y="25233"/>
                    </a:cubicBezTo>
                    <a:cubicBezTo>
                      <a:pt x="1456" y="12123"/>
                      <a:pt x="12124" y="1457"/>
                      <a:pt x="25232" y="1457"/>
                    </a:cubicBezTo>
                    <a:lnTo>
                      <a:pt x="46773" y="1457"/>
                    </a:lnTo>
                    <a:lnTo>
                      <a:pt x="46773" y="1"/>
                    </a:lnTo>
                    <a:close/>
                  </a:path>
                </a:pathLst>
              </a:custGeom>
              <a:solidFill>
                <a:srgbClr val="9697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 name="Google Shape;8098;p80">
              <a:extLst>
                <a:ext uri="{FF2B5EF4-FFF2-40B4-BE49-F238E27FC236}">
                  <a16:creationId xmlns:a16="http://schemas.microsoft.com/office/drawing/2014/main" id="{80E98AFB-B088-8BE1-3805-B3024E4CF102}"/>
                </a:ext>
              </a:extLst>
            </p:cNvPr>
            <p:cNvGrpSpPr/>
            <p:nvPr/>
          </p:nvGrpSpPr>
          <p:grpSpPr>
            <a:xfrm>
              <a:off x="2389399" y="2595741"/>
              <a:ext cx="812796" cy="296825"/>
              <a:chOff x="2389399" y="2595741"/>
              <a:chExt cx="812796" cy="296825"/>
            </a:xfrm>
          </p:grpSpPr>
          <p:grpSp>
            <p:nvGrpSpPr>
              <p:cNvPr id="60" name="Google Shape;8099;p80">
                <a:extLst>
                  <a:ext uri="{FF2B5EF4-FFF2-40B4-BE49-F238E27FC236}">
                    <a16:creationId xmlns:a16="http://schemas.microsoft.com/office/drawing/2014/main" id="{1FF6A669-212B-CB9D-661C-9FD4AC278095}"/>
                  </a:ext>
                </a:extLst>
              </p:cNvPr>
              <p:cNvGrpSpPr/>
              <p:nvPr/>
            </p:nvGrpSpPr>
            <p:grpSpPr>
              <a:xfrm>
                <a:off x="2389399" y="2595741"/>
                <a:ext cx="280547" cy="213948"/>
                <a:chOff x="2389399" y="2595741"/>
                <a:chExt cx="280547" cy="213948"/>
              </a:xfrm>
            </p:grpSpPr>
            <p:grpSp>
              <p:nvGrpSpPr>
                <p:cNvPr id="525" name="Google Shape;8100;p80">
                  <a:extLst>
                    <a:ext uri="{FF2B5EF4-FFF2-40B4-BE49-F238E27FC236}">
                      <a16:creationId xmlns:a16="http://schemas.microsoft.com/office/drawing/2014/main" id="{AC7D872F-915C-5F78-0980-9A28D658AF5D}"/>
                    </a:ext>
                  </a:extLst>
                </p:cNvPr>
                <p:cNvGrpSpPr/>
                <p:nvPr/>
              </p:nvGrpSpPr>
              <p:grpSpPr>
                <a:xfrm>
                  <a:off x="2493852" y="2678503"/>
                  <a:ext cx="176094" cy="131186"/>
                  <a:chOff x="2493852" y="2678503"/>
                  <a:chExt cx="176094" cy="131186"/>
                </a:xfrm>
              </p:grpSpPr>
              <p:sp>
                <p:nvSpPr>
                  <p:cNvPr id="567" name="Google Shape;8102;p80">
                    <a:extLst>
                      <a:ext uri="{FF2B5EF4-FFF2-40B4-BE49-F238E27FC236}">
                        <a16:creationId xmlns:a16="http://schemas.microsoft.com/office/drawing/2014/main" id="{5B144517-5A61-9C3B-032D-F3DBB3F0B781}"/>
                      </a:ext>
                    </a:extLst>
                  </p:cNvPr>
                  <p:cNvSpPr/>
                  <p:nvPr/>
                </p:nvSpPr>
                <p:spPr>
                  <a:xfrm>
                    <a:off x="2493852" y="2794333"/>
                    <a:ext cx="15360" cy="15356"/>
                  </a:xfrm>
                  <a:custGeom>
                    <a:avLst/>
                    <a:gdLst/>
                    <a:ahLst/>
                    <a:cxnLst/>
                    <a:rect l="l" t="t" r="r" b="b"/>
                    <a:pathLst>
                      <a:path w="3374" h="3373" extrusionOk="0">
                        <a:moveTo>
                          <a:pt x="1687" y="0"/>
                        </a:moveTo>
                        <a:cubicBezTo>
                          <a:pt x="755" y="0"/>
                          <a:pt x="1" y="754"/>
                          <a:pt x="1" y="1687"/>
                        </a:cubicBezTo>
                        <a:cubicBezTo>
                          <a:pt x="1" y="2619"/>
                          <a:pt x="755" y="3373"/>
                          <a:pt x="1687" y="3373"/>
                        </a:cubicBezTo>
                        <a:cubicBezTo>
                          <a:pt x="2619" y="3370"/>
                          <a:pt x="3374" y="2617"/>
                          <a:pt x="3374" y="1687"/>
                        </a:cubicBezTo>
                        <a:cubicBezTo>
                          <a:pt x="3374" y="754"/>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8103;p80">
                    <a:extLst>
                      <a:ext uri="{FF2B5EF4-FFF2-40B4-BE49-F238E27FC236}">
                        <a16:creationId xmlns:a16="http://schemas.microsoft.com/office/drawing/2014/main" id="{97FDC612-C85D-F03E-51AA-C63FB6D04C5C}"/>
                      </a:ext>
                    </a:extLst>
                  </p:cNvPr>
                  <p:cNvSpPr/>
                  <p:nvPr/>
                </p:nvSpPr>
                <p:spPr>
                  <a:xfrm>
                    <a:off x="2654595" y="2678503"/>
                    <a:ext cx="15351" cy="15356"/>
                  </a:xfrm>
                  <a:custGeom>
                    <a:avLst/>
                    <a:gdLst/>
                    <a:ahLst/>
                    <a:cxnLst/>
                    <a:rect l="l" t="t" r="r" b="b"/>
                    <a:pathLst>
                      <a:path w="3372" h="3373" extrusionOk="0">
                        <a:moveTo>
                          <a:pt x="1687" y="1"/>
                        </a:moveTo>
                        <a:cubicBezTo>
                          <a:pt x="755" y="1"/>
                          <a:pt x="1" y="754"/>
                          <a:pt x="1" y="1686"/>
                        </a:cubicBezTo>
                        <a:cubicBezTo>
                          <a:pt x="1" y="2618"/>
                          <a:pt x="755" y="3372"/>
                          <a:pt x="1687" y="3372"/>
                        </a:cubicBezTo>
                        <a:cubicBezTo>
                          <a:pt x="2619" y="3372"/>
                          <a:pt x="3372" y="2616"/>
                          <a:pt x="3372" y="1686"/>
                        </a:cubicBezTo>
                        <a:cubicBezTo>
                          <a:pt x="3372" y="754"/>
                          <a:pt x="2619"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3" name="Google Shape;8104;p80">
                  <a:extLst>
                    <a:ext uri="{FF2B5EF4-FFF2-40B4-BE49-F238E27FC236}">
                      <a16:creationId xmlns:a16="http://schemas.microsoft.com/office/drawing/2014/main" id="{17A6EF22-C4A8-D3FA-ED49-3E316FB03AAC}"/>
                    </a:ext>
                  </a:extLst>
                </p:cNvPr>
                <p:cNvGrpSpPr/>
                <p:nvPr/>
              </p:nvGrpSpPr>
              <p:grpSpPr>
                <a:xfrm>
                  <a:off x="2389399" y="2595741"/>
                  <a:ext cx="224343" cy="182054"/>
                  <a:chOff x="2389399" y="2595741"/>
                  <a:chExt cx="224343" cy="182054"/>
                </a:xfrm>
              </p:grpSpPr>
              <p:sp>
                <p:nvSpPr>
                  <p:cNvPr id="564" name="Google Shape;8105;p80">
                    <a:extLst>
                      <a:ext uri="{FF2B5EF4-FFF2-40B4-BE49-F238E27FC236}">
                        <a16:creationId xmlns:a16="http://schemas.microsoft.com/office/drawing/2014/main" id="{696CF8E8-5A93-5458-6071-C579CFA560A2}"/>
                      </a:ext>
                    </a:extLst>
                  </p:cNvPr>
                  <p:cNvSpPr/>
                  <p:nvPr/>
                </p:nvSpPr>
                <p:spPr>
                  <a:xfrm>
                    <a:off x="2389399" y="2595741"/>
                    <a:ext cx="224343" cy="182054"/>
                  </a:xfrm>
                  <a:custGeom>
                    <a:avLst/>
                    <a:gdLst/>
                    <a:ahLst/>
                    <a:cxnLst/>
                    <a:rect l="l" t="t" r="r" b="b"/>
                    <a:pathLst>
                      <a:path w="49279" h="39990" extrusionOk="0">
                        <a:moveTo>
                          <a:pt x="7997" y="1"/>
                        </a:moveTo>
                        <a:cubicBezTo>
                          <a:pt x="3580" y="1"/>
                          <a:pt x="0" y="3580"/>
                          <a:pt x="0" y="7995"/>
                        </a:cubicBezTo>
                        <a:lnTo>
                          <a:pt x="0" y="31993"/>
                        </a:lnTo>
                        <a:cubicBezTo>
                          <a:pt x="0" y="36409"/>
                          <a:pt x="3580" y="39989"/>
                          <a:pt x="7997" y="39989"/>
                        </a:cubicBezTo>
                        <a:lnTo>
                          <a:pt x="41282" y="39989"/>
                        </a:lnTo>
                        <a:cubicBezTo>
                          <a:pt x="45697" y="39989"/>
                          <a:pt x="49277" y="36409"/>
                          <a:pt x="49277" y="31993"/>
                        </a:cubicBezTo>
                        <a:lnTo>
                          <a:pt x="49277" y="7995"/>
                        </a:lnTo>
                        <a:cubicBezTo>
                          <a:pt x="49278" y="3580"/>
                          <a:pt x="45697" y="1"/>
                          <a:pt x="41282" y="1"/>
                        </a:cubicBezTo>
                        <a:close/>
                      </a:path>
                    </a:pathLst>
                  </a:custGeom>
                  <a:noFill/>
                  <a:ln w="9525" cap="flat" cmpd="sng">
                    <a:solidFill>
                      <a:srgbClr val="657E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8106;p80">
                    <a:extLst>
                      <a:ext uri="{FF2B5EF4-FFF2-40B4-BE49-F238E27FC236}">
                        <a16:creationId xmlns:a16="http://schemas.microsoft.com/office/drawing/2014/main" id="{0D7F2E99-04F8-BEE9-4B5A-13219EFD18D9}"/>
                      </a:ext>
                    </a:extLst>
                  </p:cNvPr>
                  <p:cNvSpPr/>
                  <p:nvPr/>
                </p:nvSpPr>
                <p:spPr>
                  <a:xfrm>
                    <a:off x="2430284" y="2686181"/>
                    <a:ext cx="140326" cy="1106"/>
                  </a:xfrm>
                  <a:custGeom>
                    <a:avLst/>
                    <a:gdLst/>
                    <a:ahLst/>
                    <a:cxnLst/>
                    <a:rect l="l" t="t" r="r" b="b"/>
                    <a:pathLst>
                      <a:path w="30824" h="243" extrusionOk="0">
                        <a:moveTo>
                          <a:pt x="121" y="1"/>
                        </a:moveTo>
                        <a:cubicBezTo>
                          <a:pt x="55" y="1"/>
                          <a:pt x="0" y="55"/>
                          <a:pt x="0" y="121"/>
                        </a:cubicBezTo>
                        <a:cubicBezTo>
                          <a:pt x="0" y="187"/>
                          <a:pt x="55" y="243"/>
                          <a:pt x="121" y="243"/>
                        </a:cubicBezTo>
                        <a:lnTo>
                          <a:pt x="30703" y="243"/>
                        </a:lnTo>
                        <a:cubicBezTo>
                          <a:pt x="30769" y="243"/>
                          <a:pt x="30823" y="187"/>
                          <a:pt x="30823" y="121"/>
                        </a:cubicBezTo>
                        <a:cubicBezTo>
                          <a:pt x="30823" y="55"/>
                          <a:pt x="30767" y="1"/>
                          <a:pt x="3070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1" name="Google Shape;8107;p80">
                <a:extLst>
                  <a:ext uri="{FF2B5EF4-FFF2-40B4-BE49-F238E27FC236}">
                    <a16:creationId xmlns:a16="http://schemas.microsoft.com/office/drawing/2014/main" id="{952F033D-D97A-81CD-7828-F6DA26DC772B}"/>
                  </a:ext>
                </a:extLst>
              </p:cNvPr>
              <p:cNvGrpSpPr/>
              <p:nvPr/>
            </p:nvGrpSpPr>
            <p:grpSpPr>
              <a:xfrm>
                <a:off x="2683630" y="2595741"/>
                <a:ext cx="224334" cy="296825"/>
                <a:chOff x="2683630" y="2595741"/>
                <a:chExt cx="224334" cy="296825"/>
              </a:xfrm>
            </p:grpSpPr>
            <p:grpSp>
              <p:nvGrpSpPr>
                <p:cNvPr id="518" name="Google Shape;8108;p80">
                  <a:extLst>
                    <a:ext uri="{FF2B5EF4-FFF2-40B4-BE49-F238E27FC236}">
                      <a16:creationId xmlns:a16="http://schemas.microsoft.com/office/drawing/2014/main" id="{5241219C-6566-02B5-2E6F-1F120D8C9DA1}"/>
                    </a:ext>
                  </a:extLst>
                </p:cNvPr>
                <p:cNvGrpSpPr/>
                <p:nvPr/>
              </p:nvGrpSpPr>
              <p:grpSpPr>
                <a:xfrm>
                  <a:off x="2788083" y="2794333"/>
                  <a:ext cx="15356" cy="98232"/>
                  <a:chOff x="2788083" y="2794333"/>
                  <a:chExt cx="15356" cy="98232"/>
                </a:xfrm>
              </p:grpSpPr>
              <p:sp>
                <p:nvSpPr>
                  <p:cNvPr id="522" name="Google Shape;8109;p80">
                    <a:extLst>
                      <a:ext uri="{FF2B5EF4-FFF2-40B4-BE49-F238E27FC236}">
                        <a16:creationId xmlns:a16="http://schemas.microsoft.com/office/drawing/2014/main" id="{2BADED73-3740-1423-3C03-ECE7D7298128}"/>
                      </a:ext>
                    </a:extLst>
                  </p:cNvPr>
                  <p:cNvSpPr/>
                  <p:nvPr/>
                </p:nvSpPr>
                <p:spPr>
                  <a:xfrm>
                    <a:off x="2794655" y="2800905"/>
                    <a:ext cx="2213" cy="85114"/>
                  </a:xfrm>
                  <a:custGeom>
                    <a:avLst/>
                    <a:gdLst/>
                    <a:ahLst/>
                    <a:cxnLst/>
                    <a:rect l="l" t="t" r="r" b="b"/>
                    <a:pathLst>
                      <a:path w="486" h="18696" extrusionOk="0">
                        <a:moveTo>
                          <a:pt x="243" y="0"/>
                        </a:moveTo>
                        <a:cubicBezTo>
                          <a:pt x="108" y="0"/>
                          <a:pt x="1" y="109"/>
                          <a:pt x="1" y="243"/>
                        </a:cubicBezTo>
                        <a:lnTo>
                          <a:pt x="1" y="18453"/>
                        </a:lnTo>
                        <a:cubicBezTo>
                          <a:pt x="1" y="18588"/>
                          <a:pt x="108" y="18695"/>
                          <a:pt x="243" y="18695"/>
                        </a:cubicBezTo>
                        <a:cubicBezTo>
                          <a:pt x="377" y="18695"/>
                          <a:pt x="485" y="18588"/>
                          <a:pt x="485" y="18453"/>
                        </a:cubicBezTo>
                        <a:lnTo>
                          <a:pt x="485" y="243"/>
                        </a:lnTo>
                        <a:cubicBezTo>
                          <a:pt x="485" y="109"/>
                          <a:pt x="377" y="0"/>
                          <a:pt x="243"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8110;p80">
                    <a:extLst>
                      <a:ext uri="{FF2B5EF4-FFF2-40B4-BE49-F238E27FC236}">
                        <a16:creationId xmlns:a16="http://schemas.microsoft.com/office/drawing/2014/main" id="{F9AA3360-DE45-86F4-305F-760F526529CB}"/>
                      </a:ext>
                    </a:extLst>
                  </p:cNvPr>
                  <p:cNvSpPr/>
                  <p:nvPr/>
                </p:nvSpPr>
                <p:spPr>
                  <a:xfrm>
                    <a:off x="2788083" y="2794333"/>
                    <a:ext cx="15356" cy="15356"/>
                  </a:xfrm>
                  <a:custGeom>
                    <a:avLst/>
                    <a:gdLst/>
                    <a:ahLst/>
                    <a:cxnLst/>
                    <a:rect l="l" t="t" r="r" b="b"/>
                    <a:pathLst>
                      <a:path w="3373" h="3373" extrusionOk="0">
                        <a:moveTo>
                          <a:pt x="1687" y="0"/>
                        </a:moveTo>
                        <a:cubicBezTo>
                          <a:pt x="755" y="0"/>
                          <a:pt x="1" y="754"/>
                          <a:pt x="1" y="1687"/>
                        </a:cubicBezTo>
                        <a:cubicBezTo>
                          <a:pt x="1" y="2619"/>
                          <a:pt x="755" y="3373"/>
                          <a:pt x="1687" y="3373"/>
                        </a:cubicBezTo>
                        <a:cubicBezTo>
                          <a:pt x="2618" y="3373"/>
                          <a:pt x="3372" y="2617"/>
                          <a:pt x="3372" y="1687"/>
                        </a:cubicBezTo>
                        <a:cubicBezTo>
                          <a:pt x="3372" y="754"/>
                          <a:pt x="2618"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8111;p80">
                    <a:extLst>
                      <a:ext uri="{FF2B5EF4-FFF2-40B4-BE49-F238E27FC236}">
                        <a16:creationId xmlns:a16="http://schemas.microsoft.com/office/drawing/2014/main" id="{7471E090-1358-212C-6F5A-23CD60870E21}"/>
                      </a:ext>
                    </a:extLst>
                  </p:cNvPr>
                  <p:cNvSpPr/>
                  <p:nvPr/>
                </p:nvSpPr>
                <p:spPr>
                  <a:xfrm>
                    <a:off x="2788083" y="2877210"/>
                    <a:ext cx="15356" cy="15356"/>
                  </a:xfrm>
                  <a:custGeom>
                    <a:avLst/>
                    <a:gdLst/>
                    <a:ahLst/>
                    <a:cxnLst/>
                    <a:rect l="l" t="t" r="r" b="b"/>
                    <a:pathLst>
                      <a:path w="3373" h="3373" extrusionOk="0">
                        <a:moveTo>
                          <a:pt x="1687" y="1"/>
                        </a:moveTo>
                        <a:cubicBezTo>
                          <a:pt x="755" y="1"/>
                          <a:pt x="1" y="754"/>
                          <a:pt x="1" y="1686"/>
                        </a:cubicBezTo>
                        <a:cubicBezTo>
                          <a:pt x="1" y="2618"/>
                          <a:pt x="755" y="3372"/>
                          <a:pt x="1687" y="3372"/>
                        </a:cubicBezTo>
                        <a:cubicBezTo>
                          <a:pt x="2618" y="3372"/>
                          <a:pt x="3372" y="2616"/>
                          <a:pt x="3372" y="1686"/>
                        </a:cubicBezTo>
                        <a:cubicBezTo>
                          <a:pt x="3372" y="754"/>
                          <a:pt x="2618"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9" name="Google Shape;8112;p80">
                  <a:extLst>
                    <a:ext uri="{FF2B5EF4-FFF2-40B4-BE49-F238E27FC236}">
                      <a16:creationId xmlns:a16="http://schemas.microsoft.com/office/drawing/2014/main" id="{AF6ACCC9-6CE3-45DD-D9E0-25DD60D97454}"/>
                    </a:ext>
                  </a:extLst>
                </p:cNvPr>
                <p:cNvGrpSpPr/>
                <p:nvPr/>
              </p:nvGrpSpPr>
              <p:grpSpPr>
                <a:xfrm>
                  <a:off x="2683630" y="2595741"/>
                  <a:ext cx="224334" cy="182054"/>
                  <a:chOff x="2683630" y="2595741"/>
                  <a:chExt cx="224334" cy="182054"/>
                </a:xfrm>
              </p:grpSpPr>
              <p:sp>
                <p:nvSpPr>
                  <p:cNvPr id="520" name="Google Shape;8113;p80">
                    <a:extLst>
                      <a:ext uri="{FF2B5EF4-FFF2-40B4-BE49-F238E27FC236}">
                        <a16:creationId xmlns:a16="http://schemas.microsoft.com/office/drawing/2014/main" id="{C9B1CE29-2AAD-DEF1-9865-43460B033111}"/>
                      </a:ext>
                    </a:extLst>
                  </p:cNvPr>
                  <p:cNvSpPr/>
                  <p:nvPr/>
                </p:nvSpPr>
                <p:spPr>
                  <a:xfrm>
                    <a:off x="2683630" y="2595741"/>
                    <a:ext cx="224334" cy="182054"/>
                  </a:xfrm>
                  <a:custGeom>
                    <a:avLst/>
                    <a:gdLst/>
                    <a:ahLst/>
                    <a:cxnLst/>
                    <a:rect l="l" t="t" r="r" b="b"/>
                    <a:pathLst>
                      <a:path w="49277" h="39990" extrusionOk="0">
                        <a:moveTo>
                          <a:pt x="7996" y="1"/>
                        </a:moveTo>
                        <a:cubicBezTo>
                          <a:pt x="3580" y="1"/>
                          <a:pt x="0" y="3580"/>
                          <a:pt x="0" y="7995"/>
                        </a:cubicBezTo>
                        <a:lnTo>
                          <a:pt x="0" y="31993"/>
                        </a:lnTo>
                        <a:cubicBezTo>
                          <a:pt x="0" y="36409"/>
                          <a:pt x="3580" y="39989"/>
                          <a:pt x="7996" y="39989"/>
                        </a:cubicBezTo>
                        <a:lnTo>
                          <a:pt x="41280" y="39989"/>
                        </a:lnTo>
                        <a:cubicBezTo>
                          <a:pt x="45697" y="39989"/>
                          <a:pt x="49277" y="36409"/>
                          <a:pt x="49277" y="31993"/>
                        </a:cubicBezTo>
                        <a:lnTo>
                          <a:pt x="49277" y="7995"/>
                        </a:lnTo>
                        <a:cubicBezTo>
                          <a:pt x="49277" y="3580"/>
                          <a:pt x="45697" y="1"/>
                          <a:pt x="41280" y="1"/>
                        </a:cubicBezTo>
                        <a:close/>
                      </a:path>
                    </a:pathLst>
                  </a:custGeom>
                  <a:noFill/>
                  <a:ln w="9525" cap="flat" cmpd="sng">
                    <a:solidFill>
                      <a:srgbClr val="657E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8114;p80">
                    <a:extLst>
                      <a:ext uri="{FF2B5EF4-FFF2-40B4-BE49-F238E27FC236}">
                        <a16:creationId xmlns:a16="http://schemas.microsoft.com/office/drawing/2014/main" id="{2FC7A8C9-AD57-4F50-4F36-13EC8D037FB3}"/>
                      </a:ext>
                    </a:extLst>
                  </p:cNvPr>
                  <p:cNvSpPr/>
                  <p:nvPr/>
                </p:nvSpPr>
                <p:spPr>
                  <a:xfrm>
                    <a:off x="2724889" y="2686181"/>
                    <a:ext cx="140322" cy="1106"/>
                  </a:xfrm>
                  <a:custGeom>
                    <a:avLst/>
                    <a:gdLst/>
                    <a:ahLst/>
                    <a:cxnLst/>
                    <a:rect l="l" t="t" r="r" b="b"/>
                    <a:pathLst>
                      <a:path w="30823" h="243" extrusionOk="0">
                        <a:moveTo>
                          <a:pt x="121" y="1"/>
                        </a:moveTo>
                        <a:cubicBezTo>
                          <a:pt x="55" y="1"/>
                          <a:pt x="0" y="55"/>
                          <a:pt x="0" y="121"/>
                        </a:cubicBezTo>
                        <a:cubicBezTo>
                          <a:pt x="0" y="187"/>
                          <a:pt x="55" y="243"/>
                          <a:pt x="121" y="243"/>
                        </a:cubicBezTo>
                        <a:lnTo>
                          <a:pt x="30701" y="243"/>
                        </a:lnTo>
                        <a:cubicBezTo>
                          <a:pt x="30769" y="243"/>
                          <a:pt x="30823" y="187"/>
                          <a:pt x="30823" y="121"/>
                        </a:cubicBezTo>
                        <a:cubicBezTo>
                          <a:pt x="30823" y="55"/>
                          <a:pt x="30767" y="1"/>
                          <a:pt x="3070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2" name="Google Shape;8115;p80">
                <a:extLst>
                  <a:ext uri="{FF2B5EF4-FFF2-40B4-BE49-F238E27FC236}">
                    <a16:creationId xmlns:a16="http://schemas.microsoft.com/office/drawing/2014/main" id="{36C04DF6-3E70-17F8-D9E0-3F4FB1C5EE65}"/>
                  </a:ext>
                </a:extLst>
              </p:cNvPr>
              <p:cNvGrpSpPr/>
              <p:nvPr/>
            </p:nvGrpSpPr>
            <p:grpSpPr>
              <a:xfrm>
                <a:off x="2921204" y="2595741"/>
                <a:ext cx="280991" cy="213948"/>
                <a:chOff x="2921204" y="2595741"/>
                <a:chExt cx="280991" cy="213948"/>
              </a:xfrm>
            </p:grpSpPr>
            <p:grpSp>
              <p:nvGrpSpPr>
                <p:cNvPr id="63" name="Google Shape;8116;p80">
                  <a:extLst>
                    <a:ext uri="{FF2B5EF4-FFF2-40B4-BE49-F238E27FC236}">
                      <a16:creationId xmlns:a16="http://schemas.microsoft.com/office/drawing/2014/main" id="{A82ED2A8-3983-37CE-DBF1-2607D3951D68}"/>
                    </a:ext>
                  </a:extLst>
                </p:cNvPr>
                <p:cNvGrpSpPr/>
                <p:nvPr/>
              </p:nvGrpSpPr>
              <p:grpSpPr>
                <a:xfrm>
                  <a:off x="2921204" y="2680599"/>
                  <a:ext cx="176457" cy="129090"/>
                  <a:chOff x="2921204" y="2680599"/>
                  <a:chExt cx="176457" cy="129090"/>
                </a:xfrm>
              </p:grpSpPr>
              <p:sp>
                <p:nvSpPr>
                  <p:cNvPr id="516" name="Google Shape;8118;p80">
                    <a:extLst>
                      <a:ext uri="{FF2B5EF4-FFF2-40B4-BE49-F238E27FC236}">
                        <a16:creationId xmlns:a16="http://schemas.microsoft.com/office/drawing/2014/main" id="{D3311A1D-0B18-5152-4979-008F8C67EA75}"/>
                      </a:ext>
                    </a:extLst>
                  </p:cNvPr>
                  <p:cNvSpPr/>
                  <p:nvPr/>
                </p:nvSpPr>
                <p:spPr>
                  <a:xfrm>
                    <a:off x="3082301" y="2794333"/>
                    <a:ext cx="15360" cy="15356"/>
                  </a:xfrm>
                  <a:custGeom>
                    <a:avLst/>
                    <a:gdLst/>
                    <a:ahLst/>
                    <a:cxnLst/>
                    <a:rect l="l" t="t" r="r" b="b"/>
                    <a:pathLst>
                      <a:path w="3374" h="3373" extrusionOk="0">
                        <a:moveTo>
                          <a:pt x="1687" y="0"/>
                        </a:moveTo>
                        <a:cubicBezTo>
                          <a:pt x="755" y="0"/>
                          <a:pt x="0" y="754"/>
                          <a:pt x="0" y="1687"/>
                        </a:cubicBezTo>
                        <a:cubicBezTo>
                          <a:pt x="0" y="2619"/>
                          <a:pt x="755" y="3373"/>
                          <a:pt x="1687" y="3373"/>
                        </a:cubicBezTo>
                        <a:cubicBezTo>
                          <a:pt x="2619" y="3370"/>
                          <a:pt x="3373" y="2617"/>
                          <a:pt x="3373" y="1687"/>
                        </a:cubicBezTo>
                        <a:cubicBezTo>
                          <a:pt x="3373" y="754"/>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8119;p80">
                    <a:extLst>
                      <a:ext uri="{FF2B5EF4-FFF2-40B4-BE49-F238E27FC236}">
                        <a16:creationId xmlns:a16="http://schemas.microsoft.com/office/drawing/2014/main" id="{A9126BD7-AD03-FBAA-DDDD-044AB552295E}"/>
                      </a:ext>
                    </a:extLst>
                  </p:cNvPr>
                  <p:cNvSpPr/>
                  <p:nvPr/>
                </p:nvSpPr>
                <p:spPr>
                  <a:xfrm>
                    <a:off x="2921204" y="2680599"/>
                    <a:ext cx="15351" cy="15356"/>
                  </a:xfrm>
                  <a:custGeom>
                    <a:avLst/>
                    <a:gdLst/>
                    <a:ahLst/>
                    <a:cxnLst/>
                    <a:rect l="l" t="t" r="r" b="b"/>
                    <a:pathLst>
                      <a:path w="3372" h="3373" extrusionOk="0">
                        <a:moveTo>
                          <a:pt x="1685" y="1"/>
                        </a:moveTo>
                        <a:cubicBezTo>
                          <a:pt x="753" y="1"/>
                          <a:pt x="0" y="754"/>
                          <a:pt x="0" y="1686"/>
                        </a:cubicBezTo>
                        <a:cubicBezTo>
                          <a:pt x="0" y="2618"/>
                          <a:pt x="753" y="3372"/>
                          <a:pt x="1685" y="3372"/>
                        </a:cubicBezTo>
                        <a:cubicBezTo>
                          <a:pt x="2617" y="3372"/>
                          <a:pt x="3372" y="2616"/>
                          <a:pt x="3372" y="1686"/>
                        </a:cubicBezTo>
                        <a:cubicBezTo>
                          <a:pt x="3372" y="754"/>
                          <a:pt x="2617" y="1"/>
                          <a:pt x="16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2" name="Google Shape;8120;p80">
                  <a:extLst>
                    <a:ext uri="{FF2B5EF4-FFF2-40B4-BE49-F238E27FC236}">
                      <a16:creationId xmlns:a16="http://schemas.microsoft.com/office/drawing/2014/main" id="{E750A149-0EA1-2421-C6E9-81D86E657C31}"/>
                    </a:ext>
                  </a:extLst>
                </p:cNvPr>
                <p:cNvGrpSpPr/>
                <p:nvPr/>
              </p:nvGrpSpPr>
              <p:grpSpPr>
                <a:xfrm>
                  <a:off x="2977852" y="2595741"/>
                  <a:ext cx="224343" cy="182054"/>
                  <a:chOff x="2977852" y="2595741"/>
                  <a:chExt cx="224343" cy="182054"/>
                </a:xfrm>
              </p:grpSpPr>
              <p:sp>
                <p:nvSpPr>
                  <p:cNvPr id="513" name="Google Shape;8121;p80">
                    <a:extLst>
                      <a:ext uri="{FF2B5EF4-FFF2-40B4-BE49-F238E27FC236}">
                        <a16:creationId xmlns:a16="http://schemas.microsoft.com/office/drawing/2014/main" id="{B34055AC-B4EB-FDB6-5B3E-FF7B8355D9A9}"/>
                      </a:ext>
                    </a:extLst>
                  </p:cNvPr>
                  <p:cNvSpPr/>
                  <p:nvPr/>
                </p:nvSpPr>
                <p:spPr>
                  <a:xfrm>
                    <a:off x="2977852" y="2595741"/>
                    <a:ext cx="224343" cy="182054"/>
                  </a:xfrm>
                  <a:custGeom>
                    <a:avLst/>
                    <a:gdLst/>
                    <a:ahLst/>
                    <a:cxnLst/>
                    <a:rect l="l" t="t" r="r" b="b"/>
                    <a:pathLst>
                      <a:path w="49279" h="39990" extrusionOk="0">
                        <a:moveTo>
                          <a:pt x="7995" y="1"/>
                        </a:moveTo>
                        <a:cubicBezTo>
                          <a:pt x="3580" y="1"/>
                          <a:pt x="0" y="3580"/>
                          <a:pt x="0" y="7995"/>
                        </a:cubicBezTo>
                        <a:lnTo>
                          <a:pt x="0" y="31993"/>
                        </a:lnTo>
                        <a:cubicBezTo>
                          <a:pt x="0" y="36409"/>
                          <a:pt x="3580" y="39989"/>
                          <a:pt x="7995" y="39989"/>
                        </a:cubicBezTo>
                        <a:lnTo>
                          <a:pt x="41282" y="39989"/>
                        </a:lnTo>
                        <a:cubicBezTo>
                          <a:pt x="45698" y="39989"/>
                          <a:pt x="49278" y="36409"/>
                          <a:pt x="49278" y="31993"/>
                        </a:cubicBezTo>
                        <a:lnTo>
                          <a:pt x="49278" y="7995"/>
                        </a:lnTo>
                        <a:cubicBezTo>
                          <a:pt x="49278" y="3580"/>
                          <a:pt x="45698" y="1"/>
                          <a:pt x="41282" y="1"/>
                        </a:cubicBezTo>
                        <a:close/>
                      </a:path>
                    </a:pathLst>
                  </a:custGeom>
                  <a:noFill/>
                  <a:ln w="9525" cap="flat" cmpd="sng">
                    <a:solidFill>
                      <a:srgbClr val="657E9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8122;p80">
                    <a:extLst>
                      <a:ext uri="{FF2B5EF4-FFF2-40B4-BE49-F238E27FC236}">
                        <a16:creationId xmlns:a16="http://schemas.microsoft.com/office/drawing/2014/main" id="{D45DE482-5BE1-D2C7-25AD-6643FCDFF8B1}"/>
                      </a:ext>
                    </a:extLst>
                  </p:cNvPr>
                  <p:cNvSpPr/>
                  <p:nvPr/>
                </p:nvSpPr>
                <p:spPr>
                  <a:xfrm>
                    <a:off x="3020572" y="2686181"/>
                    <a:ext cx="140326" cy="1106"/>
                  </a:xfrm>
                  <a:custGeom>
                    <a:avLst/>
                    <a:gdLst/>
                    <a:ahLst/>
                    <a:cxnLst/>
                    <a:rect l="l" t="t" r="r" b="b"/>
                    <a:pathLst>
                      <a:path w="30824" h="243" extrusionOk="0">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35" name="Google Shape;8123;p80">
              <a:extLst>
                <a:ext uri="{FF2B5EF4-FFF2-40B4-BE49-F238E27FC236}">
                  <a16:creationId xmlns:a16="http://schemas.microsoft.com/office/drawing/2014/main" id="{7EF10D87-8FB5-BA92-477C-145AF8A460CB}"/>
                </a:ext>
              </a:extLst>
            </p:cNvPr>
            <p:cNvGrpSpPr/>
            <p:nvPr/>
          </p:nvGrpSpPr>
          <p:grpSpPr>
            <a:xfrm>
              <a:off x="2389399" y="3100241"/>
              <a:ext cx="812796" cy="296869"/>
              <a:chOff x="2389399" y="3100241"/>
              <a:chExt cx="812796" cy="296869"/>
            </a:xfrm>
          </p:grpSpPr>
          <p:grpSp>
            <p:nvGrpSpPr>
              <p:cNvPr id="36" name="Google Shape;8124;p80">
                <a:extLst>
                  <a:ext uri="{FF2B5EF4-FFF2-40B4-BE49-F238E27FC236}">
                    <a16:creationId xmlns:a16="http://schemas.microsoft.com/office/drawing/2014/main" id="{6A9709FF-4613-6DAA-2F53-AB86CE5CB9AA}"/>
                  </a:ext>
                </a:extLst>
              </p:cNvPr>
              <p:cNvGrpSpPr/>
              <p:nvPr/>
            </p:nvGrpSpPr>
            <p:grpSpPr>
              <a:xfrm>
                <a:off x="2683630" y="3100241"/>
                <a:ext cx="224334" cy="296869"/>
                <a:chOff x="2683630" y="3100241"/>
                <a:chExt cx="224334" cy="296869"/>
              </a:xfrm>
            </p:grpSpPr>
            <p:grpSp>
              <p:nvGrpSpPr>
                <p:cNvPr id="53" name="Google Shape;8125;p80">
                  <a:extLst>
                    <a:ext uri="{FF2B5EF4-FFF2-40B4-BE49-F238E27FC236}">
                      <a16:creationId xmlns:a16="http://schemas.microsoft.com/office/drawing/2014/main" id="{07C2916B-45E9-41E0-9B88-E79159426C87}"/>
                    </a:ext>
                  </a:extLst>
                </p:cNvPr>
                <p:cNvGrpSpPr/>
                <p:nvPr/>
              </p:nvGrpSpPr>
              <p:grpSpPr>
                <a:xfrm>
                  <a:off x="2788083" y="3100241"/>
                  <a:ext cx="15356" cy="98237"/>
                  <a:chOff x="2788083" y="3100241"/>
                  <a:chExt cx="15356" cy="98237"/>
                </a:xfrm>
              </p:grpSpPr>
              <p:sp>
                <p:nvSpPr>
                  <p:cNvPr id="57" name="Google Shape;8126;p80">
                    <a:extLst>
                      <a:ext uri="{FF2B5EF4-FFF2-40B4-BE49-F238E27FC236}">
                        <a16:creationId xmlns:a16="http://schemas.microsoft.com/office/drawing/2014/main" id="{8300BF48-F231-BBC2-25FB-531B969CB865}"/>
                      </a:ext>
                    </a:extLst>
                  </p:cNvPr>
                  <p:cNvSpPr/>
                  <p:nvPr/>
                </p:nvSpPr>
                <p:spPr>
                  <a:xfrm>
                    <a:off x="2794655" y="3106808"/>
                    <a:ext cx="2213" cy="85118"/>
                  </a:xfrm>
                  <a:custGeom>
                    <a:avLst/>
                    <a:gdLst/>
                    <a:ahLst/>
                    <a:cxnLst/>
                    <a:rect l="l" t="t" r="r" b="b"/>
                    <a:pathLst>
                      <a:path w="486" h="18697" extrusionOk="0">
                        <a:moveTo>
                          <a:pt x="243" y="1"/>
                        </a:moveTo>
                        <a:cubicBezTo>
                          <a:pt x="108" y="1"/>
                          <a:pt x="1" y="109"/>
                          <a:pt x="1" y="243"/>
                        </a:cubicBezTo>
                        <a:lnTo>
                          <a:pt x="1" y="18455"/>
                        </a:lnTo>
                        <a:cubicBezTo>
                          <a:pt x="1" y="18588"/>
                          <a:pt x="108" y="18697"/>
                          <a:pt x="243" y="18697"/>
                        </a:cubicBezTo>
                        <a:cubicBezTo>
                          <a:pt x="377" y="18697"/>
                          <a:pt x="485" y="18588"/>
                          <a:pt x="485" y="18455"/>
                        </a:cubicBezTo>
                        <a:lnTo>
                          <a:pt x="485" y="243"/>
                        </a:lnTo>
                        <a:cubicBezTo>
                          <a:pt x="485" y="109"/>
                          <a:pt x="377" y="1"/>
                          <a:pt x="243"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8127;p80">
                    <a:extLst>
                      <a:ext uri="{FF2B5EF4-FFF2-40B4-BE49-F238E27FC236}">
                        <a16:creationId xmlns:a16="http://schemas.microsoft.com/office/drawing/2014/main" id="{420CCE11-446F-737C-B179-9E0ECE9DC5BF}"/>
                      </a:ext>
                    </a:extLst>
                  </p:cNvPr>
                  <p:cNvSpPr/>
                  <p:nvPr/>
                </p:nvSpPr>
                <p:spPr>
                  <a:xfrm>
                    <a:off x="2788083" y="3183117"/>
                    <a:ext cx="15356" cy="15360"/>
                  </a:xfrm>
                  <a:custGeom>
                    <a:avLst/>
                    <a:gdLst/>
                    <a:ahLst/>
                    <a:cxnLst/>
                    <a:rect l="l" t="t" r="r" b="b"/>
                    <a:pathLst>
                      <a:path w="3373" h="3374" extrusionOk="0">
                        <a:moveTo>
                          <a:pt x="1687" y="0"/>
                        </a:moveTo>
                        <a:cubicBezTo>
                          <a:pt x="755" y="0"/>
                          <a:pt x="1" y="755"/>
                          <a:pt x="1" y="1687"/>
                        </a:cubicBezTo>
                        <a:cubicBezTo>
                          <a:pt x="1" y="2619"/>
                          <a:pt x="755" y="3373"/>
                          <a:pt x="1687" y="3373"/>
                        </a:cubicBezTo>
                        <a:cubicBezTo>
                          <a:pt x="2618" y="3373"/>
                          <a:pt x="3372" y="2619"/>
                          <a:pt x="3372" y="1687"/>
                        </a:cubicBezTo>
                        <a:cubicBezTo>
                          <a:pt x="3372" y="755"/>
                          <a:pt x="2618"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8128;p80">
                    <a:extLst>
                      <a:ext uri="{FF2B5EF4-FFF2-40B4-BE49-F238E27FC236}">
                        <a16:creationId xmlns:a16="http://schemas.microsoft.com/office/drawing/2014/main" id="{2CE59AED-FF60-EAA6-7E4F-0040C7604757}"/>
                      </a:ext>
                    </a:extLst>
                  </p:cNvPr>
                  <p:cNvSpPr/>
                  <p:nvPr/>
                </p:nvSpPr>
                <p:spPr>
                  <a:xfrm>
                    <a:off x="2788083" y="3100241"/>
                    <a:ext cx="15356" cy="15356"/>
                  </a:xfrm>
                  <a:custGeom>
                    <a:avLst/>
                    <a:gdLst/>
                    <a:ahLst/>
                    <a:cxnLst/>
                    <a:rect l="l" t="t" r="r" b="b"/>
                    <a:pathLst>
                      <a:path w="3373" h="3373" extrusionOk="0">
                        <a:moveTo>
                          <a:pt x="1687" y="1"/>
                        </a:moveTo>
                        <a:cubicBezTo>
                          <a:pt x="755" y="1"/>
                          <a:pt x="1" y="754"/>
                          <a:pt x="1" y="1686"/>
                        </a:cubicBezTo>
                        <a:cubicBezTo>
                          <a:pt x="1" y="2618"/>
                          <a:pt x="755" y="3372"/>
                          <a:pt x="1687" y="3372"/>
                        </a:cubicBezTo>
                        <a:cubicBezTo>
                          <a:pt x="2618" y="3372"/>
                          <a:pt x="3372" y="2618"/>
                          <a:pt x="3372" y="1686"/>
                        </a:cubicBezTo>
                        <a:cubicBezTo>
                          <a:pt x="3372" y="754"/>
                          <a:pt x="2618"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8129;p80">
                  <a:extLst>
                    <a:ext uri="{FF2B5EF4-FFF2-40B4-BE49-F238E27FC236}">
                      <a16:creationId xmlns:a16="http://schemas.microsoft.com/office/drawing/2014/main" id="{B37DD8C9-9E51-AB05-91AC-0C0856AAEEC7}"/>
                    </a:ext>
                  </a:extLst>
                </p:cNvPr>
                <p:cNvGrpSpPr/>
                <p:nvPr/>
              </p:nvGrpSpPr>
              <p:grpSpPr>
                <a:xfrm>
                  <a:off x="2683630" y="3215065"/>
                  <a:ext cx="224334" cy="182045"/>
                  <a:chOff x="2683630" y="3215065"/>
                  <a:chExt cx="224334" cy="182045"/>
                </a:xfrm>
              </p:grpSpPr>
              <p:sp>
                <p:nvSpPr>
                  <p:cNvPr id="55" name="Google Shape;8130;p80">
                    <a:extLst>
                      <a:ext uri="{FF2B5EF4-FFF2-40B4-BE49-F238E27FC236}">
                        <a16:creationId xmlns:a16="http://schemas.microsoft.com/office/drawing/2014/main" id="{04B87C20-8204-A0ED-A5C3-749C3773BBEE}"/>
                      </a:ext>
                    </a:extLst>
                  </p:cNvPr>
                  <p:cNvSpPr/>
                  <p:nvPr/>
                </p:nvSpPr>
                <p:spPr>
                  <a:xfrm>
                    <a:off x="2683630" y="3215065"/>
                    <a:ext cx="224334" cy="182045"/>
                  </a:xfrm>
                  <a:custGeom>
                    <a:avLst/>
                    <a:gdLst/>
                    <a:ahLst/>
                    <a:cxnLst/>
                    <a:rect l="l" t="t" r="r" b="b"/>
                    <a:pathLst>
                      <a:path w="49277" h="39988" extrusionOk="0">
                        <a:moveTo>
                          <a:pt x="7996" y="0"/>
                        </a:moveTo>
                        <a:cubicBezTo>
                          <a:pt x="3580" y="0"/>
                          <a:pt x="0" y="3579"/>
                          <a:pt x="0" y="7995"/>
                        </a:cubicBezTo>
                        <a:lnTo>
                          <a:pt x="0" y="31993"/>
                        </a:lnTo>
                        <a:cubicBezTo>
                          <a:pt x="0" y="36409"/>
                          <a:pt x="3580" y="39988"/>
                          <a:pt x="7996" y="39988"/>
                        </a:cubicBezTo>
                        <a:lnTo>
                          <a:pt x="41280" y="39988"/>
                        </a:lnTo>
                        <a:cubicBezTo>
                          <a:pt x="45697" y="39988"/>
                          <a:pt x="49277" y="36409"/>
                          <a:pt x="49277" y="31993"/>
                        </a:cubicBezTo>
                        <a:lnTo>
                          <a:pt x="49277" y="7995"/>
                        </a:lnTo>
                        <a:cubicBezTo>
                          <a:pt x="49277" y="3579"/>
                          <a:pt x="45697" y="0"/>
                          <a:pt x="41280"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8131;p80">
                    <a:extLst>
                      <a:ext uri="{FF2B5EF4-FFF2-40B4-BE49-F238E27FC236}">
                        <a16:creationId xmlns:a16="http://schemas.microsoft.com/office/drawing/2014/main" id="{1B905BEB-CBAF-0245-3955-EE22D861F550}"/>
                      </a:ext>
                    </a:extLst>
                  </p:cNvPr>
                  <p:cNvSpPr/>
                  <p:nvPr/>
                </p:nvSpPr>
                <p:spPr>
                  <a:xfrm>
                    <a:off x="2724889" y="3305500"/>
                    <a:ext cx="140331" cy="1106"/>
                  </a:xfrm>
                  <a:custGeom>
                    <a:avLst/>
                    <a:gdLst/>
                    <a:ahLst/>
                    <a:cxnLst/>
                    <a:rect l="l" t="t" r="r" b="b"/>
                    <a:pathLst>
                      <a:path w="30825" h="243" extrusionOk="0">
                        <a:moveTo>
                          <a:pt x="121" y="0"/>
                        </a:moveTo>
                        <a:cubicBezTo>
                          <a:pt x="55" y="0"/>
                          <a:pt x="0" y="55"/>
                          <a:pt x="0" y="122"/>
                        </a:cubicBezTo>
                        <a:cubicBezTo>
                          <a:pt x="0" y="188"/>
                          <a:pt x="55" y="242"/>
                          <a:pt x="121" y="242"/>
                        </a:cubicBezTo>
                        <a:lnTo>
                          <a:pt x="30701" y="242"/>
                        </a:lnTo>
                        <a:cubicBezTo>
                          <a:pt x="30769" y="242"/>
                          <a:pt x="30824" y="190"/>
                          <a:pt x="30823" y="122"/>
                        </a:cubicBezTo>
                        <a:cubicBezTo>
                          <a:pt x="30823" y="56"/>
                          <a:pt x="30767" y="0"/>
                          <a:pt x="30701"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7" name="Google Shape;8132;p80">
                <a:extLst>
                  <a:ext uri="{FF2B5EF4-FFF2-40B4-BE49-F238E27FC236}">
                    <a16:creationId xmlns:a16="http://schemas.microsoft.com/office/drawing/2014/main" id="{FCED72D6-1197-4C5E-183B-A520D8D5936D}"/>
                  </a:ext>
                </a:extLst>
              </p:cNvPr>
              <p:cNvGrpSpPr/>
              <p:nvPr/>
            </p:nvGrpSpPr>
            <p:grpSpPr>
              <a:xfrm>
                <a:off x="2389399" y="3100241"/>
                <a:ext cx="363638" cy="296869"/>
                <a:chOff x="2389399" y="3100241"/>
                <a:chExt cx="363638" cy="296869"/>
              </a:xfrm>
            </p:grpSpPr>
            <p:grpSp>
              <p:nvGrpSpPr>
                <p:cNvPr id="46" name="Google Shape;8133;p80">
                  <a:extLst>
                    <a:ext uri="{FF2B5EF4-FFF2-40B4-BE49-F238E27FC236}">
                      <a16:creationId xmlns:a16="http://schemas.microsoft.com/office/drawing/2014/main" id="{D0E17F0E-9422-5A2A-7A97-816D06D42366}"/>
                    </a:ext>
                  </a:extLst>
                </p:cNvPr>
                <p:cNvGrpSpPr/>
                <p:nvPr/>
              </p:nvGrpSpPr>
              <p:grpSpPr>
                <a:xfrm>
                  <a:off x="2493852" y="3100241"/>
                  <a:ext cx="259185" cy="98237"/>
                  <a:chOff x="2493852" y="3100241"/>
                  <a:chExt cx="259185" cy="98237"/>
                </a:xfrm>
              </p:grpSpPr>
              <p:sp>
                <p:nvSpPr>
                  <p:cNvPr id="50" name="Google Shape;8134;p80">
                    <a:extLst>
                      <a:ext uri="{FF2B5EF4-FFF2-40B4-BE49-F238E27FC236}">
                        <a16:creationId xmlns:a16="http://schemas.microsoft.com/office/drawing/2014/main" id="{9369D9FE-E660-2DF1-DCA1-CE07639A6041}"/>
                      </a:ext>
                    </a:extLst>
                  </p:cNvPr>
                  <p:cNvSpPr/>
                  <p:nvPr/>
                </p:nvSpPr>
                <p:spPr>
                  <a:xfrm>
                    <a:off x="2500428" y="3106803"/>
                    <a:ext cx="246126" cy="85123"/>
                  </a:xfrm>
                  <a:custGeom>
                    <a:avLst/>
                    <a:gdLst/>
                    <a:ahLst/>
                    <a:cxnLst/>
                    <a:rect l="l" t="t" r="r" b="b"/>
                    <a:pathLst>
                      <a:path w="54064" h="18698" extrusionOk="0">
                        <a:moveTo>
                          <a:pt x="53821" y="0"/>
                        </a:moveTo>
                        <a:cubicBezTo>
                          <a:pt x="53686" y="0"/>
                          <a:pt x="53579" y="109"/>
                          <a:pt x="53579" y="242"/>
                        </a:cubicBezTo>
                        <a:lnTo>
                          <a:pt x="53579" y="5286"/>
                        </a:lnTo>
                        <a:cubicBezTo>
                          <a:pt x="53579" y="8576"/>
                          <a:pt x="50903" y="11250"/>
                          <a:pt x="47614" y="11250"/>
                        </a:cubicBezTo>
                        <a:lnTo>
                          <a:pt x="7205" y="11250"/>
                        </a:lnTo>
                        <a:cubicBezTo>
                          <a:pt x="3232" y="11250"/>
                          <a:pt x="0" y="14484"/>
                          <a:pt x="0" y="18456"/>
                        </a:cubicBezTo>
                        <a:cubicBezTo>
                          <a:pt x="0" y="18589"/>
                          <a:pt x="109" y="18698"/>
                          <a:pt x="242" y="18698"/>
                        </a:cubicBezTo>
                        <a:cubicBezTo>
                          <a:pt x="376" y="18698"/>
                          <a:pt x="485" y="18589"/>
                          <a:pt x="485" y="18456"/>
                        </a:cubicBezTo>
                        <a:cubicBezTo>
                          <a:pt x="485" y="14751"/>
                          <a:pt x="3499" y="11736"/>
                          <a:pt x="7202" y="11736"/>
                        </a:cubicBezTo>
                        <a:lnTo>
                          <a:pt x="47612" y="11736"/>
                        </a:lnTo>
                        <a:cubicBezTo>
                          <a:pt x="51169" y="11736"/>
                          <a:pt x="54063" y="8843"/>
                          <a:pt x="54063" y="5286"/>
                        </a:cubicBezTo>
                        <a:lnTo>
                          <a:pt x="54063" y="242"/>
                        </a:lnTo>
                        <a:cubicBezTo>
                          <a:pt x="54063" y="109"/>
                          <a:pt x="53955" y="0"/>
                          <a:pt x="53821"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8135;p80">
                    <a:extLst>
                      <a:ext uri="{FF2B5EF4-FFF2-40B4-BE49-F238E27FC236}">
                        <a16:creationId xmlns:a16="http://schemas.microsoft.com/office/drawing/2014/main" id="{60A6BAD2-7124-6872-523A-7AF9419D11B6}"/>
                      </a:ext>
                    </a:extLst>
                  </p:cNvPr>
                  <p:cNvSpPr/>
                  <p:nvPr/>
                </p:nvSpPr>
                <p:spPr>
                  <a:xfrm>
                    <a:off x="2493852" y="3183117"/>
                    <a:ext cx="15360" cy="15360"/>
                  </a:xfrm>
                  <a:custGeom>
                    <a:avLst/>
                    <a:gdLst/>
                    <a:ahLst/>
                    <a:cxnLst/>
                    <a:rect l="l" t="t" r="r" b="b"/>
                    <a:pathLst>
                      <a:path w="3374" h="3374" extrusionOk="0">
                        <a:moveTo>
                          <a:pt x="1687" y="0"/>
                        </a:moveTo>
                        <a:cubicBezTo>
                          <a:pt x="755" y="0"/>
                          <a:pt x="1" y="755"/>
                          <a:pt x="1" y="1687"/>
                        </a:cubicBezTo>
                        <a:cubicBezTo>
                          <a:pt x="1" y="2619"/>
                          <a:pt x="755" y="3373"/>
                          <a:pt x="1687" y="3373"/>
                        </a:cubicBezTo>
                        <a:cubicBezTo>
                          <a:pt x="2619" y="3373"/>
                          <a:pt x="3374" y="2619"/>
                          <a:pt x="3374" y="1687"/>
                        </a:cubicBezTo>
                        <a:cubicBezTo>
                          <a:pt x="3374" y="755"/>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8136;p80">
                    <a:extLst>
                      <a:ext uri="{FF2B5EF4-FFF2-40B4-BE49-F238E27FC236}">
                        <a16:creationId xmlns:a16="http://schemas.microsoft.com/office/drawing/2014/main" id="{1819A807-7F91-DB43-6456-B45709CED890}"/>
                      </a:ext>
                    </a:extLst>
                  </p:cNvPr>
                  <p:cNvSpPr/>
                  <p:nvPr/>
                </p:nvSpPr>
                <p:spPr>
                  <a:xfrm>
                    <a:off x="2737686" y="3100241"/>
                    <a:ext cx="15351" cy="15356"/>
                  </a:xfrm>
                  <a:custGeom>
                    <a:avLst/>
                    <a:gdLst/>
                    <a:ahLst/>
                    <a:cxnLst/>
                    <a:rect l="l" t="t" r="r" b="b"/>
                    <a:pathLst>
                      <a:path w="3372" h="3373" extrusionOk="0">
                        <a:moveTo>
                          <a:pt x="1687" y="1"/>
                        </a:moveTo>
                        <a:cubicBezTo>
                          <a:pt x="755" y="1"/>
                          <a:pt x="1" y="754"/>
                          <a:pt x="1" y="1686"/>
                        </a:cubicBezTo>
                        <a:cubicBezTo>
                          <a:pt x="1" y="2618"/>
                          <a:pt x="755" y="3372"/>
                          <a:pt x="1687" y="3372"/>
                        </a:cubicBezTo>
                        <a:cubicBezTo>
                          <a:pt x="2619" y="3372"/>
                          <a:pt x="3372" y="2618"/>
                          <a:pt x="3372" y="1686"/>
                        </a:cubicBezTo>
                        <a:cubicBezTo>
                          <a:pt x="3372" y="754"/>
                          <a:pt x="2619"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oogle Shape;8137;p80">
                  <a:extLst>
                    <a:ext uri="{FF2B5EF4-FFF2-40B4-BE49-F238E27FC236}">
                      <a16:creationId xmlns:a16="http://schemas.microsoft.com/office/drawing/2014/main" id="{D462E102-89E9-453C-B263-E5344971E202}"/>
                    </a:ext>
                  </a:extLst>
                </p:cNvPr>
                <p:cNvGrpSpPr/>
                <p:nvPr/>
              </p:nvGrpSpPr>
              <p:grpSpPr>
                <a:xfrm>
                  <a:off x="2389399" y="3215065"/>
                  <a:ext cx="224343" cy="182045"/>
                  <a:chOff x="2389399" y="3215065"/>
                  <a:chExt cx="224343" cy="182045"/>
                </a:xfrm>
              </p:grpSpPr>
              <p:sp>
                <p:nvSpPr>
                  <p:cNvPr id="48" name="Google Shape;8138;p80">
                    <a:extLst>
                      <a:ext uri="{FF2B5EF4-FFF2-40B4-BE49-F238E27FC236}">
                        <a16:creationId xmlns:a16="http://schemas.microsoft.com/office/drawing/2014/main" id="{E250B76E-3E80-D0B8-4358-74B742030BEB}"/>
                      </a:ext>
                    </a:extLst>
                  </p:cNvPr>
                  <p:cNvSpPr/>
                  <p:nvPr/>
                </p:nvSpPr>
                <p:spPr>
                  <a:xfrm>
                    <a:off x="2389399" y="3215065"/>
                    <a:ext cx="224343" cy="182045"/>
                  </a:xfrm>
                  <a:custGeom>
                    <a:avLst/>
                    <a:gdLst/>
                    <a:ahLst/>
                    <a:cxnLst/>
                    <a:rect l="l" t="t" r="r" b="b"/>
                    <a:pathLst>
                      <a:path w="49279" h="39988" extrusionOk="0">
                        <a:moveTo>
                          <a:pt x="7997" y="0"/>
                        </a:moveTo>
                        <a:cubicBezTo>
                          <a:pt x="3580" y="0"/>
                          <a:pt x="0" y="3579"/>
                          <a:pt x="0" y="7995"/>
                        </a:cubicBezTo>
                        <a:lnTo>
                          <a:pt x="0" y="31993"/>
                        </a:lnTo>
                        <a:cubicBezTo>
                          <a:pt x="0" y="36409"/>
                          <a:pt x="3580" y="39988"/>
                          <a:pt x="7997" y="39988"/>
                        </a:cubicBezTo>
                        <a:lnTo>
                          <a:pt x="41282" y="39988"/>
                        </a:lnTo>
                        <a:cubicBezTo>
                          <a:pt x="45697" y="39988"/>
                          <a:pt x="49277" y="36409"/>
                          <a:pt x="49277" y="31993"/>
                        </a:cubicBezTo>
                        <a:lnTo>
                          <a:pt x="49277" y="7995"/>
                        </a:lnTo>
                        <a:cubicBezTo>
                          <a:pt x="49278" y="3579"/>
                          <a:pt x="45697" y="0"/>
                          <a:pt x="41282"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8139;p80">
                    <a:extLst>
                      <a:ext uri="{FF2B5EF4-FFF2-40B4-BE49-F238E27FC236}">
                        <a16:creationId xmlns:a16="http://schemas.microsoft.com/office/drawing/2014/main" id="{9CD9577D-5330-BED3-81E3-32B364D4B61C}"/>
                      </a:ext>
                    </a:extLst>
                  </p:cNvPr>
                  <p:cNvSpPr/>
                  <p:nvPr/>
                </p:nvSpPr>
                <p:spPr>
                  <a:xfrm>
                    <a:off x="2430630" y="3305500"/>
                    <a:ext cx="140331" cy="1106"/>
                  </a:xfrm>
                  <a:custGeom>
                    <a:avLst/>
                    <a:gdLst/>
                    <a:ahLst/>
                    <a:cxnLst/>
                    <a:rect l="l" t="t" r="r" b="b"/>
                    <a:pathLst>
                      <a:path w="30825" h="243" extrusionOk="0">
                        <a:moveTo>
                          <a:pt x="123" y="0"/>
                        </a:moveTo>
                        <a:cubicBezTo>
                          <a:pt x="57" y="0"/>
                          <a:pt x="1" y="55"/>
                          <a:pt x="1" y="122"/>
                        </a:cubicBezTo>
                        <a:cubicBezTo>
                          <a:pt x="1" y="188"/>
                          <a:pt x="57" y="242"/>
                          <a:pt x="123" y="242"/>
                        </a:cubicBezTo>
                        <a:lnTo>
                          <a:pt x="30702" y="242"/>
                        </a:lnTo>
                        <a:cubicBezTo>
                          <a:pt x="30771" y="242"/>
                          <a:pt x="30825" y="190"/>
                          <a:pt x="30823" y="122"/>
                        </a:cubicBezTo>
                        <a:cubicBezTo>
                          <a:pt x="30823" y="56"/>
                          <a:pt x="30769" y="0"/>
                          <a:pt x="30702"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 name="Google Shape;8140;p80">
                <a:extLst>
                  <a:ext uri="{FF2B5EF4-FFF2-40B4-BE49-F238E27FC236}">
                    <a16:creationId xmlns:a16="http://schemas.microsoft.com/office/drawing/2014/main" id="{3C508A79-7514-FC95-2406-73C5F2046419}"/>
                  </a:ext>
                </a:extLst>
              </p:cNvPr>
              <p:cNvGrpSpPr/>
              <p:nvPr/>
            </p:nvGrpSpPr>
            <p:grpSpPr>
              <a:xfrm>
                <a:off x="2838475" y="3100241"/>
                <a:ext cx="363719" cy="296869"/>
                <a:chOff x="2838475" y="3100241"/>
                <a:chExt cx="363719" cy="296869"/>
              </a:xfrm>
            </p:grpSpPr>
            <p:grpSp>
              <p:nvGrpSpPr>
                <p:cNvPr id="39" name="Google Shape;8141;p80">
                  <a:extLst>
                    <a:ext uri="{FF2B5EF4-FFF2-40B4-BE49-F238E27FC236}">
                      <a16:creationId xmlns:a16="http://schemas.microsoft.com/office/drawing/2014/main" id="{F52094E6-6337-9411-A3B9-4D68470A64A1}"/>
                    </a:ext>
                  </a:extLst>
                </p:cNvPr>
                <p:cNvGrpSpPr/>
                <p:nvPr/>
              </p:nvGrpSpPr>
              <p:grpSpPr>
                <a:xfrm>
                  <a:off x="2838475" y="3100241"/>
                  <a:ext cx="259185" cy="98237"/>
                  <a:chOff x="2838475" y="3100241"/>
                  <a:chExt cx="259185" cy="98237"/>
                </a:xfrm>
              </p:grpSpPr>
              <p:sp>
                <p:nvSpPr>
                  <p:cNvPr id="43" name="Google Shape;8142;p80">
                    <a:extLst>
                      <a:ext uri="{FF2B5EF4-FFF2-40B4-BE49-F238E27FC236}">
                        <a16:creationId xmlns:a16="http://schemas.microsoft.com/office/drawing/2014/main" id="{0071EE35-37CE-68FC-7BC0-1AA4E815AD12}"/>
                      </a:ext>
                    </a:extLst>
                  </p:cNvPr>
                  <p:cNvSpPr/>
                  <p:nvPr/>
                </p:nvSpPr>
                <p:spPr>
                  <a:xfrm>
                    <a:off x="2845042" y="3106803"/>
                    <a:ext cx="246131" cy="85123"/>
                  </a:xfrm>
                  <a:custGeom>
                    <a:avLst/>
                    <a:gdLst/>
                    <a:ahLst/>
                    <a:cxnLst/>
                    <a:rect l="l" t="t" r="r" b="b"/>
                    <a:pathLst>
                      <a:path w="54065" h="18698" extrusionOk="0">
                        <a:moveTo>
                          <a:pt x="242" y="0"/>
                        </a:moveTo>
                        <a:cubicBezTo>
                          <a:pt x="109" y="0"/>
                          <a:pt x="0" y="109"/>
                          <a:pt x="0" y="242"/>
                        </a:cubicBezTo>
                        <a:lnTo>
                          <a:pt x="0" y="5286"/>
                        </a:lnTo>
                        <a:cubicBezTo>
                          <a:pt x="0" y="8843"/>
                          <a:pt x="2895" y="11736"/>
                          <a:pt x="6451" y="11736"/>
                        </a:cubicBezTo>
                        <a:lnTo>
                          <a:pt x="46862" y="11736"/>
                        </a:lnTo>
                        <a:cubicBezTo>
                          <a:pt x="50567" y="11736"/>
                          <a:pt x="53580" y="14751"/>
                          <a:pt x="53580" y="18456"/>
                        </a:cubicBezTo>
                        <a:cubicBezTo>
                          <a:pt x="53580" y="18589"/>
                          <a:pt x="53689" y="18698"/>
                          <a:pt x="53822" y="18698"/>
                        </a:cubicBezTo>
                        <a:cubicBezTo>
                          <a:pt x="53957" y="18698"/>
                          <a:pt x="54064" y="18589"/>
                          <a:pt x="54063" y="18456"/>
                        </a:cubicBezTo>
                        <a:cubicBezTo>
                          <a:pt x="54063" y="14484"/>
                          <a:pt x="50831" y="11250"/>
                          <a:pt x="46858" y="11250"/>
                        </a:cubicBezTo>
                        <a:lnTo>
                          <a:pt x="6449" y="11250"/>
                        </a:lnTo>
                        <a:cubicBezTo>
                          <a:pt x="3160" y="11250"/>
                          <a:pt x="484" y="8576"/>
                          <a:pt x="484" y="5286"/>
                        </a:cubicBezTo>
                        <a:lnTo>
                          <a:pt x="484" y="242"/>
                        </a:lnTo>
                        <a:cubicBezTo>
                          <a:pt x="484" y="109"/>
                          <a:pt x="376" y="0"/>
                          <a:pt x="242"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8143;p80">
                    <a:extLst>
                      <a:ext uri="{FF2B5EF4-FFF2-40B4-BE49-F238E27FC236}">
                        <a16:creationId xmlns:a16="http://schemas.microsoft.com/office/drawing/2014/main" id="{D5CEB731-A7E7-C43F-9F20-A22C8532B38B}"/>
                      </a:ext>
                    </a:extLst>
                  </p:cNvPr>
                  <p:cNvSpPr/>
                  <p:nvPr/>
                </p:nvSpPr>
                <p:spPr>
                  <a:xfrm>
                    <a:off x="3082301" y="3183117"/>
                    <a:ext cx="15360" cy="15360"/>
                  </a:xfrm>
                  <a:custGeom>
                    <a:avLst/>
                    <a:gdLst/>
                    <a:ahLst/>
                    <a:cxnLst/>
                    <a:rect l="l" t="t" r="r" b="b"/>
                    <a:pathLst>
                      <a:path w="3374" h="3374" extrusionOk="0">
                        <a:moveTo>
                          <a:pt x="1687" y="0"/>
                        </a:moveTo>
                        <a:cubicBezTo>
                          <a:pt x="755" y="0"/>
                          <a:pt x="0" y="755"/>
                          <a:pt x="0" y="1687"/>
                        </a:cubicBezTo>
                        <a:cubicBezTo>
                          <a:pt x="0" y="2619"/>
                          <a:pt x="755" y="3373"/>
                          <a:pt x="1687" y="3373"/>
                        </a:cubicBezTo>
                        <a:cubicBezTo>
                          <a:pt x="2619" y="3373"/>
                          <a:pt x="3373" y="2619"/>
                          <a:pt x="3373" y="1687"/>
                        </a:cubicBezTo>
                        <a:cubicBezTo>
                          <a:pt x="3373" y="755"/>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8144;p80">
                    <a:extLst>
                      <a:ext uri="{FF2B5EF4-FFF2-40B4-BE49-F238E27FC236}">
                        <a16:creationId xmlns:a16="http://schemas.microsoft.com/office/drawing/2014/main" id="{FBF72D95-2704-4604-BC06-69E9673099F7}"/>
                      </a:ext>
                    </a:extLst>
                  </p:cNvPr>
                  <p:cNvSpPr/>
                  <p:nvPr/>
                </p:nvSpPr>
                <p:spPr>
                  <a:xfrm>
                    <a:off x="2838475" y="3100241"/>
                    <a:ext cx="15351" cy="15356"/>
                  </a:xfrm>
                  <a:custGeom>
                    <a:avLst/>
                    <a:gdLst/>
                    <a:ahLst/>
                    <a:cxnLst/>
                    <a:rect l="l" t="t" r="r" b="b"/>
                    <a:pathLst>
                      <a:path w="3372" h="3373" extrusionOk="0">
                        <a:moveTo>
                          <a:pt x="1685" y="1"/>
                        </a:moveTo>
                        <a:cubicBezTo>
                          <a:pt x="753" y="1"/>
                          <a:pt x="0" y="754"/>
                          <a:pt x="0" y="1686"/>
                        </a:cubicBezTo>
                        <a:cubicBezTo>
                          <a:pt x="0" y="2618"/>
                          <a:pt x="753" y="3372"/>
                          <a:pt x="1685" y="3372"/>
                        </a:cubicBezTo>
                        <a:cubicBezTo>
                          <a:pt x="2617" y="3372"/>
                          <a:pt x="3372" y="2618"/>
                          <a:pt x="3372" y="1686"/>
                        </a:cubicBezTo>
                        <a:cubicBezTo>
                          <a:pt x="3372" y="754"/>
                          <a:pt x="2617" y="1"/>
                          <a:pt x="16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8145;p80">
                  <a:extLst>
                    <a:ext uri="{FF2B5EF4-FFF2-40B4-BE49-F238E27FC236}">
                      <a16:creationId xmlns:a16="http://schemas.microsoft.com/office/drawing/2014/main" id="{1AA04EE0-F2E0-47C2-DC7D-DAC0B719A15B}"/>
                    </a:ext>
                  </a:extLst>
                </p:cNvPr>
                <p:cNvGrpSpPr/>
                <p:nvPr/>
              </p:nvGrpSpPr>
              <p:grpSpPr>
                <a:xfrm>
                  <a:off x="2977852" y="3215065"/>
                  <a:ext cx="224343" cy="182045"/>
                  <a:chOff x="2977852" y="3215065"/>
                  <a:chExt cx="224343" cy="182045"/>
                </a:xfrm>
              </p:grpSpPr>
              <p:sp>
                <p:nvSpPr>
                  <p:cNvPr id="41" name="Google Shape;8146;p80">
                    <a:extLst>
                      <a:ext uri="{FF2B5EF4-FFF2-40B4-BE49-F238E27FC236}">
                        <a16:creationId xmlns:a16="http://schemas.microsoft.com/office/drawing/2014/main" id="{26D4694E-15F1-910F-9DBE-F71C148D0A4B}"/>
                      </a:ext>
                    </a:extLst>
                  </p:cNvPr>
                  <p:cNvSpPr/>
                  <p:nvPr/>
                </p:nvSpPr>
                <p:spPr>
                  <a:xfrm>
                    <a:off x="2977852" y="3215065"/>
                    <a:ext cx="224343" cy="182045"/>
                  </a:xfrm>
                  <a:custGeom>
                    <a:avLst/>
                    <a:gdLst/>
                    <a:ahLst/>
                    <a:cxnLst/>
                    <a:rect l="l" t="t" r="r" b="b"/>
                    <a:pathLst>
                      <a:path w="49279" h="39988" extrusionOk="0">
                        <a:moveTo>
                          <a:pt x="7995" y="0"/>
                        </a:moveTo>
                        <a:cubicBezTo>
                          <a:pt x="3580" y="0"/>
                          <a:pt x="0" y="3579"/>
                          <a:pt x="0" y="7995"/>
                        </a:cubicBezTo>
                        <a:lnTo>
                          <a:pt x="0" y="31993"/>
                        </a:lnTo>
                        <a:cubicBezTo>
                          <a:pt x="0" y="36409"/>
                          <a:pt x="3580" y="39988"/>
                          <a:pt x="7995" y="39988"/>
                        </a:cubicBezTo>
                        <a:lnTo>
                          <a:pt x="41282" y="39988"/>
                        </a:lnTo>
                        <a:cubicBezTo>
                          <a:pt x="45698" y="39988"/>
                          <a:pt x="49278" y="36409"/>
                          <a:pt x="49278" y="31993"/>
                        </a:cubicBezTo>
                        <a:lnTo>
                          <a:pt x="49278" y="7995"/>
                        </a:lnTo>
                        <a:cubicBezTo>
                          <a:pt x="49278" y="3579"/>
                          <a:pt x="45698" y="0"/>
                          <a:pt x="41282" y="0"/>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8147;p80">
                    <a:extLst>
                      <a:ext uri="{FF2B5EF4-FFF2-40B4-BE49-F238E27FC236}">
                        <a16:creationId xmlns:a16="http://schemas.microsoft.com/office/drawing/2014/main" id="{7BDBC58C-1C2A-4F6C-0800-B54509D707B7}"/>
                      </a:ext>
                    </a:extLst>
                  </p:cNvPr>
                  <p:cNvSpPr/>
                  <p:nvPr/>
                </p:nvSpPr>
                <p:spPr>
                  <a:xfrm>
                    <a:off x="3020598" y="3305519"/>
                    <a:ext cx="140326" cy="1106"/>
                  </a:xfrm>
                  <a:custGeom>
                    <a:avLst/>
                    <a:gdLst/>
                    <a:ahLst/>
                    <a:cxnLst/>
                    <a:rect l="l" t="t" r="r" b="b"/>
                    <a:pathLst>
                      <a:path w="30824" h="243" extrusionOk="0">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sp>
        <p:nvSpPr>
          <p:cNvPr id="590" name="Google Shape;531;p45">
            <a:extLst>
              <a:ext uri="{FF2B5EF4-FFF2-40B4-BE49-F238E27FC236}">
                <a16:creationId xmlns:a16="http://schemas.microsoft.com/office/drawing/2014/main" id="{D502CB23-77A3-A417-287D-BD0FB761C8D5}"/>
              </a:ext>
            </a:extLst>
          </p:cNvPr>
          <p:cNvSpPr txBox="1">
            <a:spLocks/>
          </p:cNvSpPr>
          <p:nvPr/>
        </p:nvSpPr>
        <p:spPr>
          <a:xfrm>
            <a:off x="2952765" y="2914961"/>
            <a:ext cx="3251700" cy="505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n-US" sz="1800" dirty="0"/>
              <a:t>A</a:t>
            </a:r>
            <a:r>
              <a:rPr lang="en-GB" sz="1800" dirty="0"/>
              <a:t>I System top module integrated</a:t>
            </a:r>
          </a:p>
        </p:txBody>
      </p:sp>
      <p:sp>
        <p:nvSpPr>
          <p:cNvPr id="591" name="Google Shape;532;p45">
            <a:extLst>
              <a:ext uri="{FF2B5EF4-FFF2-40B4-BE49-F238E27FC236}">
                <a16:creationId xmlns:a16="http://schemas.microsoft.com/office/drawing/2014/main" id="{97CC18BC-94D2-DC76-260C-60B9342B4419}"/>
              </a:ext>
            </a:extLst>
          </p:cNvPr>
          <p:cNvSpPr txBox="1">
            <a:spLocks/>
          </p:cNvSpPr>
          <p:nvPr/>
        </p:nvSpPr>
        <p:spPr>
          <a:xfrm>
            <a:off x="1195060" y="4132112"/>
            <a:ext cx="3251700" cy="505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n-GB" sz="1400" dirty="0"/>
              <a:t>Perceptron</a:t>
            </a:r>
          </a:p>
          <a:p>
            <a:pPr marL="0" indent="0"/>
            <a:r>
              <a:rPr lang="en-GB" sz="1400" dirty="0"/>
              <a:t>core</a:t>
            </a:r>
          </a:p>
        </p:txBody>
      </p:sp>
      <p:sp>
        <p:nvSpPr>
          <p:cNvPr id="597" name="Google Shape;533;p45">
            <a:extLst>
              <a:ext uri="{FF2B5EF4-FFF2-40B4-BE49-F238E27FC236}">
                <a16:creationId xmlns:a16="http://schemas.microsoft.com/office/drawing/2014/main" id="{7EE78B8B-C2C3-46CA-C3FD-2C000553328C}"/>
              </a:ext>
            </a:extLst>
          </p:cNvPr>
          <p:cNvSpPr txBox="1">
            <a:spLocks/>
          </p:cNvSpPr>
          <p:nvPr/>
        </p:nvSpPr>
        <p:spPr>
          <a:xfrm>
            <a:off x="2952500" y="4110877"/>
            <a:ext cx="3251700" cy="505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n-GB" sz="1400" dirty="0"/>
              <a:t>Activation</a:t>
            </a:r>
          </a:p>
          <a:p>
            <a:pPr marL="0" indent="0"/>
            <a:r>
              <a:rPr lang="en-GB" sz="1400" dirty="0"/>
              <a:t>layer</a:t>
            </a:r>
          </a:p>
        </p:txBody>
      </p:sp>
      <p:sp>
        <p:nvSpPr>
          <p:cNvPr id="598" name="Google Shape;534;p45">
            <a:extLst>
              <a:ext uri="{FF2B5EF4-FFF2-40B4-BE49-F238E27FC236}">
                <a16:creationId xmlns:a16="http://schemas.microsoft.com/office/drawing/2014/main" id="{12B17B3E-74F1-807B-D5F4-BAA44D3A3860}"/>
              </a:ext>
            </a:extLst>
          </p:cNvPr>
          <p:cNvSpPr txBox="1">
            <a:spLocks/>
          </p:cNvSpPr>
          <p:nvPr/>
        </p:nvSpPr>
        <p:spPr>
          <a:xfrm>
            <a:off x="4705054" y="4110877"/>
            <a:ext cx="3251700" cy="505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n-US" sz="1400" dirty="0"/>
              <a:t>U</a:t>
            </a:r>
            <a:r>
              <a:rPr lang="en-GB" sz="1400" dirty="0"/>
              <a:t>ART</a:t>
            </a:r>
          </a:p>
          <a:p>
            <a:pPr marL="0" indent="0"/>
            <a:r>
              <a:rPr lang="en-GB" sz="1400" dirty="0"/>
              <a:t>Transmitter</a:t>
            </a:r>
          </a:p>
        </p:txBody>
      </p:sp>
      <p:sp>
        <p:nvSpPr>
          <p:cNvPr id="599" name="Google Shape;531;p45">
            <a:extLst>
              <a:ext uri="{FF2B5EF4-FFF2-40B4-BE49-F238E27FC236}">
                <a16:creationId xmlns:a16="http://schemas.microsoft.com/office/drawing/2014/main" id="{C2A64533-7BD5-3201-1E01-C08BC2DE9167}"/>
              </a:ext>
            </a:extLst>
          </p:cNvPr>
          <p:cNvSpPr txBox="1">
            <a:spLocks/>
          </p:cNvSpPr>
          <p:nvPr/>
        </p:nvSpPr>
        <p:spPr>
          <a:xfrm>
            <a:off x="2945937" y="1558272"/>
            <a:ext cx="3251700" cy="505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n-GB" sz="1400" dirty="0"/>
              <a:t>Communication</a:t>
            </a:r>
          </a:p>
          <a:p>
            <a:pPr marL="0" indent="0"/>
            <a:r>
              <a:rPr lang="en-GB" sz="1400" dirty="0"/>
              <a:t>Top module</a:t>
            </a:r>
          </a:p>
        </p:txBody>
      </p:sp>
      <p:sp>
        <p:nvSpPr>
          <p:cNvPr id="600" name="Google Shape;531;p45">
            <a:extLst>
              <a:ext uri="{FF2B5EF4-FFF2-40B4-BE49-F238E27FC236}">
                <a16:creationId xmlns:a16="http://schemas.microsoft.com/office/drawing/2014/main" id="{CA2819A5-2103-3331-0974-885E5078E9CF}"/>
              </a:ext>
            </a:extLst>
          </p:cNvPr>
          <p:cNvSpPr txBox="1">
            <a:spLocks/>
          </p:cNvSpPr>
          <p:nvPr/>
        </p:nvSpPr>
        <p:spPr>
          <a:xfrm>
            <a:off x="1201604" y="1387888"/>
            <a:ext cx="3251700" cy="505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n-GB" sz="1400" dirty="0"/>
              <a:t>UART Receiver</a:t>
            </a:r>
          </a:p>
        </p:txBody>
      </p:sp>
      <p:sp>
        <p:nvSpPr>
          <p:cNvPr id="601" name="Google Shape;531;p45">
            <a:extLst>
              <a:ext uri="{FF2B5EF4-FFF2-40B4-BE49-F238E27FC236}">
                <a16:creationId xmlns:a16="http://schemas.microsoft.com/office/drawing/2014/main" id="{8267EDCB-9A0C-5B10-FBA7-A8D9963813E6}"/>
              </a:ext>
            </a:extLst>
          </p:cNvPr>
          <p:cNvSpPr txBox="1">
            <a:spLocks/>
          </p:cNvSpPr>
          <p:nvPr/>
        </p:nvSpPr>
        <p:spPr>
          <a:xfrm>
            <a:off x="4697282" y="1421478"/>
            <a:ext cx="3251700" cy="505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n-GB" sz="1400" dirty="0"/>
              <a:t>Packet Parser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RTL Modules</a:t>
            </a:r>
            <a:endParaRPr dirty="0"/>
          </a:p>
        </p:txBody>
      </p:sp>
      <p:sp>
        <p:nvSpPr>
          <p:cNvPr id="527" name="Google Shape;527;p45"/>
          <p:cNvSpPr txBox="1">
            <a:spLocks noGrp="1"/>
          </p:cNvSpPr>
          <p:nvPr>
            <p:ph type="subTitle" idx="1"/>
          </p:nvPr>
        </p:nvSpPr>
        <p:spPr>
          <a:xfrm>
            <a:off x="2459663" y="2788764"/>
            <a:ext cx="4224672"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1200" dirty="0"/>
              <a:t>Handles UART reception and groups incoming bytes into feature packets</a:t>
            </a:r>
            <a:endParaRPr sz="1050" dirty="0"/>
          </a:p>
        </p:txBody>
      </p:sp>
      <p:sp>
        <p:nvSpPr>
          <p:cNvPr id="528" name="Google Shape;528;p45"/>
          <p:cNvSpPr txBox="1">
            <a:spLocks noGrp="1"/>
          </p:cNvSpPr>
          <p:nvPr>
            <p:ph type="subTitle" idx="2"/>
          </p:nvPr>
        </p:nvSpPr>
        <p:spPr>
          <a:xfrm>
            <a:off x="4660661" y="2102119"/>
            <a:ext cx="3429049"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1200" dirty="0"/>
              <a:t>Applies threshold logic to generate binary prediction</a:t>
            </a:r>
            <a:endParaRPr sz="900" dirty="0"/>
          </a:p>
        </p:txBody>
      </p:sp>
      <p:sp>
        <p:nvSpPr>
          <p:cNvPr id="529" name="Google Shape;529;p45"/>
          <p:cNvSpPr txBox="1">
            <a:spLocks noGrp="1"/>
          </p:cNvSpPr>
          <p:nvPr>
            <p:ph type="subTitle" idx="3"/>
          </p:nvPr>
        </p:nvSpPr>
        <p:spPr>
          <a:xfrm>
            <a:off x="1054288" y="2102823"/>
            <a:ext cx="342905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1200" dirty="0"/>
              <a:t>Performs weighted sum computation of input features</a:t>
            </a:r>
            <a:endParaRPr sz="1050" dirty="0"/>
          </a:p>
        </p:txBody>
      </p:sp>
      <p:sp>
        <p:nvSpPr>
          <p:cNvPr id="530" name="Google Shape;530;p45"/>
          <p:cNvSpPr txBox="1">
            <a:spLocks noGrp="1"/>
          </p:cNvSpPr>
          <p:nvPr>
            <p:ph type="subTitle" idx="4"/>
          </p:nvPr>
        </p:nvSpPr>
        <p:spPr>
          <a:xfrm>
            <a:off x="2702907" y="4125775"/>
            <a:ext cx="3738187" cy="38345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1200" dirty="0"/>
              <a:t>Transmits prediction result back to host system</a:t>
            </a:r>
            <a:endParaRPr sz="1050" dirty="0"/>
          </a:p>
        </p:txBody>
      </p:sp>
      <p:sp>
        <p:nvSpPr>
          <p:cNvPr id="531" name="Google Shape;531;p45"/>
          <p:cNvSpPr txBox="1">
            <a:spLocks noGrp="1"/>
          </p:cNvSpPr>
          <p:nvPr>
            <p:ph type="subTitle" idx="5"/>
          </p:nvPr>
        </p:nvSpPr>
        <p:spPr>
          <a:xfrm>
            <a:off x="2946149" y="2485072"/>
            <a:ext cx="3251700" cy="505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1800" dirty="0"/>
              <a:t>(A.3) c</a:t>
            </a:r>
            <a:r>
              <a:rPr lang="en" sz="1800" dirty="0"/>
              <a:t>omm_top</a:t>
            </a:r>
            <a:endParaRPr sz="1800" dirty="0"/>
          </a:p>
        </p:txBody>
      </p:sp>
      <p:sp>
        <p:nvSpPr>
          <p:cNvPr id="532" name="Google Shape;532;p45"/>
          <p:cNvSpPr txBox="1">
            <a:spLocks noGrp="1"/>
          </p:cNvSpPr>
          <p:nvPr>
            <p:ph type="subTitle" idx="6"/>
          </p:nvPr>
        </p:nvSpPr>
        <p:spPr>
          <a:xfrm>
            <a:off x="1142963" y="1803286"/>
            <a:ext cx="3251700" cy="505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1800" dirty="0"/>
              <a:t>(A.1) perceptron_core</a:t>
            </a:r>
            <a:endParaRPr sz="1800" dirty="0"/>
          </a:p>
        </p:txBody>
      </p:sp>
      <p:sp>
        <p:nvSpPr>
          <p:cNvPr id="533" name="Google Shape;533;p45"/>
          <p:cNvSpPr txBox="1">
            <a:spLocks noGrp="1"/>
          </p:cNvSpPr>
          <p:nvPr>
            <p:ph type="subTitle" idx="7"/>
          </p:nvPr>
        </p:nvSpPr>
        <p:spPr>
          <a:xfrm>
            <a:off x="4749336" y="1803286"/>
            <a:ext cx="3251700" cy="505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1800" dirty="0"/>
              <a:t>(A.2) activation_layer</a:t>
            </a:r>
            <a:endParaRPr sz="1800" dirty="0"/>
          </a:p>
        </p:txBody>
      </p:sp>
      <p:sp>
        <p:nvSpPr>
          <p:cNvPr id="534" name="Google Shape;534;p45"/>
          <p:cNvSpPr txBox="1">
            <a:spLocks noGrp="1"/>
          </p:cNvSpPr>
          <p:nvPr>
            <p:ph type="subTitle" idx="8"/>
          </p:nvPr>
        </p:nvSpPr>
        <p:spPr>
          <a:xfrm>
            <a:off x="2946150" y="3791163"/>
            <a:ext cx="3251700" cy="505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1800" dirty="0"/>
              <a:t>(A.4) u</a:t>
            </a:r>
            <a:r>
              <a:rPr lang="en" sz="1800" dirty="0"/>
              <a:t>art_tx</a:t>
            </a:r>
            <a:endParaRPr sz="1800" dirty="0"/>
          </a:p>
        </p:txBody>
      </p:sp>
      <p:sp>
        <p:nvSpPr>
          <p:cNvPr id="2" name="Google Shape;531;p45">
            <a:extLst>
              <a:ext uri="{FF2B5EF4-FFF2-40B4-BE49-F238E27FC236}">
                <a16:creationId xmlns:a16="http://schemas.microsoft.com/office/drawing/2014/main" id="{854998F0-1E2D-907E-29F7-DD380045C421}"/>
              </a:ext>
            </a:extLst>
          </p:cNvPr>
          <p:cNvSpPr txBox="1">
            <a:spLocks/>
          </p:cNvSpPr>
          <p:nvPr/>
        </p:nvSpPr>
        <p:spPr>
          <a:xfrm>
            <a:off x="2946150" y="1121500"/>
            <a:ext cx="3251700" cy="505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n-GB" sz="1800" dirty="0"/>
              <a:t>(A) ai_system_top</a:t>
            </a:r>
          </a:p>
        </p:txBody>
      </p:sp>
      <p:sp>
        <p:nvSpPr>
          <p:cNvPr id="3" name="Google Shape;527;p45">
            <a:extLst>
              <a:ext uri="{FF2B5EF4-FFF2-40B4-BE49-F238E27FC236}">
                <a16:creationId xmlns:a16="http://schemas.microsoft.com/office/drawing/2014/main" id="{5A51E787-A3C5-B65B-75E3-4457848D7AEF}"/>
              </a:ext>
            </a:extLst>
          </p:cNvPr>
          <p:cNvSpPr txBox="1">
            <a:spLocks/>
          </p:cNvSpPr>
          <p:nvPr/>
        </p:nvSpPr>
        <p:spPr>
          <a:xfrm>
            <a:off x="2390912" y="1468027"/>
            <a:ext cx="4362175" cy="34541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9pPr>
          </a:lstStyle>
          <a:p>
            <a:pPr marL="0" indent="0"/>
            <a:r>
              <a:rPr lang="en-GB" sz="1200" dirty="0"/>
              <a:t>Integrates all modules into complete AI inference pipeline</a:t>
            </a:r>
            <a:endParaRPr lang="en-GB" sz="1050" dirty="0"/>
          </a:p>
        </p:txBody>
      </p:sp>
      <p:sp>
        <p:nvSpPr>
          <p:cNvPr id="5" name="Google Shape;531;p45">
            <a:extLst>
              <a:ext uri="{FF2B5EF4-FFF2-40B4-BE49-F238E27FC236}">
                <a16:creationId xmlns:a16="http://schemas.microsoft.com/office/drawing/2014/main" id="{ED8684CE-6CCC-EED4-BCC4-1543B33B91BC}"/>
              </a:ext>
            </a:extLst>
          </p:cNvPr>
          <p:cNvSpPr txBox="1">
            <a:spLocks/>
          </p:cNvSpPr>
          <p:nvPr/>
        </p:nvSpPr>
        <p:spPr>
          <a:xfrm>
            <a:off x="938595" y="3073097"/>
            <a:ext cx="3251700" cy="505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n-GB" sz="1800" dirty="0"/>
              <a:t>(A.3.1) uart_rx</a:t>
            </a:r>
          </a:p>
        </p:txBody>
      </p:sp>
      <p:sp>
        <p:nvSpPr>
          <p:cNvPr id="6" name="Google Shape;531;p45">
            <a:extLst>
              <a:ext uri="{FF2B5EF4-FFF2-40B4-BE49-F238E27FC236}">
                <a16:creationId xmlns:a16="http://schemas.microsoft.com/office/drawing/2014/main" id="{841285DE-45D4-DAD0-F3A0-8500870EF5BD}"/>
              </a:ext>
            </a:extLst>
          </p:cNvPr>
          <p:cNvSpPr txBox="1">
            <a:spLocks/>
          </p:cNvSpPr>
          <p:nvPr/>
        </p:nvSpPr>
        <p:spPr>
          <a:xfrm>
            <a:off x="4953707" y="3073097"/>
            <a:ext cx="3251700" cy="505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r>
              <a:rPr lang="en-GB" sz="1800" dirty="0"/>
              <a:t>(A.3.2) packet_parser</a:t>
            </a:r>
          </a:p>
        </p:txBody>
      </p:sp>
      <p:sp>
        <p:nvSpPr>
          <p:cNvPr id="8" name="Google Shape;530;p45">
            <a:extLst>
              <a:ext uri="{FF2B5EF4-FFF2-40B4-BE49-F238E27FC236}">
                <a16:creationId xmlns:a16="http://schemas.microsoft.com/office/drawing/2014/main" id="{73136096-BD6A-19E6-B16C-C3938C997E3C}"/>
              </a:ext>
            </a:extLst>
          </p:cNvPr>
          <p:cNvSpPr txBox="1">
            <a:spLocks/>
          </p:cNvSpPr>
          <p:nvPr/>
        </p:nvSpPr>
        <p:spPr>
          <a:xfrm>
            <a:off x="938595" y="3359447"/>
            <a:ext cx="3606373"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9pPr>
          </a:lstStyle>
          <a:p>
            <a:pPr marL="0" indent="0"/>
            <a:r>
              <a:rPr lang="en-GB" sz="1200" dirty="0"/>
              <a:t>Receives serial data and converts it into parallel feature values</a:t>
            </a:r>
            <a:endParaRPr lang="en-GB" sz="1050" dirty="0"/>
          </a:p>
        </p:txBody>
      </p:sp>
      <p:sp>
        <p:nvSpPr>
          <p:cNvPr id="9" name="Google Shape;530;p45">
            <a:extLst>
              <a:ext uri="{FF2B5EF4-FFF2-40B4-BE49-F238E27FC236}">
                <a16:creationId xmlns:a16="http://schemas.microsoft.com/office/drawing/2014/main" id="{772CCF19-2CA1-8A78-1CB8-932C94BA249E}"/>
              </a:ext>
            </a:extLst>
          </p:cNvPr>
          <p:cNvSpPr txBox="1">
            <a:spLocks/>
          </p:cNvSpPr>
          <p:nvPr/>
        </p:nvSpPr>
        <p:spPr>
          <a:xfrm>
            <a:off x="4881148" y="3360369"/>
            <a:ext cx="3606373"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9pPr>
          </a:lstStyle>
          <a:p>
            <a:pPr marL="0" indent="0"/>
            <a:r>
              <a:rPr lang="en-GB" sz="1200" dirty="0"/>
              <a:t>Converts the parallel feature values into a packet through fsm</a:t>
            </a:r>
            <a:endParaRPr lang="en-GB" sz="1050" dirty="0"/>
          </a:p>
        </p:txBody>
      </p:sp>
    </p:spTree>
    <p:extLst>
      <p:ext uri="{BB962C8B-B14F-4D97-AF65-F5344CB8AC3E}">
        <p14:creationId xmlns:p14="http://schemas.microsoft.com/office/powerpoint/2010/main" val="300056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46"/>
          <p:cNvSpPr txBox="1">
            <a:spLocks noGrp="1"/>
          </p:cNvSpPr>
          <p:nvPr>
            <p:ph type="subTitle" idx="2"/>
          </p:nvPr>
        </p:nvSpPr>
        <p:spPr>
          <a:xfrm>
            <a:off x="2623174" y="1586784"/>
            <a:ext cx="3897647" cy="47818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Receives feature data byte-by-byte</a:t>
            </a:r>
            <a:endParaRPr dirty="0"/>
          </a:p>
        </p:txBody>
      </p:sp>
      <p:sp>
        <p:nvSpPr>
          <p:cNvPr id="568" name="Google Shape;568;p46"/>
          <p:cNvSpPr txBox="1">
            <a:spLocks noGrp="1"/>
          </p:cNvSpPr>
          <p:nvPr>
            <p:ph type="subTitle" idx="5"/>
          </p:nvPr>
        </p:nvSpPr>
        <p:spPr>
          <a:xfrm>
            <a:off x="2623172" y="1917461"/>
            <a:ext cx="3897646"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Operates at 115200 baud rate (8N1 format)</a:t>
            </a:r>
            <a:endParaRPr dirty="0"/>
          </a:p>
        </p:txBody>
      </p:sp>
      <p:sp>
        <p:nvSpPr>
          <p:cNvPr id="569" name="Google Shape;569;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UART Communication</a:t>
            </a:r>
            <a:endParaRPr dirty="0"/>
          </a:p>
        </p:txBody>
      </p:sp>
      <p:sp>
        <p:nvSpPr>
          <p:cNvPr id="570" name="Google Shape;570;p46"/>
          <p:cNvSpPr txBox="1">
            <a:spLocks noGrp="1"/>
          </p:cNvSpPr>
          <p:nvPr>
            <p:ph type="subTitle" idx="1"/>
          </p:nvPr>
        </p:nvSpPr>
        <p:spPr>
          <a:xfrm>
            <a:off x="2623175" y="1017725"/>
            <a:ext cx="3897648"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UART used for serial communication with host system</a:t>
            </a:r>
            <a:endParaRPr dirty="0"/>
          </a:p>
        </p:txBody>
      </p:sp>
      <p:sp>
        <p:nvSpPr>
          <p:cNvPr id="571" name="Google Shape;571;p46"/>
          <p:cNvSpPr txBox="1">
            <a:spLocks noGrp="1"/>
          </p:cNvSpPr>
          <p:nvPr>
            <p:ph type="subTitle" idx="3"/>
          </p:nvPr>
        </p:nvSpPr>
        <p:spPr>
          <a:xfrm>
            <a:off x="2623168" y="2219143"/>
            <a:ext cx="3897645"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Converts serial input into parallel feature values</a:t>
            </a:r>
            <a:endParaRPr dirty="0"/>
          </a:p>
        </p:txBody>
      </p:sp>
      <p:sp>
        <p:nvSpPr>
          <p:cNvPr id="572" name="Google Shape;572;p46"/>
          <p:cNvSpPr txBox="1">
            <a:spLocks noGrp="1"/>
          </p:cNvSpPr>
          <p:nvPr>
            <p:ph type="subTitle" idx="4"/>
          </p:nvPr>
        </p:nvSpPr>
        <p:spPr>
          <a:xfrm>
            <a:off x="2623163" y="2712513"/>
            <a:ext cx="3897645"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Transmits prediction result back via UART</a:t>
            </a:r>
            <a:endParaRPr dirty="0"/>
          </a:p>
        </p:txBody>
      </p:sp>
      <p:sp>
        <p:nvSpPr>
          <p:cNvPr id="27" name="Rectangle 26">
            <a:extLst>
              <a:ext uri="{FF2B5EF4-FFF2-40B4-BE49-F238E27FC236}">
                <a16:creationId xmlns:a16="http://schemas.microsoft.com/office/drawing/2014/main" id="{8A1B47EE-C99F-0DEC-59AB-FE9B39C14846}"/>
              </a:ext>
            </a:extLst>
          </p:cNvPr>
          <p:cNvSpPr/>
          <p:nvPr/>
        </p:nvSpPr>
        <p:spPr>
          <a:xfrm>
            <a:off x="2715699" y="3145056"/>
            <a:ext cx="3685101" cy="1743965"/>
          </a:xfrm>
          <a:prstGeom prst="rect">
            <a:avLst/>
          </a:prstGeom>
          <a:solidFill>
            <a:schemeClr val="accent2">
              <a:lumMod val="85000"/>
            </a:schemeClr>
          </a:solidFill>
          <a:ln>
            <a:solidFill>
              <a:schemeClr val="accent1">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73" name="Google Shape;573;p46"/>
          <p:cNvSpPr txBox="1">
            <a:spLocks noGrp="1"/>
          </p:cNvSpPr>
          <p:nvPr>
            <p:ph type="subTitle" idx="6"/>
          </p:nvPr>
        </p:nvSpPr>
        <p:spPr>
          <a:xfrm>
            <a:off x="2161893" y="3452448"/>
            <a:ext cx="4820183" cy="1436573"/>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dirty="0"/>
              <a:t>Baud Rate : 115200</a:t>
            </a:r>
          </a:p>
          <a:p>
            <a:pPr marL="0" lvl="0" indent="0" algn="ctr" rtl="0">
              <a:spcBef>
                <a:spcPts val="0"/>
              </a:spcBef>
              <a:spcAft>
                <a:spcPts val="0"/>
              </a:spcAft>
              <a:buNone/>
            </a:pPr>
            <a:r>
              <a:rPr lang="en-GB" dirty="0"/>
              <a:t>Data Bits : 8</a:t>
            </a:r>
          </a:p>
          <a:p>
            <a:pPr marL="0" lvl="0" indent="0" algn="ctr" rtl="0">
              <a:spcBef>
                <a:spcPts val="0"/>
              </a:spcBef>
              <a:spcAft>
                <a:spcPts val="0"/>
              </a:spcAft>
              <a:buNone/>
            </a:pPr>
            <a:r>
              <a:rPr lang="en-GB" dirty="0"/>
              <a:t>Parity : None</a:t>
            </a:r>
          </a:p>
          <a:p>
            <a:pPr marL="0" lvl="0" indent="0" algn="ctr" rtl="0">
              <a:spcBef>
                <a:spcPts val="0"/>
              </a:spcBef>
              <a:spcAft>
                <a:spcPts val="0"/>
              </a:spcAft>
              <a:buNone/>
            </a:pPr>
            <a:r>
              <a:rPr lang="en-GB" dirty="0"/>
              <a:t>Stop Bits : 1</a:t>
            </a:r>
          </a:p>
          <a:p>
            <a:pPr marL="0" lvl="0" indent="0" algn="ctr" rtl="0">
              <a:spcBef>
                <a:spcPts val="0"/>
              </a:spcBef>
              <a:spcAft>
                <a:spcPts val="0"/>
              </a:spcAft>
              <a:buNone/>
            </a:pPr>
            <a:r>
              <a:rPr lang="en-GB" dirty="0"/>
              <a:t>Clock : 50 MHz (configured)</a:t>
            </a:r>
            <a:endParaRPr dirty="0"/>
          </a:p>
        </p:txBody>
      </p:sp>
      <p:sp>
        <p:nvSpPr>
          <p:cNvPr id="579" name="Google Shape;579;p46"/>
          <p:cNvSpPr txBox="1">
            <a:spLocks noGrp="1"/>
          </p:cNvSpPr>
          <p:nvPr>
            <p:ph type="subTitle" idx="15"/>
          </p:nvPr>
        </p:nvSpPr>
        <p:spPr>
          <a:xfrm>
            <a:off x="3187355" y="3155812"/>
            <a:ext cx="276926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Key Parameters</a:t>
            </a:r>
            <a:endParaRPr dirty="0"/>
          </a:p>
        </p:txBody>
      </p:sp>
      <p:grpSp>
        <p:nvGrpSpPr>
          <p:cNvPr id="12" name="Google Shape;1643;p78">
            <a:extLst>
              <a:ext uri="{FF2B5EF4-FFF2-40B4-BE49-F238E27FC236}">
                <a16:creationId xmlns:a16="http://schemas.microsoft.com/office/drawing/2014/main" id="{33BA2600-B7EA-C155-A039-2CCCF0C249F0}"/>
              </a:ext>
            </a:extLst>
          </p:cNvPr>
          <p:cNvGrpSpPr/>
          <p:nvPr/>
        </p:nvGrpSpPr>
        <p:grpSpPr>
          <a:xfrm>
            <a:off x="2522097" y="1173957"/>
            <a:ext cx="101077" cy="107645"/>
            <a:chOff x="4811425" y="2065025"/>
            <a:chExt cx="41500" cy="44200"/>
          </a:xfrm>
        </p:grpSpPr>
        <p:sp>
          <p:nvSpPr>
            <p:cNvPr id="13" name="Google Shape;1644;p78">
              <a:extLst>
                <a:ext uri="{FF2B5EF4-FFF2-40B4-BE49-F238E27FC236}">
                  <a16:creationId xmlns:a16="http://schemas.microsoft.com/office/drawing/2014/main" id="{29EEFBD4-1E15-345D-EBA8-3D4B3B0ED324}"/>
                </a:ext>
              </a:extLst>
            </p:cNvPr>
            <p:cNvSpPr/>
            <p:nvPr/>
          </p:nvSpPr>
          <p:spPr>
            <a:xfrm>
              <a:off x="4825300" y="2065025"/>
              <a:ext cx="27625" cy="44200"/>
            </a:xfrm>
            <a:custGeom>
              <a:avLst/>
              <a:gdLst/>
              <a:ahLst/>
              <a:cxnLst/>
              <a:rect l="l" t="t" r="r" b="b"/>
              <a:pathLst>
                <a:path w="1105" h="1768" extrusionOk="0">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645;p78">
              <a:extLst>
                <a:ext uri="{FF2B5EF4-FFF2-40B4-BE49-F238E27FC236}">
                  <a16:creationId xmlns:a16="http://schemas.microsoft.com/office/drawing/2014/main" id="{53178B5B-F5A2-9A13-C6F7-B1A8A3216443}"/>
                </a:ext>
              </a:extLst>
            </p:cNvPr>
            <p:cNvSpPr/>
            <p:nvPr/>
          </p:nvSpPr>
          <p:spPr>
            <a:xfrm>
              <a:off x="4811425" y="2072950"/>
              <a:ext cx="19850" cy="28350"/>
            </a:xfrm>
            <a:custGeom>
              <a:avLst/>
              <a:gdLst/>
              <a:ahLst/>
              <a:cxnLst/>
              <a:rect l="l" t="t" r="r" b="b"/>
              <a:pathLst>
                <a:path w="794" h="1134" extrusionOk="0">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1643;p78">
            <a:extLst>
              <a:ext uri="{FF2B5EF4-FFF2-40B4-BE49-F238E27FC236}">
                <a16:creationId xmlns:a16="http://schemas.microsoft.com/office/drawing/2014/main" id="{B1FF637D-0F0B-F311-33DE-9C1969EC041A}"/>
              </a:ext>
            </a:extLst>
          </p:cNvPr>
          <p:cNvGrpSpPr/>
          <p:nvPr/>
        </p:nvGrpSpPr>
        <p:grpSpPr>
          <a:xfrm>
            <a:off x="2522097" y="1757473"/>
            <a:ext cx="101077" cy="107645"/>
            <a:chOff x="4811425" y="2065025"/>
            <a:chExt cx="41500" cy="44200"/>
          </a:xfrm>
        </p:grpSpPr>
        <p:sp>
          <p:nvSpPr>
            <p:cNvPr id="16" name="Google Shape;1644;p78">
              <a:extLst>
                <a:ext uri="{FF2B5EF4-FFF2-40B4-BE49-F238E27FC236}">
                  <a16:creationId xmlns:a16="http://schemas.microsoft.com/office/drawing/2014/main" id="{243DDC86-A51E-F9C7-57E3-ED2B56025CC2}"/>
                </a:ext>
              </a:extLst>
            </p:cNvPr>
            <p:cNvSpPr/>
            <p:nvPr/>
          </p:nvSpPr>
          <p:spPr>
            <a:xfrm>
              <a:off x="4825300" y="2065025"/>
              <a:ext cx="27625" cy="44200"/>
            </a:xfrm>
            <a:custGeom>
              <a:avLst/>
              <a:gdLst/>
              <a:ahLst/>
              <a:cxnLst/>
              <a:rect l="l" t="t" r="r" b="b"/>
              <a:pathLst>
                <a:path w="1105" h="1768" extrusionOk="0">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645;p78">
              <a:extLst>
                <a:ext uri="{FF2B5EF4-FFF2-40B4-BE49-F238E27FC236}">
                  <a16:creationId xmlns:a16="http://schemas.microsoft.com/office/drawing/2014/main" id="{6CB4CD43-BA20-867E-EAEF-BF41A930C772}"/>
                </a:ext>
              </a:extLst>
            </p:cNvPr>
            <p:cNvSpPr/>
            <p:nvPr/>
          </p:nvSpPr>
          <p:spPr>
            <a:xfrm>
              <a:off x="4811425" y="2072950"/>
              <a:ext cx="19850" cy="28350"/>
            </a:xfrm>
            <a:custGeom>
              <a:avLst/>
              <a:gdLst/>
              <a:ahLst/>
              <a:cxnLst/>
              <a:rect l="l" t="t" r="r" b="b"/>
              <a:pathLst>
                <a:path w="794" h="1134" extrusionOk="0">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643;p78">
            <a:extLst>
              <a:ext uri="{FF2B5EF4-FFF2-40B4-BE49-F238E27FC236}">
                <a16:creationId xmlns:a16="http://schemas.microsoft.com/office/drawing/2014/main" id="{541BCBE0-A19A-9845-04E8-BAE73142B822}"/>
              </a:ext>
            </a:extLst>
          </p:cNvPr>
          <p:cNvGrpSpPr/>
          <p:nvPr/>
        </p:nvGrpSpPr>
        <p:grpSpPr>
          <a:xfrm>
            <a:off x="2522097" y="2064967"/>
            <a:ext cx="101077" cy="107645"/>
            <a:chOff x="4811425" y="2065025"/>
            <a:chExt cx="41500" cy="44200"/>
          </a:xfrm>
        </p:grpSpPr>
        <p:sp>
          <p:nvSpPr>
            <p:cNvPr id="19" name="Google Shape;1644;p78">
              <a:extLst>
                <a:ext uri="{FF2B5EF4-FFF2-40B4-BE49-F238E27FC236}">
                  <a16:creationId xmlns:a16="http://schemas.microsoft.com/office/drawing/2014/main" id="{FD22A679-476A-D110-36DF-87E98C0E0F01}"/>
                </a:ext>
              </a:extLst>
            </p:cNvPr>
            <p:cNvSpPr/>
            <p:nvPr/>
          </p:nvSpPr>
          <p:spPr>
            <a:xfrm>
              <a:off x="4825300" y="2065025"/>
              <a:ext cx="27625" cy="44200"/>
            </a:xfrm>
            <a:custGeom>
              <a:avLst/>
              <a:gdLst/>
              <a:ahLst/>
              <a:cxnLst/>
              <a:rect l="l" t="t" r="r" b="b"/>
              <a:pathLst>
                <a:path w="1105" h="1768" extrusionOk="0">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645;p78">
              <a:extLst>
                <a:ext uri="{FF2B5EF4-FFF2-40B4-BE49-F238E27FC236}">
                  <a16:creationId xmlns:a16="http://schemas.microsoft.com/office/drawing/2014/main" id="{B28AE59A-C883-C3EF-D6C0-5577318FC577}"/>
                </a:ext>
              </a:extLst>
            </p:cNvPr>
            <p:cNvSpPr/>
            <p:nvPr/>
          </p:nvSpPr>
          <p:spPr>
            <a:xfrm>
              <a:off x="4811425" y="2072950"/>
              <a:ext cx="19850" cy="28350"/>
            </a:xfrm>
            <a:custGeom>
              <a:avLst/>
              <a:gdLst/>
              <a:ahLst/>
              <a:cxnLst/>
              <a:rect l="l" t="t" r="r" b="b"/>
              <a:pathLst>
                <a:path w="794" h="1134" extrusionOk="0">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643;p78">
            <a:extLst>
              <a:ext uri="{FF2B5EF4-FFF2-40B4-BE49-F238E27FC236}">
                <a16:creationId xmlns:a16="http://schemas.microsoft.com/office/drawing/2014/main" id="{F7621F16-F15A-D814-4366-C04853B0D4CB}"/>
              </a:ext>
            </a:extLst>
          </p:cNvPr>
          <p:cNvGrpSpPr/>
          <p:nvPr/>
        </p:nvGrpSpPr>
        <p:grpSpPr>
          <a:xfrm>
            <a:off x="2519904" y="2383125"/>
            <a:ext cx="101077" cy="107645"/>
            <a:chOff x="4811425" y="2065025"/>
            <a:chExt cx="41500" cy="44200"/>
          </a:xfrm>
        </p:grpSpPr>
        <p:sp>
          <p:nvSpPr>
            <p:cNvPr id="22" name="Google Shape;1644;p78">
              <a:extLst>
                <a:ext uri="{FF2B5EF4-FFF2-40B4-BE49-F238E27FC236}">
                  <a16:creationId xmlns:a16="http://schemas.microsoft.com/office/drawing/2014/main" id="{2599A1F2-9E21-F0C1-5692-74FB2FD8B352}"/>
                </a:ext>
              </a:extLst>
            </p:cNvPr>
            <p:cNvSpPr/>
            <p:nvPr/>
          </p:nvSpPr>
          <p:spPr>
            <a:xfrm>
              <a:off x="4825300" y="2065025"/>
              <a:ext cx="27625" cy="44200"/>
            </a:xfrm>
            <a:custGeom>
              <a:avLst/>
              <a:gdLst/>
              <a:ahLst/>
              <a:cxnLst/>
              <a:rect l="l" t="t" r="r" b="b"/>
              <a:pathLst>
                <a:path w="1105" h="1768" extrusionOk="0">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645;p78">
              <a:extLst>
                <a:ext uri="{FF2B5EF4-FFF2-40B4-BE49-F238E27FC236}">
                  <a16:creationId xmlns:a16="http://schemas.microsoft.com/office/drawing/2014/main" id="{EA93A5E3-9DBB-37D6-FDF7-836F1A70CB93}"/>
                </a:ext>
              </a:extLst>
            </p:cNvPr>
            <p:cNvSpPr/>
            <p:nvPr/>
          </p:nvSpPr>
          <p:spPr>
            <a:xfrm>
              <a:off x="4811425" y="2072950"/>
              <a:ext cx="19850" cy="28350"/>
            </a:xfrm>
            <a:custGeom>
              <a:avLst/>
              <a:gdLst/>
              <a:ahLst/>
              <a:cxnLst/>
              <a:rect l="l" t="t" r="r" b="b"/>
              <a:pathLst>
                <a:path w="794" h="1134" extrusionOk="0">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1643;p78">
            <a:extLst>
              <a:ext uri="{FF2B5EF4-FFF2-40B4-BE49-F238E27FC236}">
                <a16:creationId xmlns:a16="http://schemas.microsoft.com/office/drawing/2014/main" id="{11BEF6A0-566B-AE6D-6456-4FCA8BE2E064}"/>
              </a:ext>
            </a:extLst>
          </p:cNvPr>
          <p:cNvGrpSpPr/>
          <p:nvPr/>
        </p:nvGrpSpPr>
        <p:grpSpPr>
          <a:xfrm>
            <a:off x="2519904" y="2874962"/>
            <a:ext cx="101077" cy="107645"/>
            <a:chOff x="4811425" y="2065025"/>
            <a:chExt cx="41500" cy="44200"/>
          </a:xfrm>
        </p:grpSpPr>
        <p:sp>
          <p:nvSpPr>
            <p:cNvPr id="25" name="Google Shape;1644;p78">
              <a:extLst>
                <a:ext uri="{FF2B5EF4-FFF2-40B4-BE49-F238E27FC236}">
                  <a16:creationId xmlns:a16="http://schemas.microsoft.com/office/drawing/2014/main" id="{FD41C22C-EB5D-76EC-0B5B-41D91512FD83}"/>
                </a:ext>
              </a:extLst>
            </p:cNvPr>
            <p:cNvSpPr/>
            <p:nvPr/>
          </p:nvSpPr>
          <p:spPr>
            <a:xfrm>
              <a:off x="4825300" y="2065025"/>
              <a:ext cx="27625" cy="44200"/>
            </a:xfrm>
            <a:custGeom>
              <a:avLst/>
              <a:gdLst/>
              <a:ahLst/>
              <a:cxnLst/>
              <a:rect l="l" t="t" r="r" b="b"/>
              <a:pathLst>
                <a:path w="1105" h="1768" extrusionOk="0">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645;p78">
              <a:extLst>
                <a:ext uri="{FF2B5EF4-FFF2-40B4-BE49-F238E27FC236}">
                  <a16:creationId xmlns:a16="http://schemas.microsoft.com/office/drawing/2014/main" id="{93373AB2-9D8E-F281-0E8D-24D180F6D195}"/>
                </a:ext>
              </a:extLst>
            </p:cNvPr>
            <p:cNvSpPr/>
            <p:nvPr/>
          </p:nvSpPr>
          <p:spPr>
            <a:xfrm>
              <a:off x="4811425" y="2072950"/>
              <a:ext cx="19850" cy="28350"/>
            </a:xfrm>
            <a:custGeom>
              <a:avLst/>
              <a:gdLst/>
              <a:ahLst/>
              <a:cxnLst/>
              <a:rect l="l" t="t" r="r" b="b"/>
              <a:pathLst>
                <a:path w="794" h="1134" extrusionOk="0">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40"/>
          <p:cNvSpPr txBox="1">
            <a:spLocks noGrp="1"/>
          </p:cNvSpPr>
          <p:nvPr>
            <p:ph type="title"/>
          </p:nvPr>
        </p:nvSpPr>
        <p:spPr>
          <a:xfrm>
            <a:off x="713225" y="2384250"/>
            <a:ext cx="4344300" cy="915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Verification</a:t>
            </a:r>
            <a:endParaRPr dirty="0"/>
          </a:p>
        </p:txBody>
      </p:sp>
      <p:sp>
        <p:nvSpPr>
          <p:cNvPr id="430" name="Google Shape;430;p40"/>
          <p:cNvSpPr txBox="1">
            <a:spLocks noGrp="1"/>
          </p:cNvSpPr>
          <p:nvPr>
            <p:ph type="title" idx="2"/>
          </p:nvPr>
        </p:nvSpPr>
        <p:spPr>
          <a:xfrm>
            <a:off x="713225" y="1468350"/>
            <a:ext cx="12642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endParaRPr dirty="0"/>
          </a:p>
        </p:txBody>
      </p:sp>
      <p:sp>
        <p:nvSpPr>
          <p:cNvPr id="431" name="Google Shape;431;p40"/>
          <p:cNvSpPr txBox="1">
            <a:spLocks noGrp="1"/>
          </p:cNvSpPr>
          <p:nvPr>
            <p:ph type="subTitle" idx="1"/>
          </p:nvPr>
        </p:nvSpPr>
        <p:spPr>
          <a:xfrm>
            <a:off x="713224" y="3300150"/>
            <a:ext cx="4915438" cy="150045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GB" dirty="0"/>
              <a:t>Simulation waveforms confirm correct UART reception, feature parsing, weighted computation, and final classification output.</a:t>
            </a:r>
            <a:endParaRPr dirty="0"/>
          </a:p>
        </p:txBody>
      </p:sp>
      <p:grpSp>
        <p:nvGrpSpPr>
          <p:cNvPr id="432" name="Google Shape;432;p40"/>
          <p:cNvGrpSpPr/>
          <p:nvPr/>
        </p:nvGrpSpPr>
        <p:grpSpPr>
          <a:xfrm>
            <a:off x="5104880" y="-153372"/>
            <a:ext cx="4218588" cy="6000578"/>
            <a:chOff x="5104880" y="-153372"/>
            <a:chExt cx="4218588" cy="6000578"/>
          </a:xfrm>
        </p:grpSpPr>
        <p:sp>
          <p:nvSpPr>
            <p:cNvPr id="433" name="Google Shape;433;p40"/>
            <p:cNvSpPr/>
            <p:nvPr/>
          </p:nvSpPr>
          <p:spPr>
            <a:xfrm>
              <a:off x="7074911" y="25473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0"/>
            <p:cNvSpPr/>
            <p:nvPr/>
          </p:nvSpPr>
          <p:spPr>
            <a:xfrm>
              <a:off x="7026089" y="-1533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0"/>
            <p:cNvSpPr/>
            <p:nvPr/>
          </p:nvSpPr>
          <p:spPr>
            <a:xfrm>
              <a:off x="6606684" y="3184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0"/>
            <p:cNvSpPr/>
            <p:nvPr/>
          </p:nvSpPr>
          <p:spPr>
            <a:xfrm>
              <a:off x="6138958" y="13708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0"/>
            <p:cNvSpPr/>
            <p:nvPr/>
          </p:nvSpPr>
          <p:spPr>
            <a:xfrm>
              <a:off x="5732458" y="87452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0"/>
            <p:cNvSpPr/>
            <p:nvPr/>
          </p:nvSpPr>
          <p:spPr>
            <a:xfrm>
              <a:off x="7480889" y="98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0"/>
            <p:cNvSpPr/>
            <p:nvPr/>
          </p:nvSpPr>
          <p:spPr>
            <a:xfrm>
              <a:off x="7074904" y="207505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0"/>
            <p:cNvSpPr/>
            <p:nvPr/>
          </p:nvSpPr>
          <p:spPr>
            <a:xfrm>
              <a:off x="7962441" y="140407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0"/>
            <p:cNvSpPr/>
            <p:nvPr/>
          </p:nvSpPr>
          <p:spPr>
            <a:xfrm rot="10800000" flipH="1">
              <a:off x="6355205" y="41020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0"/>
            <p:cNvSpPr/>
            <p:nvPr/>
          </p:nvSpPr>
          <p:spPr>
            <a:xfrm rot="10800000" flipH="1">
              <a:off x="5732459" y="48790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0"/>
            <p:cNvSpPr/>
            <p:nvPr/>
          </p:nvSpPr>
          <p:spPr>
            <a:xfrm rot="10800000" flipH="1">
              <a:off x="6683197" y="351549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40"/>
            <p:cNvSpPr/>
            <p:nvPr/>
          </p:nvSpPr>
          <p:spPr>
            <a:xfrm rot="10800000" flipH="1">
              <a:off x="5104880"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0"/>
            <p:cNvSpPr/>
            <p:nvPr/>
          </p:nvSpPr>
          <p:spPr>
            <a:xfrm>
              <a:off x="8484758" y="243811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0"/>
            <p:cNvSpPr/>
            <p:nvPr/>
          </p:nvSpPr>
          <p:spPr>
            <a:xfrm>
              <a:off x="8038260" y="29212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p:cNvSpPr/>
            <p:nvPr/>
          </p:nvSpPr>
          <p:spPr>
            <a:xfrm rot="10800000" flipH="1">
              <a:off x="7853362" y="396220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p:cNvSpPr/>
            <p:nvPr/>
          </p:nvSpPr>
          <p:spPr>
            <a:xfrm rot="10800000" flipH="1">
              <a:off x="8261505"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50" name="Google Shape;450;p40"/>
          <p:cNvCxnSpPr/>
          <p:nvPr/>
        </p:nvCxnSpPr>
        <p:spPr>
          <a:xfrm>
            <a:off x="841250" y="1385850"/>
            <a:ext cx="373500"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370747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Testbench</a:t>
            </a:r>
            <a:endParaRPr dirty="0"/>
          </a:p>
        </p:txBody>
      </p:sp>
      <p:sp>
        <p:nvSpPr>
          <p:cNvPr id="527" name="Google Shape;527;p45"/>
          <p:cNvSpPr txBox="1">
            <a:spLocks noGrp="1"/>
          </p:cNvSpPr>
          <p:nvPr>
            <p:ph type="subTitle" idx="1"/>
          </p:nvPr>
        </p:nvSpPr>
        <p:spPr>
          <a:xfrm>
            <a:off x="1582133" y="1282685"/>
            <a:ext cx="6097452" cy="1289065"/>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GB" dirty="0"/>
              <a:t>A Verilog testbench is developed to verify the functionality of the AI system. It generates clock and reset signals and simulates UART input by sending feature data as serial packets. The system response is observed to ensure correct feature extraction, computation, and prediction output.</a:t>
            </a:r>
            <a:endParaRPr dirty="0"/>
          </a:p>
        </p:txBody>
      </p:sp>
      <p:sp>
        <p:nvSpPr>
          <p:cNvPr id="530" name="Google Shape;530;p45"/>
          <p:cNvSpPr txBox="1">
            <a:spLocks noGrp="1"/>
          </p:cNvSpPr>
          <p:nvPr>
            <p:ph type="subTitle" idx="4"/>
          </p:nvPr>
        </p:nvSpPr>
        <p:spPr>
          <a:xfrm>
            <a:off x="2946150" y="2390174"/>
            <a:ext cx="3251700" cy="128906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b="1" dirty="0"/>
              <a:t>Clock Generator</a:t>
            </a:r>
          </a:p>
          <a:p>
            <a:pPr marL="0" lvl="0" indent="0" algn="ctr" rtl="0">
              <a:spcBef>
                <a:spcPts val="0"/>
              </a:spcBef>
              <a:spcAft>
                <a:spcPts val="0"/>
              </a:spcAft>
              <a:buNone/>
            </a:pPr>
            <a:r>
              <a:rPr lang="en-GB" b="1" dirty="0"/>
              <a:t>Reset Logic</a:t>
            </a:r>
          </a:p>
          <a:p>
            <a:pPr marL="0" lvl="0" indent="0" algn="ctr" rtl="0">
              <a:spcBef>
                <a:spcPts val="0"/>
              </a:spcBef>
              <a:spcAft>
                <a:spcPts val="0"/>
              </a:spcAft>
              <a:buNone/>
            </a:pPr>
            <a:r>
              <a:rPr lang="en-GB" b="1" dirty="0"/>
              <a:t>UART Stimulus (</a:t>
            </a:r>
            <a:r>
              <a:rPr lang="en-GB" b="1" dirty="0" err="1"/>
              <a:t>send_byte</a:t>
            </a:r>
            <a:r>
              <a:rPr lang="en-GB" b="1" dirty="0"/>
              <a:t>)</a:t>
            </a:r>
          </a:p>
          <a:p>
            <a:pPr marL="0" lvl="0" indent="0" algn="ctr" rtl="0">
              <a:spcBef>
                <a:spcPts val="0"/>
              </a:spcBef>
              <a:spcAft>
                <a:spcPts val="0"/>
              </a:spcAft>
              <a:buNone/>
            </a:pPr>
            <a:r>
              <a:rPr lang="en-GB" b="1" dirty="0"/>
              <a:t>Feature Packet Input</a:t>
            </a:r>
          </a:p>
          <a:p>
            <a:pPr marL="0" lvl="0" indent="0" algn="ctr" rtl="0">
              <a:spcBef>
                <a:spcPts val="0"/>
              </a:spcBef>
              <a:spcAft>
                <a:spcPts val="0"/>
              </a:spcAft>
              <a:buNone/>
            </a:pPr>
            <a:r>
              <a:rPr lang="en-GB" b="1" dirty="0"/>
              <a:t>Output Monitoring</a:t>
            </a:r>
            <a:endParaRPr b="1" dirty="0"/>
          </a:p>
        </p:txBody>
      </p:sp>
      <p:grpSp>
        <p:nvGrpSpPr>
          <p:cNvPr id="17" name="Google Shape;1646;p78">
            <a:extLst>
              <a:ext uri="{FF2B5EF4-FFF2-40B4-BE49-F238E27FC236}">
                <a16:creationId xmlns:a16="http://schemas.microsoft.com/office/drawing/2014/main" id="{F984D08B-B338-8518-434E-8F198443291C}"/>
              </a:ext>
            </a:extLst>
          </p:cNvPr>
          <p:cNvGrpSpPr/>
          <p:nvPr/>
        </p:nvGrpSpPr>
        <p:grpSpPr>
          <a:xfrm>
            <a:off x="3693293" y="2518141"/>
            <a:ext cx="120867" cy="107218"/>
            <a:chOff x="4929875" y="2065025"/>
            <a:chExt cx="49625" cy="44025"/>
          </a:xfrm>
        </p:grpSpPr>
        <p:sp>
          <p:nvSpPr>
            <p:cNvPr id="18" name="Google Shape;1647;p78">
              <a:extLst>
                <a:ext uri="{FF2B5EF4-FFF2-40B4-BE49-F238E27FC236}">
                  <a16:creationId xmlns:a16="http://schemas.microsoft.com/office/drawing/2014/main" id="{57322B89-FEBB-A19A-FF66-45480ABB9AC2}"/>
                </a:ext>
              </a:extLst>
            </p:cNvPr>
            <p:cNvSpPr/>
            <p:nvPr/>
          </p:nvSpPr>
          <p:spPr>
            <a:xfrm>
              <a:off x="4950075" y="2065025"/>
              <a:ext cx="29425" cy="44025"/>
            </a:xfrm>
            <a:custGeom>
              <a:avLst/>
              <a:gdLst/>
              <a:ahLst/>
              <a:cxnLst/>
              <a:rect l="l" t="t" r="r" b="b"/>
              <a:pathLst>
                <a:path w="1177" h="1761" extrusionOk="0">
                  <a:moveTo>
                    <a:pt x="1" y="0"/>
                  </a:moveTo>
                  <a:lnTo>
                    <a:pt x="729" y="88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648;p78">
              <a:extLst>
                <a:ext uri="{FF2B5EF4-FFF2-40B4-BE49-F238E27FC236}">
                  <a16:creationId xmlns:a16="http://schemas.microsoft.com/office/drawing/2014/main" id="{4834571F-B550-7A77-438E-DA41369C1FD7}"/>
                </a:ext>
              </a:extLst>
            </p:cNvPr>
            <p:cNvSpPr/>
            <p:nvPr/>
          </p:nvSpPr>
          <p:spPr>
            <a:xfrm>
              <a:off x="4929875" y="2065025"/>
              <a:ext cx="29425" cy="44025"/>
            </a:xfrm>
            <a:custGeom>
              <a:avLst/>
              <a:gdLst/>
              <a:ahLst/>
              <a:cxnLst/>
              <a:rect l="l" t="t" r="r" b="b"/>
              <a:pathLst>
                <a:path w="1177" h="1761" extrusionOk="0">
                  <a:moveTo>
                    <a:pt x="1" y="0"/>
                  </a:moveTo>
                  <a:lnTo>
                    <a:pt x="736" y="880"/>
                  </a:lnTo>
                  <a:lnTo>
                    <a:pt x="1" y="176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1646;p78">
            <a:extLst>
              <a:ext uri="{FF2B5EF4-FFF2-40B4-BE49-F238E27FC236}">
                <a16:creationId xmlns:a16="http://schemas.microsoft.com/office/drawing/2014/main" id="{704C2B34-2293-3F06-99A6-ED92075EA839}"/>
              </a:ext>
            </a:extLst>
          </p:cNvPr>
          <p:cNvGrpSpPr/>
          <p:nvPr/>
        </p:nvGrpSpPr>
        <p:grpSpPr>
          <a:xfrm>
            <a:off x="3900695" y="2729492"/>
            <a:ext cx="120867" cy="107218"/>
            <a:chOff x="4929875" y="2065025"/>
            <a:chExt cx="49625" cy="44025"/>
          </a:xfrm>
        </p:grpSpPr>
        <p:sp>
          <p:nvSpPr>
            <p:cNvPr id="21" name="Google Shape;1647;p78">
              <a:extLst>
                <a:ext uri="{FF2B5EF4-FFF2-40B4-BE49-F238E27FC236}">
                  <a16:creationId xmlns:a16="http://schemas.microsoft.com/office/drawing/2014/main" id="{C5768814-AB52-8D10-280E-C4755A51ACB1}"/>
                </a:ext>
              </a:extLst>
            </p:cNvPr>
            <p:cNvSpPr/>
            <p:nvPr/>
          </p:nvSpPr>
          <p:spPr>
            <a:xfrm>
              <a:off x="4950075" y="2065025"/>
              <a:ext cx="29425" cy="44025"/>
            </a:xfrm>
            <a:custGeom>
              <a:avLst/>
              <a:gdLst/>
              <a:ahLst/>
              <a:cxnLst/>
              <a:rect l="l" t="t" r="r" b="b"/>
              <a:pathLst>
                <a:path w="1177" h="1761" extrusionOk="0">
                  <a:moveTo>
                    <a:pt x="1" y="0"/>
                  </a:moveTo>
                  <a:lnTo>
                    <a:pt x="729" y="88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648;p78">
              <a:extLst>
                <a:ext uri="{FF2B5EF4-FFF2-40B4-BE49-F238E27FC236}">
                  <a16:creationId xmlns:a16="http://schemas.microsoft.com/office/drawing/2014/main" id="{FC1C6D0E-1870-67EF-FFA2-CAFFE14B5845}"/>
                </a:ext>
              </a:extLst>
            </p:cNvPr>
            <p:cNvSpPr/>
            <p:nvPr/>
          </p:nvSpPr>
          <p:spPr>
            <a:xfrm>
              <a:off x="4929875" y="2065025"/>
              <a:ext cx="29425" cy="44025"/>
            </a:xfrm>
            <a:custGeom>
              <a:avLst/>
              <a:gdLst/>
              <a:ahLst/>
              <a:cxnLst/>
              <a:rect l="l" t="t" r="r" b="b"/>
              <a:pathLst>
                <a:path w="1177" h="1761" extrusionOk="0">
                  <a:moveTo>
                    <a:pt x="1" y="0"/>
                  </a:moveTo>
                  <a:lnTo>
                    <a:pt x="736" y="880"/>
                  </a:lnTo>
                  <a:lnTo>
                    <a:pt x="1" y="176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1646;p78">
            <a:extLst>
              <a:ext uri="{FF2B5EF4-FFF2-40B4-BE49-F238E27FC236}">
                <a16:creationId xmlns:a16="http://schemas.microsoft.com/office/drawing/2014/main" id="{EBD406D6-1569-6EA3-BE95-B3BB5E97C952}"/>
              </a:ext>
            </a:extLst>
          </p:cNvPr>
          <p:cNvGrpSpPr/>
          <p:nvPr/>
        </p:nvGrpSpPr>
        <p:grpSpPr>
          <a:xfrm>
            <a:off x="3220051" y="2969267"/>
            <a:ext cx="120867" cy="107218"/>
            <a:chOff x="4929875" y="2065025"/>
            <a:chExt cx="49625" cy="44025"/>
          </a:xfrm>
        </p:grpSpPr>
        <p:sp>
          <p:nvSpPr>
            <p:cNvPr id="24" name="Google Shape;1647;p78">
              <a:extLst>
                <a:ext uri="{FF2B5EF4-FFF2-40B4-BE49-F238E27FC236}">
                  <a16:creationId xmlns:a16="http://schemas.microsoft.com/office/drawing/2014/main" id="{63C22C90-BA0C-01C7-7F51-0149F43783A7}"/>
                </a:ext>
              </a:extLst>
            </p:cNvPr>
            <p:cNvSpPr/>
            <p:nvPr/>
          </p:nvSpPr>
          <p:spPr>
            <a:xfrm>
              <a:off x="4950075" y="2065025"/>
              <a:ext cx="29425" cy="44025"/>
            </a:xfrm>
            <a:custGeom>
              <a:avLst/>
              <a:gdLst/>
              <a:ahLst/>
              <a:cxnLst/>
              <a:rect l="l" t="t" r="r" b="b"/>
              <a:pathLst>
                <a:path w="1177" h="1761" extrusionOk="0">
                  <a:moveTo>
                    <a:pt x="1" y="0"/>
                  </a:moveTo>
                  <a:lnTo>
                    <a:pt x="729" y="88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648;p78">
              <a:extLst>
                <a:ext uri="{FF2B5EF4-FFF2-40B4-BE49-F238E27FC236}">
                  <a16:creationId xmlns:a16="http://schemas.microsoft.com/office/drawing/2014/main" id="{DBAAD1E5-BA65-3AD7-5D9C-9E04A8BE932D}"/>
                </a:ext>
              </a:extLst>
            </p:cNvPr>
            <p:cNvSpPr/>
            <p:nvPr/>
          </p:nvSpPr>
          <p:spPr>
            <a:xfrm>
              <a:off x="4929875" y="2065025"/>
              <a:ext cx="29425" cy="44025"/>
            </a:xfrm>
            <a:custGeom>
              <a:avLst/>
              <a:gdLst/>
              <a:ahLst/>
              <a:cxnLst/>
              <a:rect l="l" t="t" r="r" b="b"/>
              <a:pathLst>
                <a:path w="1177" h="1761" extrusionOk="0">
                  <a:moveTo>
                    <a:pt x="1" y="0"/>
                  </a:moveTo>
                  <a:lnTo>
                    <a:pt x="736" y="880"/>
                  </a:lnTo>
                  <a:lnTo>
                    <a:pt x="1" y="176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1646;p78">
            <a:extLst>
              <a:ext uri="{FF2B5EF4-FFF2-40B4-BE49-F238E27FC236}">
                <a16:creationId xmlns:a16="http://schemas.microsoft.com/office/drawing/2014/main" id="{BD7F8AF7-AFF9-C5EE-5457-AF30FF1E44B2}"/>
              </a:ext>
            </a:extLst>
          </p:cNvPr>
          <p:cNvGrpSpPr/>
          <p:nvPr/>
        </p:nvGrpSpPr>
        <p:grpSpPr>
          <a:xfrm>
            <a:off x="3501934" y="3165555"/>
            <a:ext cx="120867" cy="107218"/>
            <a:chOff x="4929875" y="2065025"/>
            <a:chExt cx="49625" cy="44025"/>
          </a:xfrm>
        </p:grpSpPr>
        <p:sp>
          <p:nvSpPr>
            <p:cNvPr id="27" name="Google Shape;1647;p78">
              <a:extLst>
                <a:ext uri="{FF2B5EF4-FFF2-40B4-BE49-F238E27FC236}">
                  <a16:creationId xmlns:a16="http://schemas.microsoft.com/office/drawing/2014/main" id="{7A23C1E2-91C7-08D9-831D-63A707888824}"/>
                </a:ext>
              </a:extLst>
            </p:cNvPr>
            <p:cNvSpPr/>
            <p:nvPr/>
          </p:nvSpPr>
          <p:spPr>
            <a:xfrm>
              <a:off x="4950075" y="2065025"/>
              <a:ext cx="29425" cy="44025"/>
            </a:xfrm>
            <a:custGeom>
              <a:avLst/>
              <a:gdLst/>
              <a:ahLst/>
              <a:cxnLst/>
              <a:rect l="l" t="t" r="r" b="b"/>
              <a:pathLst>
                <a:path w="1177" h="1761" extrusionOk="0">
                  <a:moveTo>
                    <a:pt x="1" y="0"/>
                  </a:moveTo>
                  <a:lnTo>
                    <a:pt x="729" y="88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648;p78">
              <a:extLst>
                <a:ext uri="{FF2B5EF4-FFF2-40B4-BE49-F238E27FC236}">
                  <a16:creationId xmlns:a16="http://schemas.microsoft.com/office/drawing/2014/main" id="{9133B741-789F-4022-642E-35A5AC7C406E}"/>
                </a:ext>
              </a:extLst>
            </p:cNvPr>
            <p:cNvSpPr/>
            <p:nvPr/>
          </p:nvSpPr>
          <p:spPr>
            <a:xfrm>
              <a:off x="4929875" y="2065025"/>
              <a:ext cx="29425" cy="44025"/>
            </a:xfrm>
            <a:custGeom>
              <a:avLst/>
              <a:gdLst/>
              <a:ahLst/>
              <a:cxnLst/>
              <a:rect l="l" t="t" r="r" b="b"/>
              <a:pathLst>
                <a:path w="1177" h="1761" extrusionOk="0">
                  <a:moveTo>
                    <a:pt x="1" y="0"/>
                  </a:moveTo>
                  <a:lnTo>
                    <a:pt x="736" y="880"/>
                  </a:lnTo>
                  <a:lnTo>
                    <a:pt x="1" y="176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646;p78">
            <a:extLst>
              <a:ext uri="{FF2B5EF4-FFF2-40B4-BE49-F238E27FC236}">
                <a16:creationId xmlns:a16="http://schemas.microsoft.com/office/drawing/2014/main" id="{31F03CEE-875A-8768-FCD0-B8C3BC736745}"/>
              </a:ext>
            </a:extLst>
          </p:cNvPr>
          <p:cNvGrpSpPr/>
          <p:nvPr/>
        </p:nvGrpSpPr>
        <p:grpSpPr>
          <a:xfrm>
            <a:off x="3621625" y="3368788"/>
            <a:ext cx="120867" cy="107218"/>
            <a:chOff x="4929875" y="2065025"/>
            <a:chExt cx="49625" cy="44025"/>
          </a:xfrm>
        </p:grpSpPr>
        <p:sp>
          <p:nvSpPr>
            <p:cNvPr id="30" name="Google Shape;1647;p78">
              <a:extLst>
                <a:ext uri="{FF2B5EF4-FFF2-40B4-BE49-F238E27FC236}">
                  <a16:creationId xmlns:a16="http://schemas.microsoft.com/office/drawing/2014/main" id="{674EF9D3-A038-13DD-040F-1A02ABA601CC}"/>
                </a:ext>
              </a:extLst>
            </p:cNvPr>
            <p:cNvSpPr/>
            <p:nvPr/>
          </p:nvSpPr>
          <p:spPr>
            <a:xfrm>
              <a:off x="4950075" y="2065025"/>
              <a:ext cx="29425" cy="44025"/>
            </a:xfrm>
            <a:custGeom>
              <a:avLst/>
              <a:gdLst/>
              <a:ahLst/>
              <a:cxnLst/>
              <a:rect l="l" t="t" r="r" b="b"/>
              <a:pathLst>
                <a:path w="1177" h="1761" extrusionOk="0">
                  <a:moveTo>
                    <a:pt x="1" y="0"/>
                  </a:moveTo>
                  <a:lnTo>
                    <a:pt x="729" y="88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648;p78">
              <a:extLst>
                <a:ext uri="{FF2B5EF4-FFF2-40B4-BE49-F238E27FC236}">
                  <a16:creationId xmlns:a16="http://schemas.microsoft.com/office/drawing/2014/main" id="{E5C6E45E-0B15-8597-3A21-32823A26F2E3}"/>
                </a:ext>
              </a:extLst>
            </p:cNvPr>
            <p:cNvSpPr/>
            <p:nvPr/>
          </p:nvSpPr>
          <p:spPr>
            <a:xfrm>
              <a:off x="4929875" y="2065025"/>
              <a:ext cx="29425" cy="44025"/>
            </a:xfrm>
            <a:custGeom>
              <a:avLst/>
              <a:gdLst/>
              <a:ahLst/>
              <a:cxnLst/>
              <a:rect l="l" t="t" r="r" b="b"/>
              <a:pathLst>
                <a:path w="1177" h="1761" extrusionOk="0">
                  <a:moveTo>
                    <a:pt x="1" y="0"/>
                  </a:moveTo>
                  <a:lnTo>
                    <a:pt x="736" y="880"/>
                  </a:lnTo>
                  <a:lnTo>
                    <a:pt x="1" y="176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 name="TextBox 36">
            <a:extLst>
              <a:ext uri="{FF2B5EF4-FFF2-40B4-BE49-F238E27FC236}">
                <a16:creationId xmlns:a16="http://schemas.microsoft.com/office/drawing/2014/main" id="{E19CDBF7-EF10-3D09-888F-18E9F0F88410}"/>
              </a:ext>
            </a:extLst>
          </p:cNvPr>
          <p:cNvSpPr txBox="1"/>
          <p:nvPr/>
        </p:nvSpPr>
        <p:spPr>
          <a:xfrm>
            <a:off x="1582133" y="3576977"/>
            <a:ext cx="5125452" cy="421269"/>
          </a:xfrm>
          <a:prstGeom prst="rect">
            <a:avLst/>
          </a:prstGeom>
          <a:noFill/>
        </p:spPr>
        <p:txBody>
          <a:bodyPr wrap="square">
            <a:spAutoFit/>
          </a:bodyPr>
          <a:lstStyle/>
          <a:p>
            <a:pPr marL="0" marR="0" lvl="0" indent="0" defTabSz="914400" rtl="0" eaLnBrk="1" fontAlgn="auto" latinLnBrk="0" hangingPunct="1">
              <a:lnSpc>
                <a:spcPct val="115000"/>
              </a:lnSpc>
              <a:spcBef>
                <a:spcPts val="0"/>
              </a:spcBef>
              <a:spcAft>
                <a:spcPts val="0"/>
              </a:spcAft>
              <a:buClr>
                <a:srgbClr val="384655"/>
              </a:buClr>
              <a:buSzPts val="2400"/>
              <a:buFont typeface="DM Sans"/>
              <a:buNone/>
              <a:tabLst/>
              <a:defRPr/>
            </a:pPr>
            <a:r>
              <a:rPr kumimoji="0" lang="en-GB" sz="2000" b="1" i="0" u="none" strike="noStrike" kern="0" cap="none" spc="0" normalizeH="0" baseline="0" noProof="0" dirty="0">
                <a:ln>
                  <a:noFill/>
                </a:ln>
                <a:solidFill>
                  <a:srgbClr val="384655"/>
                </a:solidFill>
                <a:effectLst/>
                <a:uLnTx/>
                <a:uFillTx/>
                <a:latin typeface="Outfit"/>
                <a:sym typeface="Outfit"/>
              </a:rPr>
              <a:t>Test Packet Example</a:t>
            </a:r>
          </a:p>
        </p:txBody>
      </p:sp>
      <p:sp>
        <p:nvSpPr>
          <p:cNvPr id="41" name="TextBox 40">
            <a:extLst>
              <a:ext uri="{FF2B5EF4-FFF2-40B4-BE49-F238E27FC236}">
                <a16:creationId xmlns:a16="http://schemas.microsoft.com/office/drawing/2014/main" id="{49D1082A-BEE7-3948-9F3C-A27CE452AE0C}"/>
              </a:ext>
            </a:extLst>
          </p:cNvPr>
          <p:cNvSpPr txBox="1"/>
          <p:nvPr/>
        </p:nvSpPr>
        <p:spPr>
          <a:xfrm>
            <a:off x="1582133" y="3976498"/>
            <a:ext cx="5125452" cy="824969"/>
          </a:xfrm>
          <a:prstGeom prst="rect">
            <a:avLst/>
          </a:prstGeom>
          <a:noFill/>
        </p:spPr>
        <p:txBody>
          <a:bodyPr wrap="square">
            <a:spAutoFit/>
          </a:bodyPr>
          <a:lstStyle/>
          <a:p>
            <a:pPr marL="0" marR="0" lvl="0" indent="0" defTabSz="914400" rtl="0" eaLnBrk="1" fontAlgn="auto" latinLnBrk="0" hangingPunct="1">
              <a:lnSpc>
                <a:spcPct val="115000"/>
              </a:lnSpc>
              <a:spcBef>
                <a:spcPts val="0"/>
              </a:spcBef>
              <a:spcAft>
                <a:spcPts val="0"/>
              </a:spcAft>
              <a:buClr>
                <a:srgbClr val="384655"/>
              </a:buClr>
              <a:buSzPts val="1400"/>
              <a:buFont typeface="DM Sans"/>
              <a:buNone/>
              <a:tabLst/>
              <a:defRPr/>
            </a:pPr>
            <a:r>
              <a:rPr kumimoji="0" lang="en-GB" sz="1400" b="0" i="0" u="none" strike="noStrike" kern="0" cap="none" spc="0" normalizeH="0" baseline="0" noProof="0" dirty="0">
                <a:ln>
                  <a:noFill/>
                </a:ln>
                <a:solidFill>
                  <a:srgbClr val="384655"/>
                </a:solidFill>
                <a:effectLst/>
                <a:uLnTx/>
                <a:uFillTx/>
                <a:latin typeface="DM Sans"/>
                <a:sym typeface="DM Sans"/>
              </a:rPr>
              <a:t>Start : 0xAA</a:t>
            </a:r>
          </a:p>
          <a:p>
            <a:pPr marL="0" marR="0" lvl="0" indent="0" defTabSz="914400" rtl="0" eaLnBrk="1" fontAlgn="auto" latinLnBrk="0" hangingPunct="1">
              <a:lnSpc>
                <a:spcPct val="115000"/>
              </a:lnSpc>
              <a:spcBef>
                <a:spcPts val="0"/>
              </a:spcBef>
              <a:spcAft>
                <a:spcPts val="0"/>
              </a:spcAft>
              <a:buClr>
                <a:srgbClr val="384655"/>
              </a:buClr>
              <a:buSzPts val="1400"/>
              <a:buFont typeface="DM Sans"/>
              <a:buNone/>
              <a:tabLst/>
              <a:defRPr/>
            </a:pPr>
            <a:r>
              <a:rPr kumimoji="0" lang="en-GB" sz="1400" b="0" i="0" u="none" strike="noStrike" kern="0" cap="none" spc="0" normalizeH="0" baseline="0" noProof="0" dirty="0">
                <a:ln>
                  <a:noFill/>
                </a:ln>
                <a:solidFill>
                  <a:srgbClr val="384655"/>
                </a:solidFill>
                <a:effectLst/>
                <a:uLnTx/>
                <a:uFillTx/>
                <a:latin typeface="DM Sans"/>
                <a:sym typeface="DM Sans"/>
              </a:rPr>
              <a:t>Features : 12, 8, -3, 4, 6, 2, 9, -1</a:t>
            </a:r>
          </a:p>
          <a:p>
            <a:pPr marL="0" marR="0" lvl="0" indent="0" defTabSz="914400" rtl="0" eaLnBrk="1" fontAlgn="auto" latinLnBrk="0" hangingPunct="1">
              <a:lnSpc>
                <a:spcPct val="115000"/>
              </a:lnSpc>
              <a:spcBef>
                <a:spcPts val="0"/>
              </a:spcBef>
              <a:spcAft>
                <a:spcPts val="0"/>
              </a:spcAft>
              <a:buClr>
                <a:srgbClr val="384655"/>
              </a:buClr>
              <a:buSzPts val="1400"/>
              <a:buFont typeface="DM Sans"/>
              <a:buNone/>
              <a:tabLst/>
              <a:defRPr/>
            </a:pPr>
            <a:r>
              <a:rPr kumimoji="0" lang="en-GB" sz="1400" b="0" i="0" u="none" strike="noStrike" kern="0" cap="none" spc="0" normalizeH="0" baseline="0" noProof="0" dirty="0">
                <a:ln>
                  <a:noFill/>
                </a:ln>
                <a:solidFill>
                  <a:srgbClr val="384655"/>
                </a:solidFill>
                <a:effectLst/>
                <a:uLnTx/>
                <a:uFillTx/>
                <a:latin typeface="DM Sans"/>
                <a:sym typeface="DM Sans"/>
              </a:rPr>
              <a:t>End : 0x55</a:t>
            </a:r>
          </a:p>
        </p:txBody>
      </p:sp>
    </p:spTree>
    <p:extLst>
      <p:ext uri="{BB962C8B-B14F-4D97-AF65-F5344CB8AC3E}">
        <p14:creationId xmlns:p14="http://schemas.microsoft.com/office/powerpoint/2010/main" val="4113985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45"/>
          <p:cNvSpPr txBox="1">
            <a:spLocks noGrp="1"/>
          </p:cNvSpPr>
          <p:nvPr>
            <p:ph type="title"/>
          </p:nvPr>
        </p:nvSpPr>
        <p:spPr>
          <a:xfrm>
            <a:off x="720000" y="445025"/>
            <a:ext cx="7704000" cy="126002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Testbench</a:t>
            </a:r>
            <a:br>
              <a:rPr lang="en" dirty="0"/>
            </a:br>
            <a:r>
              <a:rPr lang="en" sz="2000" dirty="0"/>
              <a:t>Code Snippet</a:t>
            </a:r>
            <a:endParaRPr dirty="0"/>
          </a:p>
        </p:txBody>
      </p:sp>
      <p:sp>
        <p:nvSpPr>
          <p:cNvPr id="527" name="Google Shape;527;p45"/>
          <p:cNvSpPr txBox="1">
            <a:spLocks noGrp="1"/>
          </p:cNvSpPr>
          <p:nvPr>
            <p:ph type="subTitle" idx="1"/>
          </p:nvPr>
        </p:nvSpPr>
        <p:spPr>
          <a:xfrm>
            <a:off x="1582133" y="1282685"/>
            <a:ext cx="6097452" cy="3083059"/>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GB" dirty="0">
                <a:latin typeface="Outfit" panose="020B0604020202020204" charset="0"/>
              </a:rPr>
              <a:t>task </a:t>
            </a:r>
            <a:r>
              <a:rPr lang="en-GB" dirty="0" err="1">
                <a:latin typeface="Outfit" panose="020B0604020202020204" charset="0"/>
              </a:rPr>
              <a:t>send_byte</a:t>
            </a:r>
            <a:r>
              <a:rPr lang="en-GB" dirty="0">
                <a:latin typeface="Outfit" panose="020B0604020202020204" charset="0"/>
              </a:rPr>
              <a:t>;</a:t>
            </a:r>
          </a:p>
          <a:p>
            <a:pPr marL="0" lvl="0" indent="0" algn="just" rtl="0">
              <a:spcBef>
                <a:spcPts val="0"/>
              </a:spcBef>
              <a:spcAft>
                <a:spcPts val="0"/>
              </a:spcAft>
              <a:buNone/>
            </a:pPr>
            <a:r>
              <a:rPr lang="en-GB" dirty="0">
                <a:latin typeface="Outfit" panose="020B0604020202020204" charset="0"/>
              </a:rPr>
              <a:t>          input [7:0] data;</a:t>
            </a:r>
          </a:p>
          <a:p>
            <a:pPr marL="0" lvl="0" indent="0" algn="just" rtl="0">
              <a:spcBef>
                <a:spcPts val="0"/>
              </a:spcBef>
              <a:spcAft>
                <a:spcPts val="0"/>
              </a:spcAft>
              <a:buNone/>
            </a:pPr>
            <a:r>
              <a:rPr lang="en-GB" dirty="0">
                <a:latin typeface="Outfit" panose="020B0604020202020204" charset="0"/>
              </a:rPr>
              <a:t>          integer </a:t>
            </a:r>
            <a:r>
              <a:rPr lang="en-GB" dirty="0" err="1">
                <a:latin typeface="Outfit" panose="020B0604020202020204" charset="0"/>
              </a:rPr>
              <a:t>i</a:t>
            </a:r>
            <a:r>
              <a:rPr lang="en-GB" dirty="0">
                <a:latin typeface="Outfit" panose="020B0604020202020204" charset="0"/>
              </a:rPr>
              <a:t>;</a:t>
            </a:r>
          </a:p>
          <a:p>
            <a:pPr marL="0" lvl="0" indent="0" algn="just" rtl="0">
              <a:spcBef>
                <a:spcPts val="0"/>
              </a:spcBef>
              <a:spcAft>
                <a:spcPts val="0"/>
              </a:spcAft>
              <a:buNone/>
            </a:pPr>
            <a:r>
              <a:rPr lang="en-GB" dirty="0">
                <a:latin typeface="Outfit" panose="020B0604020202020204" charset="0"/>
              </a:rPr>
              <a:t>begin</a:t>
            </a:r>
          </a:p>
          <a:p>
            <a:pPr marL="0" lvl="0" indent="0" algn="just" rtl="0">
              <a:spcBef>
                <a:spcPts val="0"/>
              </a:spcBef>
              <a:spcAft>
                <a:spcPts val="0"/>
              </a:spcAft>
              <a:buNone/>
            </a:pPr>
            <a:r>
              <a:rPr lang="en-GB" dirty="0">
                <a:latin typeface="Outfit" panose="020B0604020202020204" charset="0"/>
              </a:rPr>
              <a:t>          </a:t>
            </a:r>
            <a:r>
              <a:rPr lang="en-GB" dirty="0" err="1">
                <a:latin typeface="Outfit" panose="020B0604020202020204" charset="0"/>
              </a:rPr>
              <a:t>rx</a:t>
            </a:r>
            <a:r>
              <a:rPr lang="en-GB" dirty="0">
                <a:latin typeface="Outfit" panose="020B0604020202020204" charset="0"/>
              </a:rPr>
              <a:t> = 0; #(BIT_PERIOD);</a:t>
            </a:r>
          </a:p>
          <a:p>
            <a:pPr marL="0" lvl="0" indent="0" algn="just" rtl="0">
              <a:spcBef>
                <a:spcPts val="0"/>
              </a:spcBef>
              <a:spcAft>
                <a:spcPts val="0"/>
              </a:spcAft>
              <a:buNone/>
            </a:pPr>
            <a:r>
              <a:rPr lang="en-GB" dirty="0">
                <a:latin typeface="Outfit" panose="020B0604020202020204" charset="0"/>
              </a:rPr>
              <a:t>          for (</a:t>
            </a:r>
            <a:r>
              <a:rPr lang="en-GB" dirty="0" err="1">
                <a:latin typeface="Outfit" panose="020B0604020202020204" charset="0"/>
              </a:rPr>
              <a:t>i</a:t>
            </a:r>
            <a:r>
              <a:rPr lang="en-GB" dirty="0">
                <a:latin typeface="Outfit" panose="020B0604020202020204" charset="0"/>
              </a:rPr>
              <a:t> = 0; </a:t>
            </a:r>
            <a:r>
              <a:rPr lang="en-GB" dirty="0" err="1">
                <a:latin typeface="Outfit" panose="020B0604020202020204" charset="0"/>
              </a:rPr>
              <a:t>i</a:t>
            </a:r>
            <a:r>
              <a:rPr lang="en-GB" dirty="0">
                <a:latin typeface="Outfit" panose="020B0604020202020204" charset="0"/>
              </a:rPr>
              <a:t> &lt; 8; </a:t>
            </a:r>
            <a:r>
              <a:rPr lang="en-GB" dirty="0" err="1">
                <a:latin typeface="Outfit" panose="020B0604020202020204" charset="0"/>
              </a:rPr>
              <a:t>i</a:t>
            </a:r>
            <a:r>
              <a:rPr lang="en-GB" dirty="0">
                <a:latin typeface="Outfit" panose="020B0604020202020204" charset="0"/>
              </a:rPr>
              <a:t> = </a:t>
            </a:r>
            <a:r>
              <a:rPr lang="en-GB" dirty="0" err="1">
                <a:latin typeface="Outfit" panose="020B0604020202020204" charset="0"/>
              </a:rPr>
              <a:t>i</a:t>
            </a:r>
            <a:r>
              <a:rPr lang="en-GB" dirty="0">
                <a:latin typeface="Outfit" panose="020B0604020202020204" charset="0"/>
              </a:rPr>
              <a:t> + 1) begin</a:t>
            </a:r>
          </a:p>
          <a:p>
            <a:pPr marL="0" lvl="0" indent="0" algn="just" rtl="0">
              <a:spcBef>
                <a:spcPts val="0"/>
              </a:spcBef>
              <a:spcAft>
                <a:spcPts val="0"/>
              </a:spcAft>
              <a:buNone/>
            </a:pPr>
            <a:r>
              <a:rPr lang="en-GB" dirty="0">
                <a:latin typeface="Outfit" panose="020B0604020202020204" charset="0"/>
              </a:rPr>
              <a:t>                    </a:t>
            </a:r>
            <a:r>
              <a:rPr lang="en-GB" dirty="0" err="1">
                <a:latin typeface="Outfit" panose="020B0604020202020204" charset="0"/>
              </a:rPr>
              <a:t>rx</a:t>
            </a:r>
            <a:r>
              <a:rPr lang="en-GB" dirty="0">
                <a:latin typeface="Outfit" panose="020B0604020202020204" charset="0"/>
              </a:rPr>
              <a:t> = data[</a:t>
            </a:r>
            <a:r>
              <a:rPr lang="en-GB" dirty="0" err="1">
                <a:latin typeface="Outfit" panose="020B0604020202020204" charset="0"/>
              </a:rPr>
              <a:t>i</a:t>
            </a:r>
            <a:r>
              <a:rPr lang="en-GB" dirty="0">
                <a:latin typeface="Outfit" panose="020B0604020202020204" charset="0"/>
              </a:rPr>
              <a:t>];</a:t>
            </a:r>
          </a:p>
          <a:p>
            <a:pPr marL="0" lvl="0" indent="0" algn="just" rtl="0">
              <a:spcBef>
                <a:spcPts val="0"/>
              </a:spcBef>
              <a:spcAft>
                <a:spcPts val="0"/>
              </a:spcAft>
              <a:buNone/>
            </a:pPr>
            <a:r>
              <a:rPr lang="en-GB" dirty="0">
                <a:latin typeface="Outfit" panose="020B0604020202020204" charset="0"/>
              </a:rPr>
              <a:t>                    #(BIT_PERIOD);</a:t>
            </a:r>
          </a:p>
          <a:p>
            <a:pPr marL="0" lvl="0" indent="0" algn="just" rtl="0">
              <a:spcBef>
                <a:spcPts val="0"/>
              </a:spcBef>
              <a:spcAft>
                <a:spcPts val="0"/>
              </a:spcAft>
              <a:buNone/>
            </a:pPr>
            <a:r>
              <a:rPr lang="en-GB" dirty="0">
                <a:latin typeface="Outfit" panose="020B0604020202020204" charset="0"/>
              </a:rPr>
              <a:t>          end</a:t>
            </a:r>
          </a:p>
          <a:p>
            <a:pPr marL="0" lvl="0" indent="0" algn="just" rtl="0">
              <a:spcBef>
                <a:spcPts val="0"/>
              </a:spcBef>
              <a:spcAft>
                <a:spcPts val="0"/>
              </a:spcAft>
              <a:buNone/>
            </a:pPr>
            <a:r>
              <a:rPr lang="en-GB" dirty="0">
                <a:latin typeface="Outfit" panose="020B0604020202020204" charset="0"/>
              </a:rPr>
              <a:t>          </a:t>
            </a:r>
            <a:r>
              <a:rPr lang="en-GB" dirty="0" err="1">
                <a:latin typeface="Outfit" panose="020B0604020202020204" charset="0"/>
              </a:rPr>
              <a:t>rx</a:t>
            </a:r>
            <a:r>
              <a:rPr lang="en-GB" dirty="0">
                <a:latin typeface="Outfit" panose="020B0604020202020204" charset="0"/>
              </a:rPr>
              <a:t> = 1; </a:t>
            </a:r>
          </a:p>
          <a:p>
            <a:pPr marL="0" lvl="0" indent="0" algn="just" rtl="0">
              <a:spcBef>
                <a:spcPts val="0"/>
              </a:spcBef>
              <a:spcAft>
                <a:spcPts val="0"/>
              </a:spcAft>
              <a:buNone/>
            </a:pPr>
            <a:r>
              <a:rPr lang="en-GB" dirty="0">
                <a:latin typeface="Outfit" panose="020B0604020202020204" charset="0"/>
              </a:rPr>
              <a:t>          #(BIT_PERIOD);</a:t>
            </a:r>
          </a:p>
          <a:p>
            <a:pPr marL="0" lvl="0" indent="0" algn="just" rtl="0">
              <a:spcBef>
                <a:spcPts val="0"/>
              </a:spcBef>
              <a:spcAft>
                <a:spcPts val="0"/>
              </a:spcAft>
              <a:buNone/>
            </a:pPr>
            <a:r>
              <a:rPr lang="en-GB" dirty="0">
                <a:latin typeface="Outfit" panose="020B0604020202020204" charset="0"/>
              </a:rPr>
              <a:t>end</a:t>
            </a:r>
          </a:p>
          <a:p>
            <a:pPr marL="0" lvl="0" indent="0" algn="just" rtl="0">
              <a:spcBef>
                <a:spcPts val="0"/>
              </a:spcBef>
              <a:spcAft>
                <a:spcPts val="0"/>
              </a:spcAft>
              <a:buNone/>
            </a:pPr>
            <a:r>
              <a:rPr lang="en-GB" dirty="0" err="1">
                <a:latin typeface="Outfit" panose="020B0604020202020204" charset="0"/>
              </a:rPr>
              <a:t>endtask</a:t>
            </a:r>
            <a:endParaRPr dirty="0">
              <a:latin typeface="Outfit" panose="020B0604020202020204" charset="0"/>
            </a:endParaRPr>
          </a:p>
        </p:txBody>
      </p:sp>
    </p:spTree>
    <p:extLst>
      <p:ext uri="{BB962C8B-B14F-4D97-AF65-F5344CB8AC3E}">
        <p14:creationId xmlns:p14="http://schemas.microsoft.com/office/powerpoint/2010/main" val="2021384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9" name="Google Shape;569;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Simulation</a:t>
            </a:r>
            <a:endParaRPr dirty="0"/>
          </a:p>
        </p:txBody>
      </p:sp>
      <p:pic>
        <p:nvPicPr>
          <p:cNvPr id="29" name="Picture 28">
            <a:extLst>
              <a:ext uri="{FF2B5EF4-FFF2-40B4-BE49-F238E27FC236}">
                <a16:creationId xmlns:a16="http://schemas.microsoft.com/office/drawing/2014/main" id="{96250CD8-B045-2B00-0EE9-A4690F07607E}"/>
              </a:ext>
            </a:extLst>
          </p:cNvPr>
          <p:cNvPicPr>
            <a:picLocks noChangeAspect="1"/>
          </p:cNvPicPr>
          <p:nvPr/>
        </p:nvPicPr>
        <p:blipFill>
          <a:blip r:embed="rId3"/>
          <a:srcRect/>
          <a:stretch/>
        </p:blipFill>
        <p:spPr>
          <a:xfrm>
            <a:off x="1383416" y="1112772"/>
            <a:ext cx="6377167" cy="3585703"/>
          </a:xfrm>
          <a:prstGeom prst="rect">
            <a:avLst/>
          </a:prstGeom>
        </p:spPr>
      </p:pic>
    </p:spTree>
    <p:extLst>
      <p:ext uri="{BB962C8B-B14F-4D97-AF65-F5344CB8AC3E}">
        <p14:creationId xmlns:p14="http://schemas.microsoft.com/office/powerpoint/2010/main" val="3985544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pic>
        <p:nvPicPr>
          <p:cNvPr id="29" name="Picture 28">
            <a:extLst>
              <a:ext uri="{FF2B5EF4-FFF2-40B4-BE49-F238E27FC236}">
                <a16:creationId xmlns:a16="http://schemas.microsoft.com/office/drawing/2014/main" id="{96250CD8-B045-2B00-0EE9-A4690F07607E}"/>
              </a:ext>
            </a:extLst>
          </p:cNvPr>
          <p:cNvPicPr>
            <a:picLocks noChangeAspect="1"/>
          </p:cNvPicPr>
          <p:nvPr/>
        </p:nvPicPr>
        <p:blipFill>
          <a:blip r:embed="rId3"/>
          <a:stretch>
            <a:fillRect/>
          </a:stretch>
        </p:blipFill>
        <p:spPr>
          <a:xfrm>
            <a:off x="820917" y="464576"/>
            <a:ext cx="7502167" cy="4214349"/>
          </a:xfrm>
          <a:prstGeom prst="rect">
            <a:avLst/>
          </a:prstGeom>
        </p:spPr>
      </p:pic>
    </p:spTree>
    <p:extLst>
      <p:ext uri="{BB962C8B-B14F-4D97-AF65-F5344CB8AC3E}">
        <p14:creationId xmlns:p14="http://schemas.microsoft.com/office/powerpoint/2010/main" val="2380745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40"/>
          <p:cNvSpPr txBox="1">
            <a:spLocks noGrp="1"/>
          </p:cNvSpPr>
          <p:nvPr>
            <p:ph type="title"/>
          </p:nvPr>
        </p:nvSpPr>
        <p:spPr>
          <a:xfrm>
            <a:off x="713225" y="2384250"/>
            <a:ext cx="4344300" cy="915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Analysis</a:t>
            </a:r>
            <a:endParaRPr dirty="0"/>
          </a:p>
        </p:txBody>
      </p:sp>
      <p:sp>
        <p:nvSpPr>
          <p:cNvPr id="430" name="Google Shape;430;p40"/>
          <p:cNvSpPr txBox="1">
            <a:spLocks noGrp="1"/>
          </p:cNvSpPr>
          <p:nvPr>
            <p:ph type="title" idx="2"/>
          </p:nvPr>
        </p:nvSpPr>
        <p:spPr>
          <a:xfrm>
            <a:off x="713225" y="1468350"/>
            <a:ext cx="12642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05</a:t>
            </a:r>
            <a:endParaRPr dirty="0"/>
          </a:p>
        </p:txBody>
      </p:sp>
      <p:grpSp>
        <p:nvGrpSpPr>
          <p:cNvPr id="432" name="Google Shape;432;p40"/>
          <p:cNvGrpSpPr/>
          <p:nvPr/>
        </p:nvGrpSpPr>
        <p:grpSpPr>
          <a:xfrm>
            <a:off x="5104880" y="-153372"/>
            <a:ext cx="4218588" cy="6000578"/>
            <a:chOff x="5104880" y="-153372"/>
            <a:chExt cx="4218588" cy="6000578"/>
          </a:xfrm>
        </p:grpSpPr>
        <p:sp>
          <p:nvSpPr>
            <p:cNvPr id="433" name="Google Shape;433;p40"/>
            <p:cNvSpPr/>
            <p:nvPr/>
          </p:nvSpPr>
          <p:spPr>
            <a:xfrm>
              <a:off x="7074911" y="25473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0"/>
            <p:cNvSpPr/>
            <p:nvPr/>
          </p:nvSpPr>
          <p:spPr>
            <a:xfrm>
              <a:off x="7026089" y="-1533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0"/>
            <p:cNvSpPr/>
            <p:nvPr/>
          </p:nvSpPr>
          <p:spPr>
            <a:xfrm>
              <a:off x="6606684" y="3184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0"/>
            <p:cNvSpPr/>
            <p:nvPr/>
          </p:nvSpPr>
          <p:spPr>
            <a:xfrm>
              <a:off x="6138958" y="13708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0"/>
            <p:cNvSpPr/>
            <p:nvPr/>
          </p:nvSpPr>
          <p:spPr>
            <a:xfrm>
              <a:off x="5732458" y="87452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0"/>
            <p:cNvSpPr/>
            <p:nvPr/>
          </p:nvSpPr>
          <p:spPr>
            <a:xfrm>
              <a:off x="7480889" y="98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0"/>
            <p:cNvSpPr/>
            <p:nvPr/>
          </p:nvSpPr>
          <p:spPr>
            <a:xfrm>
              <a:off x="7074904" y="207505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0"/>
            <p:cNvSpPr/>
            <p:nvPr/>
          </p:nvSpPr>
          <p:spPr>
            <a:xfrm>
              <a:off x="7962441" y="140407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0"/>
            <p:cNvSpPr/>
            <p:nvPr/>
          </p:nvSpPr>
          <p:spPr>
            <a:xfrm rot="10800000" flipH="1">
              <a:off x="6355205" y="41020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0"/>
            <p:cNvSpPr/>
            <p:nvPr/>
          </p:nvSpPr>
          <p:spPr>
            <a:xfrm rot="10800000" flipH="1">
              <a:off x="5732459" y="48790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0"/>
            <p:cNvSpPr/>
            <p:nvPr/>
          </p:nvSpPr>
          <p:spPr>
            <a:xfrm rot="10800000" flipH="1">
              <a:off x="6683197" y="351549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40"/>
            <p:cNvSpPr/>
            <p:nvPr/>
          </p:nvSpPr>
          <p:spPr>
            <a:xfrm rot="10800000" flipH="1">
              <a:off x="5104880"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0"/>
            <p:cNvSpPr/>
            <p:nvPr/>
          </p:nvSpPr>
          <p:spPr>
            <a:xfrm>
              <a:off x="8484758" y="243811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0"/>
            <p:cNvSpPr/>
            <p:nvPr/>
          </p:nvSpPr>
          <p:spPr>
            <a:xfrm>
              <a:off x="8038260" y="29212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p:cNvSpPr/>
            <p:nvPr/>
          </p:nvSpPr>
          <p:spPr>
            <a:xfrm rot="10800000" flipH="1">
              <a:off x="7853362" y="396220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p:cNvSpPr/>
            <p:nvPr/>
          </p:nvSpPr>
          <p:spPr>
            <a:xfrm rot="10800000" flipH="1">
              <a:off x="8261505"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50" name="Google Shape;450;p40"/>
          <p:cNvCxnSpPr/>
          <p:nvPr/>
        </p:nvCxnSpPr>
        <p:spPr>
          <a:xfrm>
            <a:off x="841250" y="1385850"/>
            <a:ext cx="373500"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1009333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Vivado Synthesis Results</a:t>
            </a:r>
            <a:endParaRPr dirty="0"/>
          </a:p>
        </p:txBody>
      </p:sp>
      <p:sp>
        <p:nvSpPr>
          <p:cNvPr id="21" name="TextBox 20">
            <a:extLst>
              <a:ext uri="{FF2B5EF4-FFF2-40B4-BE49-F238E27FC236}">
                <a16:creationId xmlns:a16="http://schemas.microsoft.com/office/drawing/2014/main" id="{3E26A87D-F244-4103-B86B-527903018F70}"/>
              </a:ext>
            </a:extLst>
          </p:cNvPr>
          <p:cNvSpPr txBox="1"/>
          <p:nvPr/>
        </p:nvSpPr>
        <p:spPr>
          <a:xfrm>
            <a:off x="1168781" y="1065934"/>
            <a:ext cx="6806437" cy="1072730"/>
          </a:xfrm>
          <a:prstGeom prst="rect">
            <a:avLst/>
          </a:prstGeom>
          <a:noFill/>
        </p:spPr>
        <p:txBody>
          <a:bodyPr wrap="square">
            <a:spAutoFit/>
          </a:bodyPr>
          <a:lstStyle/>
          <a:p>
            <a:pPr marL="0" marR="0" lvl="0" indent="0" algn="just" defTabSz="914400" rtl="0" eaLnBrk="1" fontAlgn="auto" latinLnBrk="0" hangingPunct="1">
              <a:lnSpc>
                <a:spcPct val="115000"/>
              </a:lnSpc>
              <a:spcBef>
                <a:spcPts val="0"/>
              </a:spcBef>
              <a:spcAft>
                <a:spcPts val="0"/>
              </a:spcAft>
              <a:buClr>
                <a:srgbClr val="384655"/>
              </a:buClr>
              <a:buSzPts val="1400"/>
              <a:buFont typeface="DM Sans"/>
              <a:buNone/>
              <a:tabLst/>
              <a:defRPr/>
            </a:pPr>
            <a:r>
              <a:rPr kumimoji="0" lang="en-GB" sz="1400" b="0" i="0" u="none" strike="noStrike" kern="0" cap="none" spc="0" normalizeH="0" baseline="0" noProof="0" dirty="0">
                <a:ln>
                  <a:noFill/>
                </a:ln>
                <a:solidFill>
                  <a:srgbClr val="384655"/>
                </a:solidFill>
                <a:effectLst/>
                <a:uLnTx/>
                <a:uFillTx/>
                <a:latin typeface="DM Sans"/>
                <a:sym typeface="DM Sans"/>
              </a:rPr>
              <a:t>The RTL design is synthesized using Xilinx </a:t>
            </a:r>
            <a:r>
              <a:rPr kumimoji="0" lang="en-GB" sz="1400" b="0" i="0" u="none" strike="noStrike" kern="0" cap="none" spc="0" normalizeH="0" baseline="0" noProof="0" dirty="0" err="1">
                <a:ln>
                  <a:noFill/>
                </a:ln>
                <a:solidFill>
                  <a:srgbClr val="384655"/>
                </a:solidFill>
                <a:effectLst/>
                <a:uLnTx/>
                <a:uFillTx/>
                <a:latin typeface="DM Sans"/>
                <a:sym typeface="DM Sans"/>
              </a:rPr>
              <a:t>Vivado</a:t>
            </a:r>
            <a:r>
              <a:rPr kumimoji="0" lang="en-GB" sz="1400" b="0" i="0" u="none" strike="noStrike" kern="0" cap="none" spc="0" normalizeH="0" baseline="0" noProof="0" dirty="0">
                <a:ln>
                  <a:noFill/>
                </a:ln>
                <a:solidFill>
                  <a:srgbClr val="384655"/>
                </a:solidFill>
                <a:effectLst/>
                <a:uLnTx/>
                <a:uFillTx/>
                <a:latin typeface="DM Sans"/>
                <a:sym typeface="DM Sans"/>
              </a:rPr>
              <a:t> to evaluate hardware resource utilization. The synthesis results show efficient usage of LUTs, registers, and DSP slices, indicating that the perceptron-based AI engine is suitable for FPGA implementation.</a:t>
            </a:r>
          </a:p>
        </p:txBody>
      </p:sp>
      <p:pic>
        <p:nvPicPr>
          <p:cNvPr id="25" name="Picture 24">
            <a:extLst>
              <a:ext uri="{FF2B5EF4-FFF2-40B4-BE49-F238E27FC236}">
                <a16:creationId xmlns:a16="http://schemas.microsoft.com/office/drawing/2014/main" id="{11E3B584-4B57-7C26-8077-E042B04A2C4C}"/>
              </a:ext>
            </a:extLst>
          </p:cNvPr>
          <p:cNvPicPr>
            <a:picLocks noChangeAspect="1"/>
          </p:cNvPicPr>
          <p:nvPr/>
        </p:nvPicPr>
        <p:blipFill>
          <a:blip r:embed="rId3"/>
          <a:srcRect/>
          <a:stretch/>
        </p:blipFill>
        <p:spPr>
          <a:xfrm>
            <a:off x="783770" y="2300078"/>
            <a:ext cx="7576457" cy="1848374"/>
          </a:xfrm>
          <a:prstGeom prst="rect">
            <a:avLst/>
          </a:prstGeom>
        </p:spPr>
      </p:pic>
      <p:sp>
        <p:nvSpPr>
          <p:cNvPr id="36" name="TextBox 35">
            <a:extLst>
              <a:ext uri="{FF2B5EF4-FFF2-40B4-BE49-F238E27FC236}">
                <a16:creationId xmlns:a16="http://schemas.microsoft.com/office/drawing/2014/main" id="{3D2C521D-30CA-8E93-FE4E-B82F2B1B5ABB}"/>
              </a:ext>
            </a:extLst>
          </p:cNvPr>
          <p:cNvSpPr txBox="1"/>
          <p:nvPr/>
        </p:nvSpPr>
        <p:spPr>
          <a:xfrm>
            <a:off x="2009272" y="4309866"/>
            <a:ext cx="5125452" cy="329449"/>
          </a:xfrm>
          <a:prstGeom prst="rect">
            <a:avLst/>
          </a:prstGeom>
          <a:noFill/>
        </p:spPr>
        <p:txBody>
          <a:bodyPr wrap="square">
            <a:spAutoFit/>
          </a:bodyPr>
          <a:lstStyle/>
          <a:p>
            <a:pPr marL="0" marR="0" lvl="0" indent="0" algn="ctr" defTabSz="914400" rtl="0" eaLnBrk="1" fontAlgn="auto" latinLnBrk="0" hangingPunct="1">
              <a:lnSpc>
                <a:spcPct val="115000"/>
              </a:lnSpc>
              <a:spcBef>
                <a:spcPts val="0"/>
              </a:spcBef>
              <a:spcAft>
                <a:spcPts val="0"/>
              </a:spcAft>
              <a:buClr>
                <a:srgbClr val="384655"/>
              </a:buClr>
              <a:buSzPts val="1400"/>
              <a:buFont typeface="DM Sans"/>
              <a:buNone/>
              <a:tabLst/>
              <a:defRPr/>
            </a:pPr>
            <a:r>
              <a:rPr kumimoji="0" lang="en-GB" sz="1400" b="1" i="0" u="none" strike="noStrike" kern="0" cap="none" spc="0" normalizeH="0" baseline="0" noProof="0" dirty="0">
                <a:ln>
                  <a:noFill/>
                </a:ln>
                <a:solidFill>
                  <a:srgbClr val="384655"/>
                </a:solidFill>
                <a:effectLst/>
                <a:uLnTx/>
                <a:uFillTx/>
                <a:latin typeface="DM Sans"/>
                <a:cs typeface="Arial"/>
                <a:sym typeface="DM Sans"/>
              </a:rPr>
              <a:t>Utilization Report</a:t>
            </a:r>
          </a:p>
        </p:txBody>
      </p:sp>
    </p:spTree>
    <p:extLst>
      <p:ext uri="{BB962C8B-B14F-4D97-AF65-F5344CB8AC3E}">
        <p14:creationId xmlns:p14="http://schemas.microsoft.com/office/powerpoint/2010/main" val="2107484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Vivado Synthesis Results</a:t>
            </a:r>
            <a:endParaRPr dirty="0"/>
          </a:p>
        </p:txBody>
      </p:sp>
      <p:sp>
        <p:nvSpPr>
          <p:cNvPr id="3" name="TextBox 2">
            <a:extLst>
              <a:ext uri="{FF2B5EF4-FFF2-40B4-BE49-F238E27FC236}">
                <a16:creationId xmlns:a16="http://schemas.microsoft.com/office/drawing/2014/main" id="{AC2EF320-730F-D9EA-6F7E-BE5FA45EEE59}"/>
              </a:ext>
            </a:extLst>
          </p:cNvPr>
          <p:cNvSpPr txBox="1"/>
          <p:nvPr/>
        </p:nvSpPr>
        <p:spPr>
          <a:xfrm>
            <a:off x="2009274" y="1183742"/>
            <a:ext cx="5125452" cy="575094"/>
          </a:xfrm>
          <a:prstGeom prst="rect">
            <a:avLst/>
          </a:prstGeom>
          <a:noFill/>
        </p:spPr>
        <p:txBody>
          <a:bodyPr wrap="square">
            <a:spAutoFit/>
          </a:bodyPr>
          <a:lstStyle/>
          <a:p>
            <a:pPr marL="0" marR="0" lvl="0" indent="0" algn="ctr" defTabSz="914400" rtl="0" eaLnBrk="1" fontAlgn="auto" latinLnBrk="0" hangingPunct="1">
              <a:lnSpc>
                <a:spcPct val="115000"/>
              </a:lnSpc>
              <a:spcBef>
                <a:spcPts val="0"/>
              </a:spcBef>
              <a:spcAft>
                <a:spcPts val="0"/>
              </a:spcAft>
              <a:buClr>
                <a:srgbClr val="384655"/>
              </a:buClr>
              <a:buSzPts val="1400"/>
              <a:buFont typeface="DM Sans"/>
              <a:buNone/>
              <a:tabLst/>
              <a:defRPr/>
            </a:pPr>
            <a:r>
              <a:rPr kumimoji="0" lang="en-GB" sz="1400" b="1" i="0" u="none" strike="noStrike" kern="0" cap="none" spc="0" normalizeH="0" baseline="0" noProof="0" dirty="0">
                <a:ln>
                  <a:noFill/>
                </a:ln>
                <a:solidFill>
                  <a:srgbClr val="384655"/>
                </a:solidFill>
                <a:effectLst/>
                <a:uLnTx/>
                <a:uFillTx/>
                <a:latin typeface="DM Sans"/>
                <a:sym typeface="DM Sans"/>
              </a:rPr>
              <a:t>DSP usage → AI computation</a:t>
            </a:r>
          </a:p>
          <a:p>
            <a:pPr marL="0" marR="0" lvl="0" indent="0" algn="ctr" defTabSz="914400" rtl="0" eaLnBrk="1" fontAlgn="auto" latinLnBrk="0" hangingPunct="1">
              <a:lnSpc>
                <a:spcPct val="115000"/>
              </a:lnSpc>
              <a:spcBef>
                <a:spcPts val="0"/>
              </a:spcBef>
              <a:spcAft>
                <a:spcPts val="0"/>
              </a:spcAft>
              <a:buClr>
                <a:srgbClr val="384655"/>
              </a:buClr>
              <a:buSzPts val="1400"/>
              <a:buFont typeface="DM Sans"/>
              <a:buNone/>
              <a:tabLst/>
              <a:defRPr/>
            </a:pPr>
            <a:r>
              <a:rPr kumimoji="0" lang="en-GB" sz="1400" b="1" i="0" u="none" strike="noStrike" kern="0" cap="none" spc="0" normalizeH="0" baseline="0" noProof="0" dirty="0">
                <a:ln>
                  <a:noFill/>
                </a:ln>
                <a:solidFill>
                  <a:srgbClr val="384655"/>
                </a:solidFill>
                <a:effectLst/>
                <a:uLnTx/>
                <a:uFillTx/>
                <a:latin typeface="DM Sans"/>
                <a:sym typeface="DM Sans"/>
              </a:rPr>
              <a:t>Low LUT count → efficient design</a:t>
            </a:r>
          </a:p>
        </p:txBody>
      </p:sp>
      <p:sp>
        <p:nvSpPr>
          <p:cNvPr id="7" name="TextBox 6">
            <a:extLst>
              <a:ext uri="{FF2B5EF4-FFF2-40B4-BE49-F238E27FC236}">
                <a16:creationId xmlns:a16="http://schemas.microsoft.com/office/drawing/2014/main" id="{AFE30FA5-B9A6-C190-ACDC-42F3B6EE746E}"/>
              </a:ext>
            </a:extLst>
          </p:cNvPr>
          <p:cNvSpPr txBox="1"/>
          <p:nvPr/>
        </p:nvSpPr>
        <p:spPr>
          <a:xfrm>
            <a:off x="2009274" y="2103607"/>
            <a:ext cx="5125452" cy="388376"/>
          </a:xfrm>
          <a:prstGeom prst="rect">
            <a:avLst/>
          </a:prstGeom>
          <a:noFill/>
        </p:spPr>
        <p:txBody>
          <a:bodyPr wrap="square">
            <a:spAutoFit/>
          </a:bodyPr>
          <a:lstStyle/>
          <a:p>
            <a:pPr marL="0" marR="0" lvl="0" indent="0" algn="ctr" defTabSz="914400" rtl="0" eaLnBrk="1" fontAlgn="auto" latinLnBrk="0" hangingPunct="1">
              <a:lnSpc>
                <a:spcPct val="115000"/>
              </a:lnSpc>
              <a:spcBef>
                <a:spcPts val="0"/>
              </a:spcBef>
              <a:spcAft>
                <a:spcPts val="0"/>
              </a:spcAft>
              <a:buClr>
                <a:srgbClr val="384655"/>
              </a:buClr>
              <a:buSzPts val="2400"/>
              <a:buFont typeface="DM Sans"/>
              <a:buNone/>
              <a:tabLst/>
              <a:defRPr/>
            </a:pPr>
            <a:r>
              <a:rPr kumimoji="0" lang="en-GB" sz="1800" b="1" i="0" u="none" strike="noStrike" kern="0" cap="none" spc="0" normalizeH="0" baseline="0" noProof="0" dirty="0">
                <a:ln>
                  <a:noFill/>
                </a:ln>
                <a:solidFill>
                  <a:srgbClr val="384655"/>
                </a:solidFill>
                <a:effectLst/>
                <a:uLnTx/>
                <a:uFillTx/>
                <a:latin typeface="Outfit"/>
                <a:sym typeface="Outfit"/>
              </a:rPr>
              <a:t>Key </a:t>
            </a:r>
            <a:r>
              <a:rPr lang="en-GB" sz="1800" b="1" dirty="0">
                <a:solidFill>
                  <a:srgbClr val="384655"/>
                </a:solidFill>
                <a:latin typeface="Outfit"/>
                <a:sym typeface="Outfit"/>
              </a:rPr>
              <a:t>Observations (Based on Utilization Report)</a:t>
            </a:r>
            <a:endParaRPr kumimoji="0" lang="en-GB" sz="1800" b="1" i="0" u="none" strike="noStrike" kern="0" cap="none" spc="0" normalizeH="0" baseline="0" noProof="0" dirty="0">
              <a:ln>
                <a:noFill/>
              </a:ln>
              <a:solidFill>
                <a:srgbClr val="384655"/>
              </a:solidFill>
              <a:effectLst/>
              <a:uLnTx/>
              <a:uFillTx/>
              <a:latin typeface="Outfit"/>
              <a:sym typeface="Outfit"/>
            </a:endParaRPr>
          </a:p>
        </p:txBody>
      </p:sp>
      <p:graphicFrame>
        <p:nvGraphicFramePr>
          <p:cNvPr id="13" name="Table 12">
            <a:extLst>
              <a:ext uri="{FF2B5EF4-FFF2-40B4-BE49-F238E27FC236}">
                <a16:creationId xmlns:a16="http://schemas.microsoft.com/office/drawing/2014/main" id="{4AA6F48F-28D3-D320-AD1F-AEBF5F0F08B5}"/>
              </a:ext>
            </a:extLst>
          </p:cNvPr>
          <p:cNvGraphicFramePr>
            <a:graphicFrameLocks noGrp="1"/>
          </p:cNvGraphicFramePr>
          <p:nvPr>
            <p:extLst>
              <p:ext uri="{D42A27DB-BD31-4B8C-83A1-F6EECF244321}">
                <p14:modId xmlns:p14="http://schemas.microsoft.com/office/powerpoint/2010/main" val="1242856822"/>
              </p:ext>
            </p:extLst>
          </p:nvPr>
        </p:nvGraphicFramePr>
        <p:xfrm>
          <a:off x="1524000" y="2491983"/>
          <a:ext cx="6096000" cy="18542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1457636110"/>
                    </a:ext>
                  </a:extLst>
                </a:gridCol>
                <a:gridCol w="3048000">
                  <a:extLst>
                    <a:ext uri="{9D8B030D-6E8A-4147-A177-3AD203B41FA5}">
                      <a16:colId xmlns:a16="http://schemas.microsoft.com/office/drawing/2014/main" val="215113762"/>
                    </a:ext>
                  </a:extLst>
                </a:gridCol>
              </a:tblGrid>
              <a:tr h="370840">
                <a:tc>
                  <a:txBody>
                    <a:bodyPr/>
                    <a:lstStyle/>
                    <a:p>
                      <a:r>
                        <a:rPr lang="en-US" dirty="0"/>
                        <a:t>Resource</a:t>
                      </a:r>
                      <a:endParaRPr lang="en-GB" dirty="0"/>
                    </a:p>
                  </a:txBody>
                  <a:tcPr/>
                </a:tc>
                <a:tc>
                  <a:txBody>
                    <a:bodyPr/>
                    <a:lstStyle/>
                    <a:p>
                      <a:r>
                        <a:rPr lang="en-US" dirty="0"/>
                        <a:t>Usage</a:t>
                      </a:r>
                      <a:endParaRPr lang="en-GB" dirty="0"/>
                    </a:p>
                  </a:txBody>
                  <a:tcPr/>
                </a:tc>
                <a:extLst>
                  <a:ext uri="{0D108BD9-81ED-4DB2-BD59-A6C34878D82A}">
                    <a16:rowId xmlns:a16="http://schemas.microsoft.com/office/drawing/2014/main" val="2095980762"/>
                  </a:ext>
                </a:extLst>
              </a:tr>
              <a:tr h="370840">
                <a:tc>
                  <a:txBody>
                    <a:bodyPr/>
                    <a:lstStyle/>
                    <a:p>
                      <a:r>
                        <a:rPr lang="en-US" dirty="0"/>
                        <a:t>LUTs</a:t>
                      </a:r>
                      <a:endParaRPr lang="en-GB" dirty="0"/>
                    </a:p>
                  </a:txBody>
                  <a:tcPr/>
                </a:tc>
                <a:tc>
                  <a:txBody>
                    <a:bodyPr/>
                    <a:lstStyle/>
                    <a:p>
                      <a:r>
                        <a:rPr lang="en-US" dirty="0"/>
                        <a:t>218(~1%)</a:t>
                      </a:r>
                      <a:endParaRPr lang="en-GB" dirty="0"/>
                    </a:p>
                  </a:txBody>
                  <a:tcPr/>
                </a:tc>
                <a:extLst>
                  <a:ext uri="{0D108BD9-81ED-4DB2-BD59-A6C34878D82A}">
                    <a16:rowId xmlns:a16="http://schemas.microsoft.com/office/drawing/2014/main" val="1328676757"/>
                  </a:ext>
                </a:extLst>
              </a:tr>
              <a:tr h="370840">
                <a:tc>
                  <a:txBody>
                    <a:bodyPr/>
                    <a:lstStyle/>
                    <a:p>
                      <a:r>
                        <a:rPr lang="en-US" dirty="0"/>
                        <a:t>Registers</a:t>
                      </a:r>
                      <a:endParaRPr lang="en-GB" dirty="0"/>
                    </a:p>
                  </a:txBody>
                  <a:tcPr/>
                </a:tc>
                <a:tc>
                  <a:txBody>
                    <a:bodyPr/>
                    <a:lstStyle/>
                    <a:p>
                      <a:r>
                        <a:rPr lang="en-US" dirty="0"/>
                        <a:t>224(~1%)</a:t>
                      </a:r>
                      <a:endParaRPr lang="en-GB" dirty="0"/>
                    </a:p>
                  </a:txBody>
                  <a:tcPr/>
                </a:tc>
                <a:extLst>
                  <a:ext uri="{0D108BD9-81ED-4DB2-BD59-A6C34878D82A}">
                    <a16:rowId xmlns:a16="http://schemas.microsoft.com/office/drawing/2014/main" val="270637991"/>
                  </a:ext>
                </a:extLst>
              </a:tr>
              <a:tr h="370840">
                <a:tc>
                  <a:txBody>
                    <a:bodyPr/>
                    <a:lstStyle/>
                    <a:p>
                      <a:r>
                        <a:rPr lang="en-US" dirty="0"/>
                        <a:t>I/O</a:t>
                      </a:r>
                      <a:endParaRPr lang="en-GB" dirty="0"/>
                    </a:p>
                  </a:txBody>
                  <a:tcPr/>
                </a:tc>
                <a:tc>
                  <a:txBody>
                    <a:bodyPr/>
                    <a:lstStyle/>
                    <a:p>
                      <a:r>
                        <a:rPr lang="en-US" dirty="0"/>
                        <a:t>15</a:t>
                      </a:r>
                      <a:endParaRPr lang="en-GB" dirty="0"/>
                    </a:p>
                  </a:txBody>
                  <a:tcPr/>
                </a:tc>
                <a:extLst>
                  <a:ext uri="{0D108BD9-81ED-4DB2-BD59-A6C34878D82A}">
                    <a16:rowId xmlns:a16="http://schemas.microsoft.com/office/drawing/2014/main" val="3710187151"/>
                  </a:ext>
                </a:extLst>
              </a:tr>
              <a:tr h="370840">
                <a:tc>
                  <a:txBody>
                    <a:bodyPr/>
                    <a:lstStyle/>
                    <a:p>
                      <a:r>
                        <a:rPr lang="en-US" dirty="0"/>
                        <a:t>DSP/BRAM</a:t>
                      </a:r>
                      <a:endParaRPr lang="en-GB" dirty="0"/>
                    </a:p>
                  </a:txBody>
                  <a:tcPr/>
                </a:tc>
                <a:tc>
                  <a:txBody>
                    <a:bodyPr/>
                    <a:lstStyle/>
                    <a:p>
                      <a:r>
                        <a:rPr lang="en-US" dirty="0"/>
                        <a:t>Minimal/None</a:t>
                      </a:r>
                      <a:endParaRPr lang="en-GB" dirty="0"/>
                    </a:p>
                  </a:txBody>
                  <a:tcPr/>
                </a:tc>
                <a:extLst>
                  <a:ext uri="{0D108BD9-81ED-4DB2-BD59-A6C34878D82A}">
                    <a16:rowId xmlns:a16="http://schemas.microsoft.com/office/drawing/2014/main" val="742188128"/>
                  </a:ext>
                </a:extLst>
              </a:tr>
            </a:tbl>
          </a:graphicData>
        </a:graphic>
      </p:graphicFrame>
    </p:spTree>
    <p:extLst>
      <p:ext uri="{BB962C8B-B14F-4D97-AF65-F5344CB8AC3E}">
        <p14:creationId xmlns:p14="http://schemas.microsoft.com/office/powerpoint/2010/main" val="701597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9" name="Google Shape;569;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Timing Analysis</a:t>
            </a:r>
            <a:endParaRPr dirty="0"/>
          </a:p>
        </p:txBody>
      </p:sp>
      <p:pic>
        <p:nvPicPr>
          <p:cNvPr id="27" name="Picture 26">
            <a:extLst>
              <a:ext uri="{FF2B5EF4-FFF2-40B4-BE49-F238E27FC236}">
                <a16:creationId xmlns:a16="http://schemas.microsoft.com/office/drawing/2014/main" id="{6F9AD65F-66F5-C185-A298-2231203327DD}"/>
              </a:ext>
            </a:extLst>
          </p:cNvPr>
          <p:cNvPicPr>
            <a:picLocks noChangeAspect="1"/>
          </p:cNvPicPr>
          <p:nvPr/>
        </p:nvPicPr>
        <p:blipFill>
          <a:blip r:embed="rId3"/>
          <a:srcRect/>
          <a:stretch/>
        </p:blipFill>
        <p:spPr>
          <a:xfrm>
            <a:off x="690956" y="1136382"/>
            <a:ext cx="7762087" cy="1887685"/>
          </a:xfrm>
          <a:prstGeom prst="rect">
            <a:avLst/>
          </a:prstGeom>
        </p:spPr>
      </p:pic>
      <p:sp>
        <p:nvSpPr>
          <p:cNvPr id="29" name="TextBox 28">
            <a:extLst>
              <a:ext uri="{FF2B5EF4-FFF2-40B4-BE49-F238E27FC236}">
                <a16:creationId xmlns:a16="http://schemas.microsoft.com/office/drawing/2014/main" id="{BF0ABC5D-2E24-DEFC-769A-5D9C361C9488}"/>
              </a:ext>
            </a:extLst>
          </p:cNvPr>
          <p:cNvSpPr txBox="1"/>
          <p:nvPr/>
        </p:nvSpPr>
        <p:spPr>
          <a:xfrm>
            <a:off x="2146777" y="3142724"/>
            <a:ext cx="4850444" cy="1568250"/>
          </a:xfrm>
          <a:prstGeom prst="rect">
            <a:avLst/>
          </a:prstGeom>
          <a:noFill/>
        </p:spPr>
        <p:txBody>
          <a:bodyPr wrap="square">
            <a:spAutoFit/>
          </a:bodyPr>
          <a:lstStyle/>
          <a:p>
            <a:pPr marL="0" marR="0" lvl="0" indent="0" algn="ctr" defTabSz="914400" rtl="0" eaLnBrk="1" fontAlgn="auto" latinLnBrk="0" hangingPunct="1">
              <a:lnSpc>
                <a:spcPct val="115000"/>
              </a:lnSpc>
              <a:spcBef>
                <a:spcPts val="0"/>
              </a:spcBef>
              <a:spcAft>
                <a:spcPts val="0"/>
              </a:spcAft>
              <a:buClr>
                <a:srgbClr val="384655"/>
              </a:buClr>
              <a:buSzPts val="1400"/>
              <a:buFont typeface="DM Sans"/>
              <a:buNone/>
              <a:tabLst/>
              <a:defRPr/>
            </a:pPr>
            <a:r>
              <a:rPr kumimoji="0" lang="en-GB" sz="1400" b="1" i="0" u="none" strike="noStrike" kern="0" cap="none" spc="0" normalizeH="0" baseline="0" noProof="0" dirty="0">
                <a:ln>
                  <a:noFill/>
                </a:ln>
                <a:solidFill>
                  <a:srgbClr val="384655"/>
                </a:solidFill>
                <a:effectLst/>
                <a:uLnTx/>
                <a:uFillTx/>
                <a:latin typeface="DM Sans"/>
                <a:sym typeface="DM Sans"/>
              </a:rPr>
              <a:t>WNS &gt; 0  → Timing met</a:t>
            </a:r>
          </a:p>
          <a:p>
            <a:pPr marL="0" marR="0" lvl="0" indent="0" algn="ctr" defTabSz="914400" rtl="0" eaLnBrk="1" fontAlgn="auto" latinLnBrk="0" hangingPunct="1">
              <a:lnSpc>
                <a:spcPct val="115000"/>
              </a:lnSpc>
              <a:spcBef>
                <a:spcPts val="0"/>
              </a:spcBef>
              <a:spcAft>
                <a:spcPts val="0"/>
              </a:spcAft>
              <a:buClr>
                <a:srgbClr val="384655"/>
              </a:buClr>
              <a:buSzPts val="1400"/>
              <a:buFont typeface="DM Sans"/>
              <a:buNone/>
              <a:tabLst/>
              <a:defRPr/>
            </a:pPr>
            <a:r>
              <a:rPr kumimoji="0" lang="en-GB" sz="1400" b="1" i="0" u="none" strike="noStrike" kern="0" cap="none" spc="0" normalizeH="0" baseline="0" noProof="0" dirty="0">
                <a:ln>
                  <a:noFill/>
                </a:ln>
                <a:solidFill>
                  <a:srgbClr val="384655"/>
                </a:solidFill>
                <a:effectLst/>
                <a:uLnTx/>
                <a:uFillTx/>
                <a:latin typeface="DM Sans"/>
                <a:sym typeface="DM Sans"/>
              </a:rPr>
              <a:t>TNS = 0  → No violations</a:t>
            </a:r>
          </a:p>
          <a:p>
            <a:pPr marL="0" marR="0" lvl="0" indent="0" algn="ctr" defTabSz="914400" rtl="0" eaLnBrk="1" fontAlgn="auto" latinLnBrk="0" hangingPunct="1">
              <a:lnSpc>
                <a:spcPct val="115000"/>
              </a:lnSpc>
              <a:spcBef>
                <a:spcPts val="0"/>
              </a:spcBef>
              <a:spcAft>
                <a:spcPts val="0"/>
              </a:spcAft>
              <a:buClr>
                <a:srgbClr val="384655"/>
              </a:buClr>
              <a:buSzPts val="1400"/>
              <a:buFont typeface="DM Sans"/>
              <a:buNone/>
              <a:tabLst/>
              <a:defRPr/>
            </a:pPr>
            <a:r>
              <a:rPr kumimoji="0" lang="en-GB" sz="1400" b="1" i="0" u="none" strike="noStrike" kern="0" cap="none" spc="0" normalizeH="0" baseline="0" noProof="0" dirty="0">
                <a:ln>
                  <a:noFill/>
                </a:ln>
                <a:solidFill>
                  <a:srgbClr val="384655"/>
                </a:solidFill>
                <a:effectLst/>
                <a:uLnTx/>
                <a:uFillTx/>
                <a:latin typeface="DM Sans"/>
                <a:sym typeface="DM Sans"/>
              </a:rPr>
              <a:t>Inference latency ≈ ~10 clock cycles</a:t>
            </a:r>
          </a:p>
          <a:p>
            <a:pPr marL="0" marR="0" lvl="0" indent="0" algn="ctr" defTabSz="914400" rtl="0" eaLnBrk="1" fontAlgn="auto" latinLnBrk="0" hangingPunct="1">
              <a:lnSpc>
                <a:spcPct val="115000"/>
              </a:lnSpc>
              <a:spcBef>
                <a:spcPts val="0"/>
              </a:spcBef>
              <a:spcAft>
                <a:spcPts val="0"/>
              </a:spcAft>
              <a:buClr>
                <a:srgbClr val="384655"/>
              </a:buClr>
              <a:buSzPts val="1400"/>
              <a:buFont typeface="DM Sans"/>
              <a:buNone/>
              <a:tabLst/>
              <a:defRPr/>
            </a:pPr>
            <a:r>
              <a:rPr kumimoji="0" lang="en-GB" sz="1400" b="1" i="0" u="none" strike="noStrike" kern="0" cap="none" spc="0" normalizeH="0" baseline="0" noProof="0" dirty="0">
                <a:ln>
                  <a:noFill/>
                </a:ln>
                <a:solidFill>
                  <a:srgbClr val="384655"/>
                </a:solidFill>
                <a:effectLst/>
                <a:uLnTx/>
                <a:uFillTx/>
                <a:latin typeface="DM Sans"/>
                <a:sym typeface="DM Sans"/>
              </a:rPr>
              <a:t>Suitable for real-time applications</a:t>
            </a:r>
          </a:p>
          <a:p>
            <a:pPr marL="0" marR="0" lvl="0" indent="0" algn="ctr" defTabSz="914400" rtl="0" eaLnBrk="1" fontAlgn="auto" latinLnBrk="0" hangingPunct="1">
              <a:lnSpc>
                <a:spcPct val="115000"/>
              </a:lnSpc>
              <a:spcBef>
                <a:spcPts val="0"/>
              </a:spcBef>
              <a:spcAft>
                <a:spcPts val="0"/>
              </a:spcAft>
              <a:buClr>
                <a:srgbClr val="384655"/>
              </a:buClr>
              <a:buSzPts val="1400"/>
              <a:buFont typeface="DM Sans"/>
              <a:buNone/>
              <a:tabLst/>
              <a:defRPr/>
            </a:pPr>
            <a:endParaRPr kumimoji="0" lang="en-GB" sz="1400" b="1" i="0" u="none" strike="noStrike" kern="0" cap="none" spc="0" normalizeH="0" baseline="0" noProof="0" dirty="0">
              <a:ln>
                <a:noFill/>
              </a:ln>
              <a:solidFill>
                <a:srgbClr val="384655"/>
              </a:solidFill>
              <a:effectLst/>
              <a:uLnTx/>
              <a:uFillTx/>
              <a:latin typeface="DM Sans"/>
              <a:sym typeface="DM Sans"/>
            </a:endParaRPr>
          </a:p>
          <a:p>
            <a:pPr marL="0" marR="0" lvl="0" indent="0" algn="ctr" defTabSz="914400" rtl="0" eaLnBrk="1" fontAlgn="auto" latinLnBrk="0" hangingPunct="1">
              <a:lnSpc>
                <a:spcPct val="115000"/>
              </a:lnSpc>
              <a:spcBef>
                <a:spcPts val="0"/>
              </a:spcBef>
              <a:spcAft>
                <a:spcPts val="0"/>
              </a:spcAft>
              <a:buClr>
                <a:srgbClr val="384655"/>
              </a:buClr>
              <a:buSzPts val="1400"/>
              <a:buFont typeface="DM Sans"/>
              <a:buNone/>
              <a:tabLst/>
              <a:defRPr/>
            </a:pPr>
            <a:r>
              <a:rPr lang="en-GB" b="1" dirty="0">
                <a:solidFill>
                  <a:srgbClr val="384655"/>
                </a:solidFill>
                <a:latin typeface="DM Sans"/>
                <a:sym typeface="DM Sans"/>
              </a:rPr>
              <a:t>“All User specified timing constraints are met.”</a:t>
            </a:r>
            <a:endParaRPr kumimoji="0" lang="en-GB" sz="1400" b="1" i="0" u="none" strike="noStrike" kern="0" cap="none" spc="0" normalizeH="0" baseline="0" noProof="0" dirty="0">
              <a:ln>
                <a:noFill/>
              </a:ln>
              <a:solidFill>
                <a:srgbClr val="384655"/>
              </a:solidFill>
              <a:effectLst/>
              <a:uLnTx/>
              <a:uFillTx/>
              <a:latin typeface="DM Sans"/>
              <a:sym typeface="DM Sans"/>
            </a:endParaRPr>
          </a:p>
        </p:txBody>
      </p:sp>
    </p:spTree>
    <p:extLst>
      <p:ext uri="{BB962C8B-B14F-4D97-AF65-F5344CB8AC3E}">
        <p14:creationId xmlns:p14="http://schemas.microsoft.com/office/powerpoint/2010/main" val="1255628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9" name="Google Shape;569;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Low-power considerations</a:t>
            </a:r>
            <a:endParaRPr dirty="0"/>
          </a:p>
        </p:txBody>
      </p:sp>
      <p:sp>
        <p:nvSpPr>
          <p:cNvPr id="571" name="Google Shape;571;p46"/>
          <p:cNvSpPr txBox="1">
            <a:spLocks noGrp="1"/>
          </p:cNvSpPr>
          <p:nvPr>
            <p:ph type="subTitle" idx="3"/>
          </p:nvPr>
        </p:nvSpPr>
        <p:spPr>
          <a:xfrm>
            <a:off x="1120216" y="1657972"/>
            <a:ext cx="5851224" cy="232015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Low resource utilization </a:t>
            </a:r>
            <a:r>
              <a:rPr lang="en-GB" b="1" dirty="0"/>
              <a:t>(~1% LUTs, Registers)</a:t>
            </a:r>
          </a:p>
          <a:p>
            <a:pPr marL="0" lvl="0" indent="0" algn="l" rtl="0">
              <a:spcBef>
                <a:spcPts val="0"/>
              </a:spcBef>
              <a:spcAft>
                <a:spcPts val="0"/>
              </a:spcAft>
              <a:buNone/>
            </a:pPr>
            <a:r>
              <a:rPr lang="en-GB" dirty="0"/>
              <a:t>Sequential MAC operation reduces switching activity</a:t>
            </a:r>
          </a:p>
          <a:p>
            <a:pPr marL="0" lvl="0" indent="0" algn="l" rtl="0">
              <a:spcBef>
                <a:spcPts val="0"/>
              </a:spcBef>
              <a:spcAft>
                <a:spcPts val="0"/>
              </a:spcAft>
              <a:buNone/>
            </a:pPr>
            <a:r>
              <a:rPr lang="en-GB" dirty="0"/>
              <a:t>No large memory blocks </a:t>
            </a:r>
            <a:r>
              <a:rPr lang="en-GB" b="1" dirty="0"/>
              <a:t>(BRAM not used)</a:t>
            </a:r>
          </a:p>
          <a:p>
            <a:pPr marL="0" lvl="0" indent="0" algn="l" rtl="0">
              <a:spcBef>
                <a:spcPts val="0"/>
              </a:spcBef>
              <a:spcAft>
                <a:spcPts val="0"/>
              </a:spcAft>
              <a:buNone/>
            </a:pPr>
            <a:r>
              <a:rPr lang="en-GB" dirty="0"/>
              <a:t>Minimal combinational complexity</a:t>
            </a:r>
          </a:p>
          <a:p>
            <a:pPr marL="0" lvl="0" indent="0" algn="l" rtl="0">
              <a:spcBef>
                <a:spcPts val="0"/>
              </a:spcBef>
              <a:spcAft>
                <a:spcPts val="0"/>
              </a:spcAft>
              <a:buNone/>
            </a:pPr>
            <a:r>
              <a:rPr lang="en-GB" dirty="0"/>
              <a:t>Suitable for low-power edge AI applications</a:t>
            </a:r>
          </a:p>
          <a:p>
            <a:pPr marL="0" lvl="0" indent="0" algn="l" rtl="0">
              <a:spcBef>
                <a:spcPts val="0"/>
              </a:spcBef>
              <a:spcAft>
                <a:spcPts val="0"/>
              </a:spcAft>
              <a:buNone/>
            </a:pPr>
            <a:endParaRPr lang="en-GB" dirty="0"/>
          </a:p>
          <a:p>
            <a:pPr marL="0" lvl="0" indent="0" algn="l" rtl="0">
              <a:spcBef>
                <a:spcPts val="0"/>
              </a:spcBef>
              <a:spcAft>
                <a:spcPts val="0"/>
              </a:spcAft>
              <a:buNone/>
            </a:pPr>
            <a:r>
              <a:rPr lang="en-GB" dirty="0"/>
              <a:t>Uses </a:t>
            </a:r>
            <a:r>
              <a:rPr lang="en-GB" b="1" dirty="0"/>
              <a:t>sequential processing </a:t>
            </a:r>
            <a:r>
              <a:rPr lang="en-GB" dirty="0"/>
              <a:t>instead of parallel heavy logic</a:t>
            </a:r>
          </a:p>
          <a:p>
            <a:pPr marL="0" lvl="0" indent="0" algn="l" rtl="0">
              <a:spcBef>
                <a:spcPts val="0"/>
              </a:spcBef>
              <a:spcAft>
                <a:spcPts val="0"/>
              </a:spcAft>
              <a:buNone/>
            </a:pPr>
            <a:r>
              <a:rPr lang="en-GB" b="1" dirty="0"/>
              <a:t>Only active during computation </a:t>
            </a:r>
            <a:r>
              <a:rPr lang="en-GB" dirty="0"/>
              <a:t>(not always switching)</a:t>
            </a:r>
          </a:p>
          <a:p>
            <a:pPr marL="0" lvl="0" indent="0" algn="l" rtl="0">
              <a:spcBef>
                <a:spcPts val="0"/>
              </a:spcBef>
              <a:spcAft>
                <a:spcPts val="0"/>
              </a:spcAft>
              <a:buNone/>
            </a:pPr>
            <a:r>
              <a:rPr lang="en-GB" dirty="0"/>
              <a:t>Lightweight design → less power consumption</a:t>
            </a:r>
            <a:endParaRPr dirty="0"/>
          </a:p>
        </p:txBody>
      </p:sp>
      <p:sp>
        <p:nvSpPr>
          <p:cNvPr id="574" name="Google Shape;574;p46"/>
          <p:cNvSpPr txBox="1">
            <a:spLocks noGrp="1"/>
          </p:cNvSpPr>
          <p:nvPr>
            <p:ph type="subTitle" idx="7"/>
          </p:nvPr>
        </p:nvSpPr>
        <p:spPr>
          <a:xfrm>
            <a:off x="542701" y="1165372"/>
            <a:ext cx="8058598"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1800" dirty="0"/>
              <a:t>Dynamic Power ∝ Switching Activity × Capacitance × Frequency²</a:t>
            </a:r>
            <a:endParaRPr sz="1800" dirty="0"/>
          </a:p>
        </p:txBody>
      </p:sp>
      <p:sp>
        <p:nvSpPr>
          <p:cNvPr id="25" name="TextBox 24">
            <a:extLst>
              <a:ext uri="{FF2B5EF4-FFF2-40B4-BE49-F238E27FC236}">
                <a16:creationId xmlns:a16="http://schemas.microsoft.com/office/drawing/2014/main" id="{57AFD1B0-0FD4-681D-EF16-DFCD83CB4BDB}"/>
              </a:ext>
            </a:extLst>
          </p:cNvPr>
          <p:cNvSpPr txBox="1"/>
          <p:nvPr/>
        </p:nvSpPr>
        <p:spPr>
          <a:xfrm>
            <a:off x="2146778" y="4121266"/>
            <a:ext cx="4850444" cy="577209"/>
          </a:xfrm>
          <a:prstGeom prst="rect">
            <a:avLst/>
          </a:prstGeom>
          <a:noFill/>
        </p:spPr>
        <p:txBody>
          <a:bodyPr wrap="square">
            <a:spAutoFit/>
          </a:bodyPr>
          <a:lstStyle/>
          <a:p>
            <a:pPr marL="0" marR="0" lvl="0" indent="0" algn="ctr" defTabSz="914400" rtl="0" eaLnBrk="1" fontAlgn="auto" latinLnBrk="0" hangingPunct="1">
              <a:lnSpc>
                <a:spcPct val="115000"/>
              </a:lnSpc>
              <a:spcBef>
                <a:spcPts val="0"/>
              </a:spcBef>
              <a:spcAft>
                <a:spcPts val="0"/>
              </a:spcAft>
              <a:buClr>
                <a:srgbClr val="384655"/>
              </a:buClr>
              <a:buSzPts val="1400"/>
              <a:buFont typeface="DM Sans"/>
              <a:buNone/>
              <a:tabLst/>
              <a:defRPr/>
            </a:pPr>
            <a:r>
              <a:rPr lang="en-GB" b="1" dirty="0">
                <a:solidFill>
                  <a:srgbClr val="384655"/>
                </a:solidFill>
                <a:latin typeface="DM Sans"/>
                <a:sym typeface="DM Sans"/>
              </a:rPr>
              <a:t>The lightweight architecture ensures energy-efficient AI inference suitable for edge devices.</a:t>
            </a:r>
            <a:endParaRPr kumimoji="0" lang="en-GB" sz="1400" b="1" i="0" u="none" strike="noStrike" kern="0" cap="none" spc="0" normalizeH="0" baseline="0" noProof="0" dirty="0">
              <a:ln>
                <a:noFill/>
              </a:ln>
              <a:solidFill>
                <a:srgbClr val="384655"/>
              </a:solidFill>
              <a:effectLst/>
              <a:uLnTx/>
              <a:uFillTx/>
              <a:latin typeface="DM Sans"/>
              <a:sym typeface="DM Sans"/>
            </a:endParaRPr>
          </a:p>
        </p:txBody>
      </p:sp>
    </p:spTree>
    <p:extLst>
      <p:ext uri="{BB962C8B-B14F-4D97-AF65-F5344CB8AC3E}">
        <p14:creationId xmlns:p14="http://schemas.microsoft.com/office/powerpoint/2010/main" val="34454295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9" name="Google Shape;569;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Low-power considerations</a:t>
            </a:r>
            <a:endParaRPr dirty="0"/>
          </a:p>
        </p:txBody>
      </p:sp>
      <p:sp>
        <p:nvSpPr>
          <p:cNvPr id="574" name="Google Shape;574;p46"/>
          <p:cNvSpPr txBox="1">
            <a:spLocks noGrp="1"/>
          </p:cNvSpPr>
          <p:nvPr>
            <p:ph type="subTitle" idx="7"/>
          </p:nvPr>
        </p:nvSpPr>
        <p:spPr>
          <a:xfrm>
            <a:off x="542701" y="1165372"/>
            <a:ext cx="8058598"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1800" dirty="0"/>
              <a:t>Dynamic Power ∝ Switching Activity × Capacitance × Frequency²</a:t>
            </a:r>
            <a:endParaRPr sz="1800" dirty="0"/>
          </a:p>
        </p:txBody>
      </p:sp>
      <p:pic>
        <p:nvPicPr>
          <p:cNvPr id="5" name="Picture 4">
            <a:extLst>
              <a:ext uri="{FF2B5EF4-FFF2-40B4-BE49-F238E27FC236}">
                <a16:creationId xmlns:a16="http://schemas.microsoft.com/office/drawing/2014/main" id="{2F1933FE-08AF-9F86-5B80-829BF75D9211}"/>
              </a:ext>
            </a:extLst>
          </p:cNvPr>
          <p:cNvPicPr>
            <a:picLocks noChangeAspect="1"/>
          </p:cNvPicPr>
          <p:nvPr/>
        </p:nvPicPr>
        <p:blipFill>
          <a:blip r:embed="rId3"/>
          <a:stretch>
            <a:fillRect/>
          </a:stretch>
        </p:blipFill>
        <p:spPr>
          <a:xfrm>
            <a:off x="1012592" y="2027138"/>
            <a:ext cx="7118816" cy="2381760"/>
          </a:xfrm>
          <a:prstGeom prst="rect">
            <a:avLst/>
          </a:prstGeom>
        </p:spPr>
      </p:pic>
    </p:spTree>
    <p:extLst>
      <p:ext uri="{BB962C8B-B14F-4D97-AF65-F5344CB8AC3E}">
        <p14:creationId xmlns:p14="http://schemas.microsoft.com/office/powerpoint/2010/main" val="42848153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40"/>
          <p:cNvSpPr txBox="1">
            <a:spLocks noGrp="1"/>
          </p:cNvSpPr>
          <p:nvPr>
            <p:ph type="title"/>
          </p:nvPr>
        </p:nvSpPr>
        <p:spPr>
          <a:xfrm>
            <a:off x="713225" y="2384250"/>
            <a:ext cx="4344300" cy="915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Future Work</a:t>
            </a:r>
            <a:endParaRPr dirty="0"/>
          </a:p>
        </p:txBody>
      </p:sp>
      <p:sp>
        <p:nvSpPr>
          <p:cNvPr id="430" name="Google Shape;430;p40"/>
          <p:cNvSpPr txBox="1">
            <a:spLocks noGrp="1"/>
          </p:cNvSpPr>
          <p:nvPr>
            <p:ph type="title" idx="2"/>
          </p:nvPr>
        </p:nvSpPr>
        <p:spPr>
          <a:xfrm>
            <a:off x="713225" y="1468350"/>
            <a:ext cx="12642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05</a:t>
            </a:r>
            <a:endParaRPr dirty="0"/>
          </a:p>
        </p:txBody>
      </p:sp>
      <p:grpSp>
        <p:nvGrpSpPr>
          <p:cNvPr id="432" name="Google Shape;432;p40"/>
          <p:cNvGrpSpPr/>
          <p:nvPr/>
        </p:nvGrpSpPr>
        <p:grpSpPr>
          <a:xfrm>
            <a:off x="5104880" y="-153372"/>
            <a:ext cx="4218588" cy="6000578"/>
            <a:chOff x="5104880" y="-153372"/>
            <a:chExt cx="4218588" cy="6000578"/>
          </a:xfrm>
        </p:grpSpPr>
        <p:sp>
          <p:nvSpPr>
            <p:cNvPr id="433" name="Google Shape;433;p40"/>
            <p:cNvSpPr/>
            <p:nvPr/>
          </p:nvSpPr>
          <p:spPr>
            <a:xfrm>
              <a:off x="7074911" y="25473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0"/>
            <p:cNvSpPr/>
            <p:nvPr/>
          </p:nvSpPr>
          <p:spPr>
            <a:xfrm>
              <a:off x="7026089" y="-1533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0"/>
            <p:cNvSpPr/>
            <p:nvPr/>
          </p:nvSpPr>
          <p:spPr>
            <a:xfrm>
              <a:off x="6606684" y="3184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0"/>
            <p:cNvSpPr/>
            <p:nvPr/>
          </p:nvSpPr>
          <p:spPr>
            <a:xfrm>
              <a:off x="6138958" y="13708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0"/>
            <p:cNvSpPr/>
            <p:nvPr/>
          </p:nvSpPr>
          <p:spPr>
            <a:xfrm>
              <a:off x="5732458" y="87452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0"/>
            <p:cNvSpPr/>
            <p:nvPr/>
          </p:nvSpPr>
          <p:spPr>
            <a:xfrm>
              <a:off x="7480889" y="98993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0"/>
            <p:cNvSpPr/>
            <p:nvPr/>
          </p:nvSpPr>
          <p:spPr>
            <a:xfrm>
              <a:off x="7074904" y="207505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0"/>
            <p:cNvSpPr/>
            <p:nvPr/>
          </p:nvSpPr>
          <p:spPr>
            <a:xfrm>
              <a:off x="7962441" y="140407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0"/>
            <p:cNvSpPr/>
            <p:nvPr/>
          </p:nvSpPr>
          <p:spPr>
            <a:xfrm rot="10800000" flipH="1">
              <a:off x="6355205" y="41020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0"/>
            <p:cNvSpPr/>
            <p:nvPr/>
          </p:nvSpPr>
          <p:spPr>
            <a:xfrm rot="10800000" flipH="1">
              <a:off x="5732459" y="487908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0"/>
            <p:cNvSpPr/>
            <p:nvPr/>
          </p:nvSpPr>
          <p:spPr>
            <a:xfrm rot="10800000" flipH="1">
              <a:off x="6683197" y="3515490"/>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40"/>
            <p:cNvSpPr/>
            <p:nvPr/>
          </p:nvSpPr>
          <p:spPr>
            <a:xfrm rot="10800000" flipH="1">
              <a:off x="5104880"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0"/>
            <p:cNvSpPr/>
            <p:nvPr/>
          </p:nvSpPr>
          <p:spPr>
            <a:xfrm>
              <a:off x="8484758" y="243811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0"/>
            <p:cNvSpPr/>
            <p:nvPr/>
          </p:nvSpPr>
          <p:spPr>
            <a:xfrm>
              <a:off x="8038260" y="29212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p:cNvSpPr/>
            <p:nvPr/>
          </p:nvSpPr>
          <p:spPr>
            <a:xfrm rot="10800000" flipH="1">
              <a:off x="7853362" y="396220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p:cNvSpPr/>
            <p:nvPr/>
          </p:nvSpPr>
          <p:spPr>
            <a:xfrm rot="10800000" flipH="1">
              <a:off x="8261505" y="443452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50" name="Google Shape;450;p40"/>
          <p:cNvCxnSpPr/>
          <p:nvPr/>
        </p:nvCxnSpPr>
        <p:spPr>
          <a:xfrm>
            <a:off x="841250" y="1385850"/>
            <a:ext cx="373500"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10631093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9" name="Google Shape;569;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Enhancements</a:t>
            </a:r>
            <a:endParaRPr dirty="0"/>
          </a:p>
        </p:txBody>
      </p:sp>
      <p:sp>
        <p:nvSpPr>
          <p:cNvPr id="570" name="Google Shape;570;p46"/>
          <p:cNvSpPr txBox="1">
            <a:spLocks noGrp="1"/>
          </p:cNvSpPr>
          <p:nvPr>
            <p:ph type="subTitle" idx="1"/>
          </p:nvPr>
        </p:nvSpPr>
        <p:spPr>
          <a:xfrm>
            <a:off x="1955771" y="1368360"/>
            <a:ext cx="5232458" cy="94072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b="1" dirty="0"/>
              <a:t>From Single Neuron → Neural Network</a:t>
            </a:r>
          </a:p>
          <a:p>
            <a:pPr marL="0" lvl="0" indent="0" algn="ctr" rtl="0">
              <a:spcBef>
                <a:spcPts val="0"/>
              </a:spcBef>
              <a:spcAft>
                <a:spcPts val="0"/>
              </a:spcAft>
              <a:buNone/>
            </a:pPr>
            <a:r>
              <a:rPr lang="en-GB" b="1" dirty="0"/>
              <a:t>From Fixed Weights → Trainable / Configurable System</a:t>
            </a:r>
          </a:p>
          <a:p>
            <a:pPr marL="0" lvl="0" indent="0" algn="ctr" rtl="0">
              <a:spcBef>
                <a:spcPts val="0"/>
              </a:spcBef>
              <a:spcAft>
                <a:spcPts val="0"/>
              </a:spcAft>
              <a:buNone/>
            </a:pPr>
            <a:r>
              <a:rPr lang="en-GB" b="1" dirty="0"/>
              <a:t>From Prototype → Real Product</a:t>
            </a:r>
            <a:endParaRPr b="1" dirty="0"/>
          </a:p>
        </p:txBody>
      </p:sp>
      <p:sp>
        <p:nvSpPr>
          <p:cNvPr id="25" name="TextBox 24">
            <a:extLst>
              <a:ext uri="{FF2B5EF4-FFF2-40B4-BE49-F238E27FC236}">
                <a16:creationId xmlns:a16="http://schemas.microsoft.com/office/drawing/2014/main" id="{0E7EF9C2-D273-98DA-48EA-C0122F3C5840}"/>
              </a:ext>
            </a:extLst>
          </p:cNvPr>
          <p:cNvSpPr txBox="1"/>
          <p:nvPr/>
        </p:nvSpPr>
        <p:spPr>
          <a:xfrm>
            <a:off x="1206595" y="2419088"/>
            <a:ext cx="6730810" cy="1072730"/>
          </a:xfrm>
          <a:prstGeom prst="rect">
            <a:avLst/>
          </a:prstGeom>
          <a:noFill/>
        </p:spPr>
        <p:txBody>
          <a:bodyPr wrap="square">
            <a:spAutoFit/>
          </a:bodyPr>
          <a:lstStyle/>
          <a:p>
            <a:pPr marL="0" marR="0" lvl="0" indent="0" algn="just" defTabSz="914400" rtl="0" eaLnBrk="1" fontAlgn="auto" latinLnBrk="0" hangingPunct="1">
              <a:lnSpc>
                <a:spcPct val="115000"/>
              </a:lnSpc>
              <a:spcBef>
                <a:spcPts val="0"/>
              </a:spcBef>
              <a:spcAft>
                <a:spcPts val="0"/>
              </a:spcAft>
              <a:buClr>
                <a:srgbClr val="384655"/>
              </a:buClr>
              <a:buSzPts val="1400"/>
              <a:buFont typeface="DM Sans"/>
              <a:buNone/>
              <a:tabLst/>
              <a:defRPr/>
            </a:pPr>
            <a:r>
              <a:rPr kumimoji="0" lang="en-GB" sz="1400" b="0" i="0" u="none" strike="noStrike" kern="0" cap="none" spc="0" normalizeH="0" baseline="0" noProof="0" dirty="0">
                <a:ln>
                  <a:noFill/>
                </a:ln>
                <a:solidFill>
                  <a:srgbClr val="384655"/>
                </a:solidFill>
                <a:effectLst/>
                <a:uLnTx/>
                <a:uFillTx/>
                <a:latin typeface="DM Sans"/>
                <a:sym typeface="DM Sans"/>
              </a:rPr>
              <a:t>The current design can be extended to support more complex neural network architectures by incorporating multiple perceptron layers. Future enhancements include programmable weights, memory integration, pipeline optimization, and real-time deployment for practical edge AI applications.</a:t>
            </a:r>
          </a:p>
        </p:txBody>
      </p:sp>
    </p:spTree>
    <p:extLst>
      <p:ext uri="{BB962C8B-B14F-4D97-AF65-F5344CB8AC3E}">
        <p14:creationId xmlns:p14="http://schemas.microsoft.com/office/powerpoint/2010/main" val="7493584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5" name="Google Shape;645;p48"/>
          <p:cNvSpPr txBox="1">
            <a:spLocks noGrp="1"/>
          </p:cNvSpPr>
          <p:nvPr>
            <p:ph type="title"/>
          </p:nvPr>
        </p:nvSpPr>
        <p:spPr>
          <a:xfrm>
            <a:off x="1226413" y="742200"/>
            <a:ext cx="6691200" cy="54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500" dirty="0"/>
              <a:t>Conclusion</a:t>
            </a:r>
            <a:endParaRPr sz="3500" dirty="0"/>
          </a:p>
        </p:txBody>
      </p:sp>
      <p:sp>
        <p:nvSpPr>
          <p:cNvPr id="5" name="TextBox 4">
            <a:extLst>
              <a:ext uri="{FF2B5EF4-FFF2-40B4-BE49-F238E27FC236}">
                <a16:creationId xmlns:a16="http://schemas.microsoft.com/office/drawing/2014/main" id="{08620272-62B9-F206-2825-34050C7B7491}"/>
              </a:ext>
            </a:extLst>
          </p:cNvPr>
          <p:cNvSpPr txBox="1"/>
          <p:nvPr/>
        </p:nvSpPr>
        <p:spPr>
          <a:xfrm>
            <a:off x="1503088" y="1519063"/>
            <a:ext cx="6137824" cy="1320490"/>
          </a:xfrm>
          <a:prstGeom prst="rect">
            <a:avLst/>
          </a:prstGeom>
          <a:noFill/>
        </p:spPr>
        <p:txBody>
          <a:bodyPr wrap="square">
            <a:spAutoFit/>
          </a:bodyPr>
          <a:lstStyle/>
          <a:p>
            <a:pPr marL="0" marR="0" lvl="0" indent="0" algn="just" defTabSz="914400" rtl="0" eaLnBrk="1" fontAlgn="auto" latinLnBrk="0" hangingPunct="1">
              <a:lnSpc>
                <a:spcPct val="115000"/>
              </a:lnSpc>
              <a:spcBef>
                <a:spcPts val="0"/>
              </a:spcBef>
              <a:spcAft>
                <a:spcPts val="0"/>
              </a:spcAft>
              <a:buClr>
                <a:srgbClr val="384655"/>
              </a:buClr>
              <a:buSzPts val="1400"/>
              <a:buFont typeface="DM Sans"/>
              <a:buNone/>
              <a:tabLst/>
              <a:defRPr/>
            </a:pPr>
            <a:r>
              <a:rPr kumimoji="0" lang="en-GB" sz="1400" b="0" i="0" u="none" strike="noStrike" kern="0" cap="none" spc="0" normalizeH="0" baseline="0" noProof="0" dirty="0">
                <a:ln>
                  <a:noFill/>
                </a:ln>
                <a:solidFill>
                  <a:srgbClr val="384655"/>
                </a:solidFill>
                <a:effectLst/>
                <a:uLnTx/>
                <a:uFillTx/>
                <a:latin typeface="DM Sans"/>
                <a:sym typeface="DM Sans"/>
              </a:rPr>
              <a:t>This project successfully demonstrates the design and verification of a perceptron-based AI decision engine. The system is verified through simulation and achieves efficient resource utilization with timing closure. The lightweight and scalable architecture makes it suitable for low-power edge AI applications.</a:t>
            </a:r>
          </a:p>
        </p:txBody>
      </p:sp>
      <p:sp>
        <p:nvSpPr>
          <p:cNvPr id="7" name="TextBox 6">
            <a:extLst>
              <a:ext uri="{FF2B5EF4-FFF2-40B4-BE49-F238E27FC236}">
                <a16:creationId xmlns:a16="http://schemas.microsoft.com/office/drawing/2014/main" id="{59E4357C-1EAD-FA84-F479-57B3F843D573}"/>
              </a:ext>
            </a:extLst>
          </p:cNvPr>
          <p:cNvSpPr txBox="1"/>
          <p:nvPr/>
        </p:nvSpPr>
        <p:spPr>
          <a:xfrm>
            <a:off x="2157091" y="3004103"/>
            <a:ext cx="4829818" cy="1320490"/>
          </a:xfrm>
          <a:prstGeom prst="rect">
            <a:avLst/>
          </a:prstGeom>
          <a:noFill/>
        </p:spPr>
        <p:txBody>
          <a:bodyPr wrap="square">
            <a:spAutoFit/>
          </a:bodyPr>
          <a:lstStyle/>
          <a:p>
            <a:pPr marL="0" marR="0" lvl="0" indent="0" defTabSz="914400" rtl="0" eaLnBrk="1" fontAlgn="auto" latinLnBrk="0" hangingPunct="1">
              <a:lnSpc>
                <a:spcPct val="115000"/>
              </a:lnSpc>
              <a:spcBef>
                <a:spcPts val="0"/>
              </a:spcBef>
              <a:spcAft>
                <a:spcPts val="0"/>
              </a:spcAft>
              <a:buClr>
                <a:srgbClr val="384655"/>
              </a:buClr>
              <a:buSzPts val="1400"/>
              <a:buFont typeface="DM Sans"/>
              <a:buNone/>
              <a:tabLst/>
              <a:defRPr/>
            </a:pPr>
            <a:r>
              <a:rPr kumimoji="0" lang="en-GB" sz="1400" b="1" i="0" u="none" strike="noStrike" kern="0" cap="none" spc="0" normalizeH="0" baseline="0" noProof="0" dirty="0">
                <a:ln>
                  <a:noFill/>
                </a:ln>
                <a:solidFill>
                  <a:srgbClr val="384655"/>
                </a:solidFill>
                <a:effectLst/>
                <a:uLnTx/>
                <a:uFillTx/>
                <a:latin typeface="DM Sans"/>
                <a:sym typeface="DM Sans"/>
              </a:rPr>
              <a:t>Real-time hardware validated </a:t>
            </a:r>
            <a:r>
              <a:rPr lang="en-GB" dirty="0"/>
              <a:t>✔</a:t>
            </a:r>
            <a:endParaRPr kumimoji="0" lang="en-GB" sz="1400" b="1" i="0" u="none" strike="noStrike" kern="0" cap="none" spc="0" normalizeH="0" baseline="0" noProof="0" dirty="0">
              <a:ln>
                <a:noFill/>
              </a:ln>
              <a:solidFill>
                <a:srgbClr val="384655"/>
              </a:solidFill>
              <a:effectLst/>
              <a:uLnTx/>
              <a:uFillTx/>
              <a:latin typeface="DM Sans"/>
              <a:sym typeface="DM Sans"/>
            </a:endParaRPr>
          </a:p>
          <a:p>
            <a:pPr marL="0" marR="0" lvl="0" indent="0" defTabSz="914400" rtl="0" eaLnBrk="1" fontAlgn="auto" latinLnBrk="0" hangingPunct="1">
              <a:lnSpc>
                <a:spcPct val="115000"/>
              </a:lnSpc>
              <a:spcBef>
                <a:spcPts val="0"/>
              </a:spcBef>
              <a:spcAft>
                <a:spcPts val="0"/>
              </a:spcAft>
              <a:buClr>
                <a:srgbClr val="384655"/>
              </a:buClr>
              <a:buSzPts val="1400"/>
              <a:buFont typeface="DM Sans"/>
              <a:buNone/>
              <a:tabLst/>
              <a:defRPr/>
            </a:pPr>
            <a:endParaRPr kumimoji="0" lang="en-GB" sz="1400" b="1" i="0" u="none" strike="noStrike" kern="0" cap="none" spc="0" normalizeH="0" baseline="0" noProof="0" dirty="0">
              <a:ln>
                <a:noFill/>
              </a:ln>
              <a:solidFill>
                <a:srgbClr val="384655"/>
              </a:solidFill>
              <a:effectLst/>
              <a:uLnTx/>
              <a:uFillTx/>
              <a:latin typeface="DM Sans"/>
              <a:sym typeface="DM Sans"/>
            </a:endParaRPr>
          </a:p>
          <a:p>
            <a:pPr marL="0" marR="0" lvl="0" indent="0" defTabSz="914400" rtl="0" eaLnBrk="1" fontAlgn="auto" latinLnBrk="0" hangingPunct="1">
              <a:lnSpc>
                <a:spcPct val="115000"/>
              </a:lnSpc>
              <a:spcBef>
                <a:spcPts val="0"/>
              </a:spcBef>
              <a:spcAft>
                <a:spcPts val="0"/>
              </a:spcAft>
              <a:buClr>
                <a:srgbClr val="384655"/>
              </a:buClr>
              <a:buSzPts val="1400"/>
              <a:buFont typeface="DM Sans"/>
              <a:buNone/>
              <a:tabLst/>
              <a:defRPr/>
            </a:pPr>
            <a:r>
              <a:rPr kumimoji="0" lang="en-GB" sz="1400" b="1" i="0" u="none" strike="noStrike" kern="0" cap="none" spc="0" normalizeH="0" baseline="0" noProof="0" dirty="0">
                <a:ln>
                  <a:noFill/>
                </a:ln>
                <a:solidFill>
                  <a:srgbClr val="384655"/>
                </a:solidFill>
                <a:effectLst/>
                <a:uLnTx/>
                <a:uFillTx/>
                <a:latin typeface="DM Sans"/>
                <a:sym typeface="DM Sans"/>
              </a:rPr>
              <a:t>Scalable architecture </a:t>
            </a:r>
            <a:r>
              <a:rPr lang="en-GB" dirty="0"/>
              <a:t>✔</a:t>
            </a:r>
            <a:endParaRPr kumimoji="0" lang="en-GB" sz="1400" b="1" i="0" u="none" strike="noStrike" kern="0" cap="none" spc="0" normalizeH="0" baseline="0" noProof="0" dirty="0">
              <a:ln>
                <a:noFill/>
              </a:ln>
              <a:solidFill>
                <a:srgbClr val="384655"/>
              </a:solidFill>
              <a:effectLst/>
              <a:uLnTx/>
              <a:uFillTx/>
              <a:latin typeface="DM Sans"/>
              <a:sym typeface="DM Sans"/>
            </a:endParaRPr>
          </a:p>
          <a:p>
            <a:pPr marL="0" marR="0" lvl="0" indent="0" defTabSz="914400" rtl="0" eaLnBrk="1" fontAlgn="auto" latinLnBrk="0" hangingPunct="1">
              <a:lnSpc>
                <a:spcPct val="115000"/>
              </a:lnSpc>
              <a:spcBef>
                <a:spcPts val="0"/>
              </a:spcBef>
              <a:spcAft>
                <a:spcPts val="0"/>
              </a:spcAft>
              <a:buClr>
                <a:srgbClr val="384655"/>
              </a:buClr>
              <a:buSzPts val="1400"/>
              <a:buFont typeface="DM Sans"/>
              <a:buNone/>
              <a:tabLst/>
              <a:defRPr/>
            </a:pPr>
            <a:endParaRPr kumimoji="0" lang="en-GB" sz="1400" b="1" i="0" u="none" strike="noStrike" kern="0" cap="none" spc="0" normalizeH="0" baseline="0" noProof="0" dirty="0">
              <a:ln>
                <a:noFill/>
              </a:ln>
              <a:solidFill>
                <a:srgbClr val="384655"/>
              </a:solidFill>
              <a:effectLst/>
              <a:uLnTx/>
              <a:uFillTx/>
              <a:latin typeface="DM Sans"/>
              <a:sym typeface="DM Sans"/>
            </a:endParaRPr>
          </a:p>
          <a:p>
            <a:pPr marL="0" marR="0" lvl="0" indent="0" defTabSz="914400" rtl="0" eaLnBrk="1" fontAlgn="auto" latinLnBrk="0" hangingPunct="1">
              <a:lnSpc>
                <a:spcPct val="115000"/>
              </a:lnSpc>
              <a:spcBef>
                <a:spcPts val="0"/>
              </a:spcBef>
              <a:spcAft>
                <a:spcPts val="0"/>
              </a:spcAft>
              <a:buClr>
                <a:srgbClr val="384655"/>
              </a:buClr>
              <a:buSzPts val="1400"/>
              <a:buFont typeface="DM Sans"/>
              <a:buNone/>
              <a:tabLst/>
              <a:defRPr/>
            </a:pPr>
            <a:r>
              <a:rPr kumimoji="0" lang="en-GB" sz="1400" b="1" i="0" u="none" strike="noStrike" kern="0" cap="none" spc="0" normalizeH="0" baseline="0" noProof="0" dirty="0">
                <a:ln>
                  <a:noFill/>
                </a:ln>
                <a:solidFill>
                  <a:srgbClr val="384655"/>
                </a:solidFill>
                <a:effectLst/>
                <a:uLnTx/>
                <a:uFillTx/>
                <a:latin typeface="DM Sans"/>
                <a:sym typeface="DM Sans"/>
              </a:rPr>
              <a:t>Industry-relevant design </a:t>
            </a:r>
            <a:r>
              <a:rPr lang="en-GB" dirty="0"/>
              <a:t>✔</a:t>
            </a:r>
            <a:endParaRPr kumimoji="0" lang="en-GB" sz="1400" b="1" i="0" u="none" strike="noStrike" kern="0" cap="none" spc="0" normalizeH="0" baseline="0" noProof="0" dirty="0">
              <a:ln>
                <a:noFill/>
              </a:ln>
              <a:solidFill>
                <a:srgbClr val="384655"/>
              </a:solidFill>
              <a:effectLst/>
              <a:uLnTx/>
              <a:uFillTx/>
              <a:latin typeface="DM Sans"/>
              <a:sym typeface="DM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99" name="Google Shape;399;p38"/>
          <p:cNvSpPr txBox="1">
            <a:spLocks noGrp="1"/>
          </p:cNvSpPr>
          <p:nvPr>
            <p:ph type="subTitle" idx="21"/>
          </p:nvPr>
        </p:nvSpPr>
        <p:spPr>
          <a:xfrm>
            <a:off x="968254" y="1737369"/>
            <a:ext cx="7207493" cy="1668762"/>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6000" dirty="0"/>
              <a:t>Interaction session!</a:t>
            </a:r>
          </a:p>
          <a:p>
            <a:pPr marL="0" lvl="0" indent="0" algn="ctr" rtl="0">
              <a:spcBef>
                <a:spcPts val="0"/>
              </a:spcBef>
              <a:spcAft>
                <a:spcPts val="0"/>
              </a:spcAft>
              <a:buNone/>
            </a:pPr>
            <a:r>
              <a:rPr lang="en" sz="3200" b="0" dirty="0"/>
              <a:t>Any </a:t>
            </a:r>
            <a:r>
              <a:rPr lang="en-GB" sz="3200" b="0" dirty="0"/>
              <a:t>queries?</a:t>
            </a:r>
            <a:endParaRPr sz="3200" b="0" dirty="0"/>
          </a:p>
        </p:txBody>
      </p:sp>
    </p:spTree>
    <p:extLst>
      <p:ext uri="{BB962C8B-B14F-4D97-AF65-F5344CB8AC3E}">
        <p14:creationId xmlns:p14="http://schemas.microsoft.com/office/powerpoint/2010/main" val="32075354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47"/>
          <p:cNvSpPr txBox="1">
            <a:spLocks noGrp="1"/>
          </p:cNvSpPr>
          <p:nvPr>
            <p:ph type="title"/>
          </p:nvPr>
        </p:nvSpPr>
        <p:spPr>
          <a:xfrm>
            <a:off x="4292274" y="1663850"/>
            <a:ext cx="4371665" cy="18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Thank You!</a:t>
            </a:r>
            <a:endParaRPr dirty="0"/>
          </a:p>
        </p:txBody>
      </p:sp>
      <p:grpSp>
        <p:nvGrpSpPr>
          <p:cNvPr id="620" name="Google Shape;620;p47"/>
          <p:cNvGrpSpPr/>
          <p:nvPr/>
        </p:nvGrpSpPr>
        <p:grpSpPr>
          <a:xfrm>
            <a:off x="-311973" y="-106034"/>
            <a:ext cx="3997531" cy="5454467"/>
            <a:chOff x="-311973" y="-106034"/>
            <a:chExt cx="3997531" cy="5454467"/>
          </a:xfrm>
        </p:grpSpPr>
        <p:sp>
          <p:nvSpPr>
            <p:cNvPr id="621" name="Google Shape;621;p47"/>
            <p:cNvSpPr/>
            <p:nvPr/>
          </p:nvSpPr>
          <p:spPr>
            <a:xfrm>
              <a:off x="2084909" y="64307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47"/>
            <p:cNvSpPr/>
            <p:nvPr/>
          </p:nvSpPr>
          <p:spPr>
            <a:xfrm>
              <a:off x="1401408" y="27017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47"/>
            <p:cNvSpPr/>
            <p:nvPr/>
          </p:nvSpPr>
          <p:spPr>
            <a:xfrm>
              <a:off x="1061727" y="4905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47"/>
            <p:cNvSpPr/>
            <p:nvPr/>
          </p:nvSpPr>
          <p:spPr>
            <a:xfrm>
              <a:off x="644984" y="-10603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47"/>
            <p:cNvSpPr/>
            <p:nvPr/>
          </p:nvSpPr>
          <p:spPr>
            <a:xfrm>
              <a:off x="822495" y="1596147"/>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47"/>
            <p:cNvSpPr/>
            <p:nvPr/>
          </p:nvSpPr>
          <p:spPr>
            <a:xfrm>
              <a:off x="1401408" y="1995294"/>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47"/>
            <p:cNvSpPr/>
            <p:nvPr/>
          </p:nvSpPr>
          <p:spPr>
            <a:xfrm>
              <a:off x="2008129" y="1713139"/>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47"/>
            <p:cNvSpPr/>
            <p:nvPr/>
          </p:nvSpPr>
          <p:spPr>
            <a:xfrm rot="10800000" flipH="1">
              <a:off x="-72150" y="24780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47"/>
            <p:cNvSpPr/>
            <p:nvPr/>
          </p:nvSpPr>
          <p:spPr>
            <a:xfrm rot="10800000" flipH="1">
              <a:off x="876630" y="37414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47"/>
            <p:cNvSpPr/>
            <p:nvPr/>
          </p:nvSpPr>
          <p:spPr>
            <a:xfrm rot="10800000" flipH="1">
              <a:off x="324034" y="4160515"/>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47"/>
            <p:cNvSpPr/>
            <p:nvPr/>
          </p:nvSpPr>
          <p:spPr>
            <a:xfrm>
              <a:off x="2455608" y="2783188"/>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47"/>
            <p:cNvSpPr/>
            <p:nvPr/>
          </p:nvSpPr>
          <p:spPr>
            <a:xfrm>
              <a:off x="2846848" y="326636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47"/>
            <p:cNvSpPr/>
            <p:nvPr/>
          </p:nvSpPr>
          <p:spPr>
            <a:xfrm rot="10800000" flipH="1">
              <a:off x="1900437" y="38532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47"/>
            <p:cNvSpPr/>
            <p:nvPr/>
          </p:nvSpPr>
          <p:spPr>
            <a:xfrm rot="10800000" flipH="1">
              <a:off x="2417668" y="438031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47"/>
            <p:cNvSpPr/>
            <p:nvPr/>
          </p:nvSpPr>
          <p:spPr>
            <a:xfrm>
              <a:off x="347208" y="2925453"/>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47"/>
            <p:cNvSpPr/>
            <p:nvPr/>
          </p:nvSpPr>
          <p:spPr>
            <a:xfrm>
              <a:off x="2523872" y="223966"/>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47"/>
            <p:cNvSpPr/>
            <p:nvPr/>
          </p:nvSpPr>
          <p:spPr>
            <a:xfrm>
              <a:off x="-311973" y="138657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47"/>
            <p:cNvSpPr/>
            <p:nvPr/>
          </p:nvSpPr>
          <p:spPr>
            <a:xfrm>
              <a:off x="96929" y="803102"/>
              <a:ext cx="838710" cy="968121"/>
            </a:xfrm>
            <a:custGeom>
              <a:avLst/>
              <a:gdLst/>
              <a:ahLst/>
              <a:cxnLst/>
              <a:rect l="l" t="t" r="r" b="b"/>
              <a:pathLst>
                <a:path w="181539" h="209550" extrusionOk="0">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39" name="Google Shape;639;p47"/>
          <p:cNvCxnSpPr/>
          <p:nvPr/>
        </p:nvCxnSpPr>
        <p:spPr>
          <a:xfrm>
            <a:off x="4394150" y="1562388"/>
            <a:ext cx="3735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theme/theme1.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3756</TotalTime>
  <Words>1174</Words>
  <Application>Microsoft Office PowerPoint</Application>
  <PresentationFormat>On-screen Show (16:9)</PresentationFormat>
  <Paragraphs>193</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DM Sans</vt:lpstr>
      <vt:lpstr>Outfit</vt:lpstr>
      <vt:lpstr>Data Collection and Analysis - Master of Science in Community Health and Prevention Research by Slidesgo</vt:lpstr>
      <vt:lpstr>Design &amp; Verification of Low-Power Perceptron Based AI Engine</vt:lpstr>
      <vt:lpstr>Table of contents</vt:lpstr>
      <vt:lpstr>Introduction</vt:lpstr>
      <vt:lpstr>Project Motivation</vt:lpstr>
      <vt:lpstr>Project Objective</vt:lpstr>
      <vt:lpstr>Architecture</vt:lpstr>
      <vt:lpstr>System Architecture</vt:lpstr>
      <vt:lpstr>Perceptron Model</vt:lpstr>
      <vt:lpstr>RTL Design</vt:lpstr>
      <vt:lpstr>RTL Design Overview</vt:lpstr>
      <vt:lpstr>RTL Modules</vt:lpstr>
      <vt:lpstr>UART Communication</vt:lpstr>
      <vt:lpstr>Verification</vt:lpstr>
      <vt:lpstr>Testbench</vt:lpstr>
      <vt:lpstr>Testbench Code Snippet</vt:lpstr>
      <vt:lpstr>Simulation</vt:lpstr>
      <vt:lpstr>PowerPoint Presentation</vt:lpstr>
      <vt:lpstr>Analysis</vt:lpstr>
      <vt:lpstr>Vivado Synthesis Results</vt:lpstr>
      <vt:lpstr>Vivado Synthesis Results</vt:lpstr>
      <vt:lpstr>Timing Analysis</vt:lpstr>
      <vt:lpstr>Low-power considerations</vt:lpstr>
      <vt:lpstr>Low-power considerations</vt:lpstr>
      <vt:lpstr>Future Work</vt:lpstr>
      <vt:lpstr>Enhancements</vt:lpstr>
      <vt:lpstr>Conclusion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Pradeep</dc:creator>
  <cp:lastModifiedBy>Pradeep Palaniselvam</cp:lastModifiedBy>
  <cp:revision>19</cp:revision>
  <dcterms:modified xsi:type="dcterms:W3CDTF">2026-04-20T04:02:18Z</dcterms:modified>
</cp:coreProperties>
</file>